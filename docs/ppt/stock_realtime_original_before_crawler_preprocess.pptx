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79552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实时数据分析模块设计与实现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139696"/>
            <a:ext cx="85953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8C7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Kafka + Spark Streaming + MySQL/HDFS 的股票行情实时分析链路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4160520"/>
            <a:ext cx="9875520" cy="0"/>
          </a:xfrm>
          <a:prstGeom prst="line">
            <a:avLst/>
          </a:prstGeom>
          <a:noFill/>
          <a:ln w="25400">
            <a:solidFill>
              <a:srgbClr val="3DD6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49884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8EA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股票行情采集  →  消息传输  →  流式计算  →  异常告警  →  前端展示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713232" y="5623560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本模块实现了从股票行情采集、消息传输、流式计算、异常告警到前端展示的完整实时数据分析流程。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实时数据分析模块在系统中的位置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模块定位：把不断变化的行情转化为可分析、可存储、可展示、可告警的实时结果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636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5448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本项目不是只展示静态股票数据，而是通过实时流处理不断更新行情、统计指标和风险告警。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822960" y="223113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4884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实时数据分析模块连接采集端、Kafka、Spark、MySQL/HDFS 和前端可视化页面。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69748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它是平台中“动态展示”和“风险监控”的核心支撑模块。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数据采集端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026664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消息队列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184648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流式计算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342632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496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MySQL/HDFS 存储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500616" y="4023360"/>
            <a:ext cx="1664208" cy="566928"/>
          </a:xfrm>
          <a:prstGeom prst="roundRect">
            <a:avLst>
              <a:gd name="adj" fmla="val 1129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5480" y="4224528"/>
            <a:ext cx="15544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前端可视化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68680" y="5532120"/>
            <a:ext cx="987552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696712"/>
            <a:ext cx="98755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讲解句：这个模块的作用是把不断变化的行情数据转化为实时分析结果。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实时数据分析整体流程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从行情源到前端大屏的完整实时链路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30452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股票行情源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1993392" y="1618488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307592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多行情源输入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801368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9738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Producer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993392" y="2185416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874520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实时采集与标准化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2368296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464308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993392" y="2752344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441448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消息队列缓冲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2935224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31236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Streaming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993392" y="3319272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3008376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解析、清洗、聚合、告警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" y="3502152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598164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/ HDFS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993392" y="3886200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35753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快速查询与归档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069080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165092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 后端接口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993392" y="4453128"/>
            <a:ext cx="201168" cy="164592"/>
          </a:xfrm>
          <a:prstGeom prst="downArrow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142232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封装看板数据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" y="4636008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473202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前端实时大屏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160520" y="4709160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周期刷新展示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4964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1325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负责采集并标准化行情数据。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549640" y="19293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4232" y="18470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负责缓冲实时消息。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549640" y="2450592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23682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负责实时解析、清洗、聚合、告警。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549640" y="2971800"/>
            <a:ext cx="73152" cy="73152"/>
          </a:xfrm>
          <a:prstGeom prst="ellipse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288950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负责前端快速查询，HDFS 负责归档。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549640" y="3493008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14232" y="3410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前端每隔几秒刷新展示最新状态。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实时分析模块核心代码结构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实时分析按采集、传输、计算、存储、展示分层实现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149840" cy="502920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2646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5010912" y="142646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2938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python/producer/stock_producer.py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5010912" y="192938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实时采集行情并写入 Kafka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43230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python/producer/stock_sources.py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5010912" y="243230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封装不同行情源的抓取逻辑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3522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python/common/stock_utils.py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5010912" y="293522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行情数据校验与标准化工具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33756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43814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python/spark/stock_streaming_job.py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5010912" y="343814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实时分析核心代码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10149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94106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java-backend/.../DashboardService.java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5010912" y="394106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查询实时结果并提供前端接口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77240" y="4343400"/>
            <a:ext cx="10149840" cy="50292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443984"/>
            <a:ext cx="40142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frontend/index.html / dash-pages.js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5010912" y="4443984"/>
            <a:ext cx="5843016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展示实时行情、告警和系统状态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822960" y="5440680"/>
            <a:ext cx="978408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605272"/>
            <a:ext cx="9784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实时分析不是写在一个文件里，而是通过分层代码完成完整链路。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如何生成实时行情事件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对应文件：python/producer/stock_producer.py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3502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从股票池读取监控股票。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777240" y="183794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5564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使用多线程并发抓取行情。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77240" y="22585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7627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调用多个行情源进行兜底。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77240" y="26791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5968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is_valid_tick 过滤无效数据。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77240" y="30998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01752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将合法行情写入 Kafka。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5166360" cy="2788920"/>
          </a:xfrm>
          <a:prstGeom prst="roundRect">
            <a:avLst>
              <a:gd name="adj" fmla="val 262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472184"/>
            <a:ext cx="4873752" cy="2532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quotes = [quote for quote in fetch_quotes() if is_valid_tick(quote)]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quote in quotes: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producer.send(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settings.kafka_topic,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key=quote['symbol'],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value=quote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producer.flush()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4041648"/>
            <a:ext cx="6035040" cy="347472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142232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函数/参数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182112" y="4142232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822960" y="4389120"/>
            <a:ext cx="6035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489704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fetch_quotes()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182112" y="4489704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采集一轮股票行情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822960" y="4736592"/>
            <a:ext cx="6035040" cy="347472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837176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is_valid_tick()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182112" y="4837176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过滤价格、成交量异常数据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822960" y="5084064"/>
            <a:ext cx="6035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184648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producer.send()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182112" y="5184648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发送到 Kafka topic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822960" y="5431536"/>
            <a:ext cx="6035040" cy="347472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532120"/>
            <a:ext cx="21396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key=symbol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3182112" y="5532120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用股票代码作为消息 key，便于追踪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为什么中间要使用 Kafka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作为实时数据缓冲层，解耦采集端和计算端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17320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只负责写消息，不直接操作数据库和复杂分析逻辑。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822960" y="20299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4767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可以持续消费 Kafka 中的行情事件。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478024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采集速度和计算速度不完全一致时，Kafka 起到削峰和缓冲作用。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22960" y="309067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008376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实时行情被转换为持续流动的消息，后续计算更稳定。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949440" y="1463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744" y="1609344"/>
            <a:ext cx="373075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KAFKA_BOOTSTRAP_SERVERS=127.0.0.1:9092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KAFKA_TOPIC=stock_realtime_topic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3200400"/>
            <a:ext cx="3383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54787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讲解重点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949440" y="3886200"/>
            <a:ext cx="38404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的作用是把实时行情变成持续流动的消息，让后面的 Spark 可以稳定消费。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如何读取实时行情流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对应文件：python/spark/stock_streaming_job.py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562356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444752"/>
            <a:ext cx="5330952" cy="29900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 = (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spark.readStream.format('kafka')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.option('kafka.bootstrap.servers', settings.kafka_bootstrap_servers)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.option('subscribe', settings.kafka_topic)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.option('startingOffsets', 'latest')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.option('failOnDataLoss', 'false')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.load()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810" dirty="0"/>
          </a:p>
        </p:txBody>
      </p:sp>
      <p:sp>
        <p:nvSpPr>
          <p:cNvPr id="6" name="Shape 4"/>
          <p:cNvSpPr/>
          <p:nvPr/>
        </p:nvSpPr>
        <p:spPr>
          <a:xfrm>
            <a:off x="676656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141732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readStream 表示持续读取数据流。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766560" y="197510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892808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format('kafka') 表示数据来源是 Kafka。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766560" y="24505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368296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subscribe 指定消费哪个 topic。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766560" y="292608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84378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startingOffsets='latest' 适合实时演示。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766560" y="340156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331927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failOnDataLoss=false 增强容错性。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978408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22392"/>
            <a:ext cx="9784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读取的是一条持续流，不是一次性静态文件。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消息如何变成结构化行情表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 解析与字段标准化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669280" cy="3749040"/>
          </a:xfrm>
          <a:prstGeom prst="roundRect">
            <a:avLst>
              <a:gd name="adj" fmla="val 195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80744"/>
            <a:ext cx="5376672" cy="34930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parsed = raw.select(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F.from_json(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F.col('value').cast('string'),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event_schema()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).alias('data')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).select('data.*')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parsed = parsed.withColumn(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'event_time',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F.to_timestamp('event_time', 'yyyy-MM-dd HH:mm:ss')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676656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13258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 中的 value 是 JSON 字符串。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766560" y="18653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7830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event_schema() 定义字段结构。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2402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from_json() 将 JSON 转成 Spark DataFrame。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766560" y="27797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6974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event_time 转为时间类型，用于窗口统计和排序。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784975" y="3822065"/>
            <a:ext cx="3977640" cy="838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D7CF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字段：symbol / company_name / market / last_price / change_pct / volume / turnover / event_time / source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进入实时分析前的数据清洗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实时系统最怕脏数据直接进入分析，因此 Spark 入口先做基础质量过滤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760720" cy="36118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80744"/>
            <a:ext cx="5468112" cy="3355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parsed.filter(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(F.col('last_price') &gt; 0)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&amp; (F.col('volume') &gt; 0)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&amp; (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(market.isin('SH', 'SZ', 'BJ')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&amp; (F.abs(F.col('change_pct')) &lt; 11.0))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| ((market == 'HK')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&amp; (F.abs(F.col('change_pct')) &lt; 50.0))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6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48056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76872" y="1517904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805672" y="1517904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903720" y="1892808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993392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last_price &gt; 0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8805672" y="1993392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过滤价格异常数据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6903720" y="2368296"/>
            <a:ext cx="448056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2468880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volume &gt; 0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8805672" y="2468880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过滤无成交量数据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6903720" y="2843784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944368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股 &lt; 11%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8805672" y="2944368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股涨跌幅限制更严格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6903720" y="3319272"/>
            <a:ext cx="448056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3419856"/>
            <a:ext cx="16824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港股 &lt; 50%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8805672" y="3419856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港股允许更大波动范围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6903720" y="4800600"/>
            <a:ext cx="4206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965192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这样可以防止错误行情污染实时统计和告警结果。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使用 foreachBatch 处理每个实时批次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Structured Streaming 将实时流切成微批统一处理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472184"/>
            <a:ext cx="4965192" cy="1801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query =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stream_df.writeStream.outputMode('append')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.foreachBatch(write_batch)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.option('checkpointLocation', settings.hdfs_checkpoint_path)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.start()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41732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Structured Streaming 会把实时流切成一个个微批。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400800" y="198424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90195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每个微批调用 write_batch() 处理。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386584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checkpointLocation 用于保存流式计算状态，支持恢复。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400800" y="29535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87121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outputMode('append') 表示追加写入。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996696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02352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本项目不是一条数据单独处理，而是按微批统一完成聚合、告警和写库。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一个微批中完成哪些实时分析任务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write_batch 同时负责去重、归档、聚合、告警和写库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161288"/>
            <a:ext cx="598932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07592"/>
            <a:ext cx="5696712" cy="3858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raw_batch = batch_df.dropDuplicates(['event_id'])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raw_batch.write.mode('append').parquet(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f'{settings.hdfs_output_path.rstrip('/')}/quotes'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write_dashboard_aggregates(raw_batch, batch_id)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changed_batch = keep_changed_quotes(raw_batch)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write_jdbc(build_alerts(changed_batch), 'alert_events')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write_jdbc(latest_quotes, 'price_ticks')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7086600" y="140817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51192" y="132588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event_id 去重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086600" y="185623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1192" y="177393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原始行情归档到 HDFS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086600" y="230428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51192" y="222199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生成看板聚合指标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086600" y="275234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267004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过滤重复行情快照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086600" y="320040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1192" y="311810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生成告警事件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086600" y="3648456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51192" y="356616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 MySQL 明细表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086600" y="4800600"/>
            <a:ext cx="40233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4965192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一个微批不只是写原始数据，还同时生成前端展示需要的统计结果和风险告警。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计算了哪些实时分析指标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对应函数：write_dashboard_aggregates(raw_batch, batch_id)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9464040" cy="56692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26464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表名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364992" y="1426464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839712" y="1426464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前端用途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777240" y="1892808"/>
            <a:ext cx="9464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93392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metric_snapshots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3364992" y="1993392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分钟级市场快照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6839712" y="1993392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首页趋势、流量状态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777240" y="2459736"/>
            <a:ext cx="946404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560320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symbol_stats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3364992" y="2560320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个股聚合统计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6839712" y="2560320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个股排行、关注列表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026664"/>
            <a:ext cx="9464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27248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sector_stats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364992" y="3127248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行业统计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6839712" y="3127248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行业热力图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777240" y="3593592"/>
            <a:ext cx="9464040" cy="56692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94176"/>
            <a:ext cx="236829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category_stats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3364992" y="3694176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分类统计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6839712" y="3694176"/>
            <a:ext cx="3328416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市场结构分析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86868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股票数量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24612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平均价格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62356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9671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平均涨跌幅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001000" y="437083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4152" y="445770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总成交量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6868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总成交额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24612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9F8F0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行业平均涨跌幅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623560" y="4873752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E8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96712" y="4960620"/>
            <a:ext cx="1783080" cy="91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行业成交额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实时风险告警如何生成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对应函数：build_alerts(changed_batch)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规则一：价格波动告警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929384"/>
            <a:ext cx="4279392" cy="1069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price_alert_threshold = greatest(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2.0,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avg_abs_change_pct * 2.5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49300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规则二：成交量异动告警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822960" y="3913632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9936"/>
            <a:ext cx="4279392" cy="10698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volume_alert_threshold = greatest(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volume_min_threshold,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avg_volume * 2.0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56362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148132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读取最近一天历史行情作为动态基线。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989320" y="204825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96596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当前涨跌幅超过历史平均波动，触发价格波动告警。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89320" y="253288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245059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当前成交量超过历史平均成交量，触发成交量异动告警。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989320" y="301752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293522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告警等级分为 MEDIUM 和 HIGH。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989320" y="4251960"/>
            <a:ext cx="43891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441655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讲解重点：告警不是简单写死固定值，而是结合历史基线动态判断当前行情是否异常。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实时分析结果如何落库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用于快速查询，HDFS 用于离线归档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8869680" cy="457200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350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表名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685032" y="13350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922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price_ticks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3685032" y="17922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保存去重后的实时行情明细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494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metric_snapshots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3685032" y="22494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保存分钟级市场快照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7066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symbol_stats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685032" y="27066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保存个股聚合指标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0632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638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sector_stats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685032" y="31638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保存行业统计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6210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category_stats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685032" y="36210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保存市场分类统计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77240" y="3977640"/>
            <a:ext cx="8869680" cy="457200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0782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alert_events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85032" y="40782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保存实时风险告警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777240" y="4434840"/>
            <a:ext cx="8869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535424"/>
            <a:ext cx="26883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parquet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3685032" y="4535424"/>
            <a:ext cx="588873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保存原始行情归档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868680" y="5184648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510235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面向前端快速查询。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68680" y="564184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555955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面向后续离线分析和归档。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035040" y="54041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532180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明细表和聚合表分开，减少前端查询压力。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实时分析结果如何展示到页面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后端文件：DashboardService.java；前端定时刷新展示实时状态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635508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99032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3364992" y="1399032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作用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77240" y="1773936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74520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/dashboard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3364992" y="1874520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获取首页大屏数据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777240" y="2249424"/>
            <a:ext cx="635508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350008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/health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3364992" y="2350008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获取系统健康状态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77240" y="2724912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825496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/alerts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3364992" y="2825496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查询风险告警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6355080" cy="475488"/>
          </a:xfrm>
          <a:prstGeom prst="rect">
            <a:avLst/>
          </a:prstGeom>
          <a:solidFill>
            <a:srgbClr val="EEF5FC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300984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/stocks/{symbol}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3364992" y="3300984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查询个股详情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777240" y="3675888"/>
            <a:ext cx="6355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3776472"/>
            <a:ext cx="23682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/stocks/{symbol}/trend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364992" y="3776472"/>
            <a:ext cx="369417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查询实时趋势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7315200" y="1380744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9792" y="129844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实时流状态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315200" y="176479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68249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最新行情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315200" y="2148840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9792" y="2066544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市场涨跌统计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7315200" y="2532888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2450592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行业热力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315200" y="2916936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83464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风险告警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315200" y="330098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321868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个股走势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315200" y="3685032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3602736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模型预测结果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68680" y="457200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4984" y="4718304"/>
            <a:ext cx="418795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setInterval(safeRefresh, 5000)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4572000"/>
            <a:ext cx="4480560" cy="0"/>
          </a:xfrm>
          <a:prstGeom prst="line">
            <a:avLst/>
          </a:prstGeom>
          <a:noFill/>
          <a:ln w="25400">
            <a:solidFill>
              <a:srgbClr val="1D7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736592"/>
            <a:ext cx="44805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前端不是展示静态数据，而是周期性请求后端接口，持续刷新实时分析结果。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系统如何判断实时流是否正常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后端根据 metric_snapshots 和 price_ticks 的最新写入时间计算状态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A0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 30 秒内有新数据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8056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分钟内有数据，但不够实时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92440" y="1417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92440" y="1801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较长时间没有新数据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C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真实采集模式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样本回放模式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92440" y="26517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0358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离线状态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4343400"/>
            <a:ext cx="58064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489704"/>
            <a:ext cx="5513832" cy="12070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CASE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WHEN latest_created_at &gt;= NOW() - INTERVAL 30 SECOND THEN 'FLOWING'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WHEN latest_created_at &gt;= NOW() - INTERVAL 5 MINUTE THEN 'DELAYED'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ELSE 'STOPPED'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8EA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 AS stream_state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178040" y="4498848"/>
            <a:ext cx="4023360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4663440"/>
            <a:ext cx="40233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这个状态不是前端写死的，而是后端根据最新写入时间计算出来的。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实时模块如何保证演示稳定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针对断流、重复数据和脏数据做保护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417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采集端支持多源兜底。</a:t>
            </a:r>
            <a:endParaRPr lang="en-US" sz="990" dirty="0"/>
          </a:p>
        </p:txBody>
      </p:sp>
      <p:sp>
        <p:nvSpPr>
          <p:cNvPr id="6" name="Shape 4"/>
          <p:cNvSpPr/>
          <p:nvPr/>
        </p:nvSpPr>
        <p:spPr>
          <a:xfrm>
            <a:off x="868680" y="211226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029968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Producer 发送前做数据校验。</a:t>
            </a:r>
            <a:endParaRPr lang="en-US" sz="990" dirty="0"/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64261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入口做质量过滤。</a:t>
            </a:r>
            <a:endParaRPr lang="en-US" sz="990" dirty="0"/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25526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event_id 去重。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6217920" y="1499616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417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相同行情快照不重复写库。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6217920" y="2112264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029968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HDFS 写入失败时不影响 MySQL 写入。</a:t>
            </a:r>
            <a:endParaRPr lang="en-US" sz="990" dirty="0"/>
          </a:p>
        </p:txBody>
      </p:sp>
      <p:sp>
        <p:nvSpPr>
          <p:cNvPr id="16" name="Shape 14"/>
          <p:cNvSpPr/>
          <p:nvPr/>
        </p:nvSpPr>
        <p:spPr>
          <a:xfrm>
            <a:off x="6217920" y="2724912"/>
            <a:ext cx="73152" cy="73152"/>
          </a:xfrm>
          <a:prstGeom prst="ellipse">
            <a:avLst/>
          </a:prstGeom>
          <a:solidFill>
            <a:srgbClr val="1D7CF2"/>
          </a:solidFill>
          <a:ln w="12700">
            <a:solidFill>
              <a:srgbClr val="1D7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64261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Spark checkpoint 支持流式恢复。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73152" cy="73152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25526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前端支持后端异常时展示离线状态。</a:t>
            </a:r>
            <a:endParaRPr lang="en-US" sz="990" dirty="0"/>
          </a:p>
        </p:txBody>
      </p:sp>
      <p:sp>
        <p:nvSpPr>
          <p:cNvPr id="20" name="Shape 18"/>
          <p:cNvSpPr/>
          <p:nvPr/>
        </p:nvSpPr>
        <p:spPr>
          <a:xfrm>
            <a:off x="868680" y="5074920"/>
            <a:ext cx="99669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239512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讲解句：这些设计保证系统不是只能在理想情况下运行，而是考虑了实时链路中的常见问题。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实时数据分析模块实现效果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7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模块总结：完整链路、实时分析、可视化与可监控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实现完整实时数据链路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从行情采集到 Kafka，再到 Spark 分析、MySQL/HDFS 存储和前端展示。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实现实时分析能力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5351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包括行情去重、分钟聚合、个股统计、行业分析和风险告警。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实现可视化和可监控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05072"/>
            <a:ext cx="8961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前端能够展示实时流状态、告警列表、个股走势和市场结构。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102412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实时数据分析模块证明本系统不仅能做静态数据展示，还具备持续采集、持续计算、持续告警和持续展示的能力，是整个平台动态分析能力的核心部分。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2C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FB2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后续优化方向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71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当前模块已经实现实时链路闭环，后续可以进一步增强可解释性和监控能力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批次质量统计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增加输入条数、过滤条数、写库条数。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660904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0370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告警原因字段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2203704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记录触发阈值、实际涨跌幅和成交量倍数。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447288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9008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链路状态图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2990088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前端展示 Kafka / Spark / MySQL 状态。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233672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7647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A0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实时分析日志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3776472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增加批次日志页面，便于答辩展示和排错。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020056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6285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C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接入机器学习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54680" y="4562856"/>
            <a:ext cx="7040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将实时特征进一步接入预测模型。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5623560"/>
            <a:ext cx="9692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788152"/>
            <a:ext cx="969264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后续优化重点不是重新推翻链路，而是在现有闭环上增强解释、监控和预测能力。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02920" y="645566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股票实时流分析平台 · 实时数据分析模块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6334</Words>
  <Application>WPS 演示</Application>
  <PresentationFormat>On-screen Show (16:9)</PresentationFormat>
  <Paragraphs>647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Aptos</vt:lpstr>
      <vt:lpstr>Segoe UI</vt:lpstr>
      <vt:lpstr>Aptos</vt:lpstr>
      <vt:lpstr>Aptos</vt:lpstr>
      <vt:lpstr>Consolas</vt:lpstr>
      <vt:lpstr>Consolas</vt:lpstr>
      <vt:lpstr>Consolas</vt:lpstr>
      <vt:lpstr>Aptos Display</vt:lpstr>
      <vt:lpstr>Segoe UI Variable Display</vt:lpstr>
      <vt:lpstr>Aptos Display</vt:lpstr>
      <vt:lpstr>Aptos Display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Quant Stream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股票实时流分析平台实时数据分析模块汇报</dc:title>
  <dc:creator>Comprehensive Practice</dc:creator>
  <dc:subject>股票实时流分析平台实时数据分析模块汇报</dc:subject>
  <cp:lastModifiedBy>丘丘人</cp:lastModifiedBy>
  <cp:revision>2</cp:revision>
  <dcterms:created xsi:type="dcterms:W3CDTF">2026-05-11T07:12:00Z</dcterms:created>
  <dcterms:modified xsi:type="dcterms:W3CDTF">2026-05-11T07:29:42Z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933835DBDAEC47449E81F79E6A85C2E7_12</vt:lpwstr>
  </property>
</Properties>
</file>