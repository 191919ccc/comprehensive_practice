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76" r:id="rId6"/>
    <p:sldId id="277" r:id="rId7"/>
    <p:sldId id="278" r:id="rId8"/>
    <p:sldId id="279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实时数据分析模块设计与实现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39696"/>
            <a:ext cx="85953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8C7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Kafka + Spark Streaming + MySQL/HDFS 的股票行情实时分析链路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4160520"/>
            <a:ext cx="9875520" cy="0"/>
          </a:xfrm>
          <a:prstGeom prst="line">
            <a:avLst/>
          </a:prstGeom>
          <a:noFill/>
          <a:ln w="25400">
            <a:solidFill>
              <a:srgbClr val="3DD6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49884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8EA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股票行情采集  →  消息传输  →  流式计算  →  异常告警  →  前端展示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13232" y="562356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本模块实现了从股票行情采集、消息传输、流式计算、异常告警到前端展示的完整实时数据分析流程。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94360"/>
            <a:ext cx="722376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pitchFamily="34" charset="-122"/>
              </a:rPr>
              <a:t>数据爬虫与预处理模块</a:t>
            </a:r>
            <a:endParaRPr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6384" y="1115568"/>
            <a:ext cx="886968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D2E6F5"/>
                </a:solidFill>
                <a:latin typeface="微软雅黑" panose="020B0503020204020204" pitchFamily="34" charset="-122"/>
              </a:rPr>
              <a:t>在实时数据分析前，先完成行情来源接入、字段解析、质量过滤和标准化输出</a:t>
            </a:r>
            <a:endParaRPr sz="1300" b="0">
              <a:solidFill>
                <a:srgbClr val="D2E6F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行情源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42616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52928" y="2743200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接口采集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9744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0056" y="2743200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字段解析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6872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87184" y="2743200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质量过滤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54312" y="2743200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标准事件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4645152"/>
            <a:ext cx="9326880" cy="548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EBF8FF"/>
                </a:solidFill>
                <a:latin typeface="微软雅黑" panose="020B0503020204020204" pitchFamily="34" charset="-122"/>
              </a:rPr>
              <a:t>这一部分是实时链路的入口，决定后续 Kafka、Spark、MySQL/HDFS 中数据的完整性和可信度。</a:t>
            </a:r>
            <a:endParaRPr sz="1500" b="0">
              <a:solidFill>
                <a:srgbClr val="EBF8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微软雅黑" panose="020B0503020204020204" pitchFamily="34" charset="-122"/>
              </a:rPr>
              <a:t>数据来源与采集方式</a:t>
            </a:r>
            <a:endParaRPr sz="2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微软雅黑" panose="020B0503020204020204" pitchFamily="34" charset="-122"/>
              </a:rPr>
              <a:t>优先使用可直接请求的行情接口，避免 Selenium 带来的高延迟和不稳定</a:t>
            </a:r>
            <a:endParaRPr sz="10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874519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新浪财经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1892808"/>
            <a:ext cx="22219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使用 requests 获取 A 股实时行情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返回 JavaScript 字符串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适合实时演示中的快速报价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73152" cy="1874519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54480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腾讯财经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93592" y="1892808"/>
            <a:ext cx="22219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作为实时行情备用源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返回 ~ 分隔字符串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用于主源失败后的兜底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17320"/>
            <a:ext cx="73152" cy="1874519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554480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东方财富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4224" y="1892808"/>
            <a:ext cx="22219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通过 push2 API 获取行情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返回 JSON 数据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支持 A 股和港股报价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70264" y="1417320"/>
            <a:ext cx="2057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0264" y="1417320"/>
            <a:ext cx="73152" cy="1874519"/>
          </a:xfrm>
          <a:prstGeom prst="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554480"/>
            <a:ext cx="17647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AKShare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34856" y="1892808"/>
            <a:ext cx="17647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获取历史日线数据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用于冷启动和模型训练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支持指数数据导入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3858768"/>
            <a:ext cx="987552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400" b="1">
                <a:solidFill>
                  <a:srgbClr val="0F2238"/>
                </a:solidFill>
                <a:latin typeface="微软雅黑" panose="020B0503020204020204" pitchFamily="34" charset="-122"/>
              </a:rPr>
              <a:t>核心代码文件</a:t>
            </a:r>
            <a:endParaRPr sz="14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2480310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stock_sources.py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84398" y="45262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394710" y="4343400"/>
            <a:ext cx="2480310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stock_producer.py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93307" y="45262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03620" y="4343400"/>
            <a:ext cx="2480310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cold_start.py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02217" y="45262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812530" y="4343400"/>
            <a:ext cx="2480310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stock_utils.py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数据爬虫与预处理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股票实时流分析平台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微软雅黑" panose="020B0503020204020204" pitchFamily="34" charset="-122"/>
              </a:rPr>
              <a:t>爬虫采集流程设计</a:t>
            </a:r>
            <a:endParaRPr sz="2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微软雅黑" panose="020B0503020204020204" pitchFamily="34" charset="-122"/>
              </a:rPr>
              <a:t>Producer 按股票池循环采集，并通过多源兜底保证实时链路不断流</a:t>
            </a:r>
            <a:endParaRPr sz="10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读取股票池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42616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52928" y="1572768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多线程请求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9744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0056" y="1572768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多源兜底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6872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87184" y="1572768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行情校验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354312" y="1572768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发送 Kafka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13232" y="2788920"/>
            <a:ext cx="3017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788920"/>
            <a:ext cx="73152" cy="1828800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926079"/>
            <a:ext cx="272491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并发采集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" y="3264408"/>
            <a:ext cx="2724912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ThreadPoolExecutor 同时请求多只股票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减少单轮行情采集耗时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线程数由 STOCK_PRODUCER_MAX_WORKERS 控制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977639" y="2788920"/>
            <a:ext cx="3017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788920"/>
            <a:ext cx="73152" cy="1828800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2231" y="2926079"/>
            <a:ext cx="272491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失败隔离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42231" y="3264408"/>
            <a:ext cx="2724912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单只股票请求失败只跳过该股票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不会中断整个 Producer 进程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日志输出失败原因便于排查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242048" y="2788920"/>
            <a:ext cx="3017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42048" y="2788920"/>
            <a:ext cx="73152" cy="1828800"/>
          </a:xfrm>
          <a:prstGeom prst="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926079"/>
            <a:ext cx="272491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Kafka 输出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640" y="3264408"/>
            <a:ext cx="2724912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股票代码作为消息 key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行情事件序列化为 JSON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Spark 后续持续消费实时 topic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321808"/>
            <a:ext cx="996696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软雅黑" panose="020B0503020204020204" pitchFamily="34" charset="-122"/>
              </a:rPr>
              <a:t>讲解重点：爬虫模块不是一次性下载文件，而是持续采集行情事件，为实时流计算提供不断更新的数据输入。</a:t>
            </a:r>
            <a:endParaRPr sz="1300" b="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数据爬虫与预处理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股票实时流分析平台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微软雅黑" panose="020B0503020204020204" pitchFamily="34" charset="-122"/>
              </a:rPr>
              <a:t>字段解析与标准化输出</a:t>
            </a:r>
            <a:endParaRPr sz="2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微软雅黑" panose="020B0503020204020204" pitchFamily="34" charset="-122"/>
              </a:rPr>
              <a:t>不同来源返回格式不同，最终统一为 Kafka 和 Spark 可消费的标准行情事件</a:t>
            </a:r>
            <a:endParaRPr sz="10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17320"/>
            <a:ext cx="73152" cy="1920240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54480"/>
            <a:ext cx="286207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返回格式差异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" y="1892808"/>
            <a:ext cx="2862072" cy="135331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新浪：JavaScript 字符串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腾讯：~ 分隔字段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东方财富：JSON 字段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AKShare：DataFrame 行记录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73152" cy="1920240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554480"/>
            <a:ext cx="286207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统一解析方法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5112" y="1892808"/>
            <a:ext cx="2862072" cy="135331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正则提取字符串 payload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response.json() 读取接口 JSON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safe_float / safe_int 安全转换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detect_market 识别市场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07808" y="141732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1417320"/>
            <a:ext cx="73152" cy="1920240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554480"/>
            <a:ext cx="286207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标准事件字段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0" y="1892808"/>
            <a:ext cx="2862072" cy="135331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symbol、company_name、market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open/high/low/last_price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change_pct、volume、turnover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event_time、source、event_id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1005840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400" b="1">
                <a:solidFill>
                  <a:srgbClr val="0F2238"/>
                </a:solidFill>
                <a:latin typeface="微软雅黑" panose="020B0503020204020204" pitchFamily="34" charset="-122"/>
              </a:rPr>
              <a:t>标准化后的事件结构</a:t>
            </a:r>
            <a:endParaRPr sz="14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2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股票标识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42616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852928" y="4370832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价格字段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9744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0056" y="4370832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成交字段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76872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187184" y="4370832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时间来源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0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354312" y="4370832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唯一事件 ID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672" y="5532120"/>
            <a:ext cx="969264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软雅黑" panose="020B0503020204020204" pitchFamily="34" charset="-122"/>
              </a:rPr>
              <a:t>统一结构的好处：后续 Kafka 传输、Spark 解析、MySQL 写库和前端展示都不需要关心原始数据源差异。</a:t>
            </a:r>
            <a:endParaRPr sz="1250" b="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数据爬虫与预处理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股票实时流分析平台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微软雅黑" panose="020B0503020204020204" pitchFamily="34" charset="-122"/>
              </a:rPr>
              <a:t>数据预处理与质量控制</a:t>
            </a:r>
            <a:endParaRPr sz="2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微软雅黑" panose="020B0503020204020204" pitchFamily="34" charset="-122"/>
              </a:rPr>
              <a:t>在实时计算前先处理缺失值、异常值、重复数据和训练特征</a:t>
            </a:r>
            <a:endParaRPr sz="10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25146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73152" cy="1993392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缺失值处理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22219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空值、--、非法字符串转默认值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价格和成交量统一转数值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滚动指标产生的 NaN 统一填充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353312"/>
            <a:ext cx="25146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53312"/>
            <a:ext cx="73152" cy="1993392"/>
          </a:xfrm>
          <a:prstGeom prst="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490472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异常值过滤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93592" y="1828800"/>
            <a:ext cx="22219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last_price &gt; 0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volume &gt; 0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A 股涨跌幅限制更严格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港股允许更大波动范围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25146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353312"/>
            <a:ext cx="73152" cy="1993392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490472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去重与压缩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2219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按 event_id 去重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过滤未变化行情快照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训练集压缩连续不变价格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70264" y="1353312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0264" y="1353312"/>
            <a:ext cx="73152" cy="1993392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490472"/>
            <a:ext cx="17647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微软雅黑" panose="020B0503020204020204" pitchFamily="34" charset="-122"/>
              </a:rPr>
              <a:t>特征构造</a:t>
            </a:r>
            <a:endParaRPr sz="1300" b="1">
              <a:solidFill>
                <a:srgbClr val="0F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34856" y="1828800"/>
            <a:ext cx="17647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收益率、动量、均线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成交量变化、波动率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920">
                <a:solidFill>
                  <a:srgbClr val="1E293B"/>
                </a:solidFill>
                <a:latin typeface="微软雅黑" panose="020B0503020204020204" pitchFamily="34" charset="-122"/>
              </a:rPr>
              <a:t>行业和指数相对特征</a:t>
            </a:r>
            <a:endParaRPr sz="92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原始行情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42616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52928" y="4160520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安全转换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9744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0056" y="4160520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质量过滤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76872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187184" y="4160520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去重压缩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0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1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354312" y="4160520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可分析数据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6384" y="5321808"/>
            <a:ext cx="9966960" cy="40233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软雅黑" panose="020B0503020204020204" pitchFamily="34" charset="-122"/>
              </a:rPr>
              <a:t>这一阶段保证进入实时分析和机器学习模块的数据是结构化、可信、可比较的行情数据。</a:t>
            </a:r>
            <a:endParaRPr sz="1300" b="0">
              <a:solidFill>
                <a:srgbClr val="1E293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数据爬虫与预处理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pitchFamily="34" charset="-122"/>
              </a:rPr>
              <a:t>股票实时流分析平台</a:t>
            </a:r>
            <a:endParaRPr sz="850" b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实时数据分析模块在系统中的位置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模块定位：把不断变化的行情转化为可分析、可存储、可展示、可告警的实时结果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636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5448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本项目不是只展示静态股票数据，而是通过实时流处理不断更新行情、统计指标和风险告警。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822960" y="223113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4884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实时数据分析模块连接采集端、Kafka、Spark、MySQL/HDFS 和前端可视化页面。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9748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它是平台中“动态展示”和“风险监控”的核心支撑模块。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数据采集端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026664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消息队列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184648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流式计算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342632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MySQL/HDFS 存储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500616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前端可视化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68680" y="5532120"/>
            <a:ext cx="987552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96712"/>
            <a:ext cx="9875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这个模块的作用是把不断变化的行情数据转化为实时分析结果。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实时数据分析整体流程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从行情源到前端大屏的完整实时链路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30452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股票行情源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1993392" y="1618488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307592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多行情源输入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801368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738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Producer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993392" y="2185416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874520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实时采集与标准化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368296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464308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993392" y="2752344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44144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消息队列缓冲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935224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31236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Streaming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993392" y="3319272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008376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解析、清洗、聚合、告警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" y="3502152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598164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/ HDFS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993392" y="3886200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35753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快速查询与归档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06908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165092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 后端接口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993392" y="4453128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142232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封装看板数据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4636008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73202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前端实时大屏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160520" y="4709160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周期刷新展示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4964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1325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负责采集并标准化行情数据。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549640" y="19293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18470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负责缓冲实时消息。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549640" y="245059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2368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负责实时解析、清洗、聚合、告警。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549640" y="2971800"/>
            <a:ext cx="73152" cy="73152"/>
          </a:xfrm>
          <a:prstGeom prst="ellipse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288950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负责前端快速查询，HDFS 负责归档。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549640" y="3493008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14232" y="3410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前端每隔几秒刷新展示最新状态。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实时分析模块核心代码结构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实时分析按采集、传输、计算、存储、展示分层实现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149840" cy="502920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2646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010912" y="142646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2938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python/producer/stock_producer.py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10912" y="192938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实时采集行情并写入 Kafka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43230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python/producer/stock_sources.py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5010912" y="243230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封装不同行情源的抓取逻辑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3522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python/common/stock_utils.py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5010912" y="293522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行情数据校验与标准化工具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33756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43814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python/spark/stock_streaming_job.py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5010912" y="343814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实时分析核心代码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94106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java-backend/.../DashboardService.java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5010912" y="394106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查询实时结果并提供前端接口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77240" y="434340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44398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frontend/index.html / dash-pages.js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5010912" y="444398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展示实时行情、告警和系统状态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822960" y="5440680"/>
            <a:ext cx="978408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605272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实时分析不是写在一个文件里，而是通过分层代码完成完整链路。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如何生成实时行情事件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对应文件：python/producer/stock_producer.py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3502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从股票池读取监控股票。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777240" y="183794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5564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使用多线程并发抓取行情。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77240" y="22585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7627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调用多个行情源进行兜底。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596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is_valid_tick 过滤无效数据。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77240" y="30998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0175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将合法行情写入 Kafka。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5166360" cy="2788920"/>
          </a:xfrm>
          <a:prstGeom prst="roundRect">
            <a:avLst>
              <a:gd name="adj" fmla="val 262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472184"/>
            <a:ext cx="4873752" cy="2532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quotes = [quote for quote in fetch_quotes() if is_valid_tick(quote)]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quote in quotes: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producer.send(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settings.kafka_topic,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key=quote['symbol'],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value=quote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producer.flush()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4041648"/>
            <a:ext cx="6035040" cy="347472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42232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函数/参数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182112" y="4142232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22960" y="4389120"/>
            <a:ext cx="6035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89704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fetch_quotes()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182112" y="4489704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采集一轮股票行情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822960" y="4736592"/>
            <a:ext cx="6035040" cy="347472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837176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is_valid_tick()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182112" y="4837176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过滤价格、成交量异常数据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822960" y="5084064"/>
            <a:ext cx="6035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184648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producer.send()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182112" y="518464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发送到 Kafka topic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22960" y="5431536"/>
            <a:ext cx="6035040" cy="347472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532120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key=symbol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3182112" y="5532120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用股票代码作为消息 key，便于追踪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为什么中间要使用 Kafka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作为实时数据缓冲层，解耦采集端和计算端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17320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只负责写消息，不直接操作数据库和复杂分析逻辑。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822960" y="20299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4767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可以持续消费 Kafka 中的行情事件。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478024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采集速度和计算速度不完全一致时，Kafka 起到削峰和缓冲作用。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22960" y="309067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08376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实时行情被转换为持续流动的消息，后续计算更稳定。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949440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1609344"/>
            <a:ext cx="373075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KAFKA_BOOTSTRAP_SERVERS=127.0.0.1:9092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KAFKA_TOPIC=stock_realtime_topic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3200400"/>
            <a:ext cx="3383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54787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讲解重点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949440" y="3886200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的作用是把实时行情变成持续流动的消息，让后面的 Spark 可以稳定消费。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如何读取实时行情流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对应文件：python/spark/stock_streaming_job.py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562356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444752"/>
            <a:ext cx="5330952" cy="29900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 = (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spark.readStream.format('kafka')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.option('kafka.bootstrap.servers', settings.kafka_bootstrap_servers)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.option('subscribe', settings.kafka_topic)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.option('startingOffsets', 'latest')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.option('failOnDataLoss', 'false')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.load()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810" dirty="0"/>
          </a:p>
        </p:txBody>
      </p:sp>
      <p:sp>
        <p:nvSpPr>
          <p:cNvPr id="6" name="Shape 4"/>
          <p:cNvSpPr/>
          <p:nvPr/>
        </p:nvSpPr>
        <p:spPr>
          <a:xfrm>
            <a:off x="676656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141732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readStream 表示持续读取数据流。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766560" y="197510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892808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format('kafka') 表示数据来源是 Kafka。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766560" y="24505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36829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subscribe 指定消费哪个 topic。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766560" y="292608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84378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startingOffsets='latest' 适合实时演示。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766560" y="34015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331927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failOnDataLoss=false 增强容错性。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978408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22392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读取的是一条持续流，不是一次性静态文件。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消息如何变成结构化行情表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 解析与字段标准化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669280" cy="374904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80744"/>
            <a:ext cx="5376672" cy="3493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parsed = raw.select(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F.from_json(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F.col('value').cast('string'),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event_schema()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).alias('data')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).select('data.*')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parsed = parsed.withColumn(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'event_time',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F.to_timestamp('event_time', 'yyyy-MM-dd HH:mm:ss')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676656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13258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中的 value 是 JSON 字符串。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766560" y="18653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7830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event_schema() 定义字段结构。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2402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from_json() 将 JSON 转成 Spark DataFrame。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766560" y="2779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6974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event_time 转为时间类型，用于窗口统计和排序。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784975" y="3822065"/>
            <a:ext cx="397764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D7C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字段：symbol / company_name / market / last_price / change_pct / volume / turnover / event_time / source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进入实时分析前的数据清洗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实时系统最怕脏数据直接进入分析，因此 Spark 入口先做基础质量过滤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760720" cy="36118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80744"/>
            <a:ext cx="5468112" cy="3355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parsed.filter(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(F.col('last_price') &gt; 0)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&amp; (F.col('volume') &gt; 0)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&amp; (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(market.isin('SH', 'SZ', 'BJ')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&amp; (F.abs(F.col('change_pct')) &lt; 11.0))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| ((market == 'HK')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&amp; (F.abs(F.col('change_pct')) &lt; 50.0))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48056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76872" y="1517904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805672" y="1517904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903720" y="1892808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993392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last_price &gt; 0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8805672" y="1993392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过滤价格异常数据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6903720" y="2368296"/>
            <a:ext cx="448056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2468880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volume &gt; 0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8805672" y="2468880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过滤无成交量数据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6903720" y="2843784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944368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股 &lt; 11%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8805672" y="2944368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股涨跌幅限制更严格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6903720" y="3319272"/>
            <a:ext cx="448056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3419856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港股 &lt; 50%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805672" y="3419856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港股允许更大波动范围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6903720" y="4800600"/>
            <a:ext cx="4206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965192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这样可以防止错误行情污染实时统计和告警结果。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使用 foreachBatch 处理每个实时批次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Structured Streaming 将实时流切成微批统一处理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472184"/>
            <a:ext cx="4965192" cy="1801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query =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stream_df.writeStream.outputMode('append')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.foreachBatch(write_batch)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.option('checkpointLocation', settings.hdfs_checkpoint_path)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.start()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4173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Structured Streaming 会把实时流切成一个个微批。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400800" y="198424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90195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每个微批调用 write_batch() 处理。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38658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checkpointLocation 用于保存流式计算状态，支持恢复。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400800" y="29535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87121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outputMode('append') 表示追加写入。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996696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02352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本项目不是一条数据单独处理，而是按微批统一完成聚合、告警和写库。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一个微批中完成哪些实时分析任务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write_batch 同时负责去重、归档、聚合、告警和写库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161288"/>
            <a:ext cx="598932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07592"/>
            <a:ext cx="5696712" cy="3858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raw_batch = batch_df.dropDuplicates(['event_id'])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raw_batch.write.mode('append').parquet(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f'{settings.hdfs_output_path.rstrip('/')}/quotes'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write_dashboard_aggregates(raw_batch, batch_id)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changed_batch = keep_changed_quotes(raw_batch)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write_jdbc(build_alerts(changed_batch), 'alert_events')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write_jdbc(latest_quotes, 'price_ticks')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708660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51192" y="132588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event_id 去重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086600" y="185623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77393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原始行情归档到 HDFS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086600" y="230428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51192" y="222199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生成看板聚合指标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086600" y="275234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267004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过滤重复行情快照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086600" y="320040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311810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生成告警事件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086600" y="3648456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1192" y="356616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 MySQL 明细表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086600" y="4800600"/>
            <a:ext cx="40233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965192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一个微批不只是写原始数据，还同时生成前端展示需要的统计结果和风险告警。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计算了哪些实时分析指标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对应函数：write_dashboard_aggregates(raw_batch, batch_id)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9464040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26464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表名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364992" y="1426464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839712" y="1426464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前端用途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9464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93392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metric_snapshots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3364992" y="1993392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分钟级市场快照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6839712" y="1993392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首页趋势、流量状态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777240" y="2459736"/>
            <a:ext cx="94640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560320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symbol_stats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3364992" y="2560320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个股聚合统计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839712" y="2560320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个股排行、关注列表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026664"/>
            <a:ext cx="9464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27248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sector_stats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364992" y="3127248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行业统计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6839712" y="3127248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行业热力图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777240" y="3593592"/>
            <a:ext cx="94640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94176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category_stats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3364992" y="3694176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分类统计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839712" y="3694176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市场结构分析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86868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股票数量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24612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平均价格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62356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9671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平均涨跌幅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00100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415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总成交量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6868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总成交额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24612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行业平均涨跌幅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62356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9671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行业成交额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实时风险告警如何生成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对应函数：build_alerts(changed_batch)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规则一：价格波动告警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29384"/>
            <a:ext cx="4279392" cy="1069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price_alert_threshold = greatest(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2.0,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avg_abs_change_pct * 2.5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49300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规则二：成交量异动告警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822960" y="3913632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9936"/>
            <a:ext cx="4279392" cy="1069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volume_alert_threshold = greatest(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volume_min_threshold,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avg_volume * 2.0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56362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48132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读取最近一天历史行情作为动态基线。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989320" y="204825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96596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当前涨跌幅超过历史平均波动，触发价格波动告警。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89320" y="253288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45059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当前成交量超过历史平均成交量，触发成交量异动告警。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989320" y="30175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293522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告警等级分为 MEDIUM 和 HIGH。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989320" y="4251960"/>
            <a:ext cx="43891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441655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讲解重点：告警不是简单写死固定值，而是结合历史基线动态判断当前行情是否异常。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实时分析结果如何落库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用于快速查询，HDFS 用于离线归档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8869680" cy="457200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350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表名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685032" y="13350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price_ticks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3685032" y="17922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保存去重后的实时行情明细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494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metric_snapshots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685032" y="22494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保存分钟级市场快照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7066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symbol_stats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685032" y="27066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保存个股聚合指标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0632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638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sector_stats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685032" y="31638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保存行业统计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6210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category_stats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685032" y="36210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保存市场分类统计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77240" y="39776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0782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alert_events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85032" y="40782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保存实时风险告警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777240" y="44348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5354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parquet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685032" y="45354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保存原始行情归档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68680" y="518464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10235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面向前端快速查询。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68680" y="564184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55955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面向后续离线分析和归档。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035040" y="54041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53218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明细表和聚合表分开，减少前端查询压力。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实时分析结果如何展示到页面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后端文件：DashboardService.java；前端定时刷新展示实时状态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6355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99032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364992" y="1399032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74520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/dashboard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3364992" y="1874520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获取首页大屏数据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249424"/>
            <a:ext cx="635508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350008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/health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364992" y="2350008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获取系统健康状态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724912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825496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/alerts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364992" y="2825496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查询风险告警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635508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300984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/stocks/{symbol}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364992" y="3300984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查询个股详情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675888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776472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/stocks/{symbol}/trend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364992" y="3776472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查询实时趋势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315200" y="138074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129844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实时流状态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315200" y="17647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68249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最新行情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315200" y="214884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2066544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市场涨跌统计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315200" y="253288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245059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行业热力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315200" y="2916936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83464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风险告警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315200" y="330098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321868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个股走势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315200" y="368503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360273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模型预测结果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68680" y="45720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984" y="4718304"/>
            <a:ext cx="418795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setInterval(safeRefresh, 5000)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572000"/>
            <a:ext cx="448056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736592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前端不是展示静态数据，而是周期性请求后端接口，持续刷新实时分析结果。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系统如何判断实时流是否正常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后端根据 metric_snapshots 和 price_ticks 的最新写入时间计算状态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0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 30 秒内有新数据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8056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分钟内有数据，但不够实时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9244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较长时间没有新数据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C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真实采集模式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样本回放模式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9244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离线状态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4343400"/>
            <a:ext cx="58064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489704"/>
            <a:ext cx="5513832" cy="1207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latest_created_at &gt;= NOW() - INTERVAL 30 SECOND THEN 'FLOWING'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latest_created_at &gt;= NOW() - INTERVAL 5 MINUTE THEN 'DELAYED'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'STOPPED'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 AS stream_state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178040" y="4498848"/>
            <a:ext cx="402336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4663440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这个状态不是前端写死的，而是后端根据最新写入时间计算出来的。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实时模块如何保证演示稳定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针对断流、重复数据和脏数据做保护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417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采集端支持多源兜底。</a:t>
            </a:r>
            <a:endParaRPr lang="en-US" sz="990" dirty="0"/>
          </a:p>
        </p:txBody>
      </p:sp>
      <p:sp>
        <p:nvSpPr>
          <p:cNvPr id="6" name="Shape 4"/>
          <p:cNvSpPr/>
          <p:nvPr/>
        </p:nvSpPr>
        <p:spPr>
          <a:xfrm>
            <a:off x="868680" y="21122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2996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发送前做数据校验。</a:t>
            </a:r>
            <a:endParaRPr lang="en-US" sz="99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64261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入口做质量过滤。</a:t>
            </a:r>
            <a:endParaRPr lang="en-US" sz="990" dirty="0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25526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event_id 去重。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621792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17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相同行情快照不重复写库。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6217920" y="21122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02996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写入失败时不影响 MySQL 写入。</a:t>
            </a:r>
            <a:endParaRPr lang="en-US" sz="990" dirty="0"/>
          </a:p>
        </p:txBody>
      </p:sp>
      <p:sp>
        <p:nvSpPr>
          <p:cNvPr id="16" name="Shape 14"/>
          <p:cNvSpPr/>
          <p:nvPr/>
        </p:nvSpPr>
        <p:spPr>
          <a:xfrm>
            <a:off x="6217920" y="27249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4261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checkpoint 支持流式恢复。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25526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前端支持后端异常时展示离线状态。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868680" y="5074920"/>
            <a:ext cx="99669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39512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讲解句：这些设计保证系统不是只能在理想情况下运行，而是考虑了实时链路中的常见问题。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实时数据分析模块实现效果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7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模块总结：完整链路、实时分析、可视化与可监控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实现完整实时数据链路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从行情采集到 Kafka，再到 Spark 分析、MySQL/HDFS 存储和前端展示。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实现实时分析能力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包括行情去重、分钟聚合、个股统计、行业分析和风险告警。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实现可视化和可监控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0507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前端能够展示实时流状态、告警列表、个股走势和市场结构。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102412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实时数据分析模块证明本系统不仅能做静态数据展示，还具备持续采集、持续计算、持续告警和持续展示的能力，是整个平台动态分析能力的核心部分。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2C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后续优化方向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当前模块已经实现实时链路闭环，后续可以进一步增强可解释性和监控能力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批次质量统计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增加输入条数、过滤条数、写库条数。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660904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0370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告警原因字段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2203704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记录触发阈值、实际涨跌幅和成交量倍数。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447288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9008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链路状态图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2990088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前端展示 Kafka / Spark / MySQL 状态。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233672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76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实时分析日志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3776472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增加批次日志页面，便于答辩展示和排错。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020056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628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接入机器学习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4562856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将实时特征进一步接入预测模型。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5623560"/>
            <a:ext cx="9692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788152"/>
            <a:ext cx="969264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后续优化重点不是重新推翻链路，而是在现有闭环上增强解释、监控和预测能力。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7764</Words>
  <Application>WPS 演示</Application>
  <PresentationFormat>On-screen Show (16:9)</PresentationFormat>
  <Paragraphs>869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Consolas</vt:lpstr>
      <vt:lpstr>Consolas</vt:lpstr>
      <vt:lpstr>Consolas</vt:lpstr>
      <vt:lpstr>Arial Unicode MS</vt:lpstr>
      <vt:lpstr>等线</vt:lpstr>
      <vt:lpstr>Aptos Display</vt:lpstr>
      <vt:lpstr>Segoe UI Variable Display</vt:lpstr>
      <vt:lpstr>Aptos Display</vt:lpstr>
      <vt:lpstr>Aptos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Quant Stream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股票实时流分析平台实时数据分析模块汇报</dc:title>
  <dc:creator>Comprehensive Practice</dc:creator>
  <dc:subject>股票实时流分析平台实时数据分析模块汇报</dc:subject>
  <cp:lastModifiedBy>丘丘人</cp:lastModifiedBy>
  <cp:revision>3</cp:revision>
  <dcterms:created xsi:type="dcterms:W3CDTF">2026-05-11T07:12:00Z</dcterms:created>
  <dcterms:modified xsi:type="dcterms:W3CDTF">2026-05-12T01:23:53Z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933835DBDAEC47449E81F79E6A85C2E7_12</vt:lpwstr>
  </property>
</Properties>
</file>