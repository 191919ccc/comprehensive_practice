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5" r:id="rId5"/>
    <p:sldId id="276" r:id="rId6"/>
    <p:sldId id="277" r:id="rId7"/>
    <p:sldId id="278" r:id="rId8"/>
    <p:sldId id="279" r:id="rId9"/>
    <p:sldId id="280" r:id="rId10"/>
    <p:sldId id="281"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36" d="100"/>
          <a:sy n="136" d="100"/>
        </p:scale>
        <p:origin x="216" y="3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6"/>
        </a:solidFill>
        <a:effectLst/>
      </p:bgPr>
    </p:bg>
    <p:spTree>
      <p:nvGrpSpPr>
        <p:cNvPr id="1" name=""/>
        <p:cNvGrpSpPr/>
        <p:nvPr/>
      </p:nvGrpSpPr>
      <p:grpSpPr>
        <a:xfrm>
          <a:off x="0" y="0"/>
          <a:ext cx="0" cy="0"/>
          <a:chOff x="0" y="0"/>
          <a:chExt cx="0" cy="0"/>
        </a:xfrm>
      </p:grpSpPr>
      <p:sp>
        <p:nvSpPr>
          <p:cNvPr id="2" name="Text 0"/>
          <p:cNvSpPr/>
          <p:nvPr/>
        </p:nvSpPr>
        <p:spPr>
          <a:xfrm>
            <a:off x="685800" y="658368"/>
            <a:ext cx="3840480" cy="256032"/>
          </a:xfrm>
          <a:prstGeom prst="rect">
            <a:avLst/>
          </a:prstGeom>
          <a:noFill/>
        </p:spPr>
        <p:txBody>
          <a:bodyPr wrap="square" lIns="0" tIns="0" rIns="0" bIns="0" rtlCol="0" anchor="ctr"/>
          <a:lstStyle/>
          <a:p>
            <a:pPr marL="0" indent="0">
              <a:buNone/>
            </a:pPr>
            <a:r>
              <a:rPr lang="en-US" sz="1200" b="1" dirty="0">
                <a:solidFill>
                  <a:srgbClr val="7DD3FC"/>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a:t>
            </a:r>
            <a:endParaRPr lang="en-US" sz="1200" dirty="0"/>
          </a:p>
        </p:txBody>
      </p:sp>
      <p:sp>
        <p:nvSpPr>
          <p:cNvPr id="3" name="Text 1"/>
          <p:cNvSpPr/>
          <p:nvPr/>
        </p:nvSpPr>
        <p:spPr>
          <a:xfrm>
            <a:off x="685800" y="1325880"/>
            <a:ext cx="7955280" cy="685800"/>
          </a:xfrm>
          <a:prstGeom prst="rect">
            <a:avLst/>
          </a:prstGeom>
          <a:noFill/>
        </p:spPr>
        <p:txBody>
          <a:bodyPr wrap="square" lIns="0" tIns="0" rIns="0" bIns="0" rtlCol="0" anchor="ctr">
            <a:normAutofit/>
          </a:bodyPr>
          <a:lstStyle/>
          <a:p>
            <a:pPr marL="0" indent="0">
              <a:buNone/>
            </a:pPr>
            <a:r>
              <a:rPr lang="en-US" sz="3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实时数据分析模块设计与实现</a:t>
            </a:r>
            <a:endParaRPr lang="en-US" sz="3400" dirty="0"/>
          </a:p>
        </p:txBody>
      </p:sp>
      <p:sp>
        <p:nvSpPr>
          <p:cNvPr id="4" name="Text 2"/>
          <p:cNvSpPr/>
          <p:nvPr/>
        </p:nvSpPr>
        <p:spPr>
          <a:xfrm>
            <a:off x="713232" y="2139696"/>
            <a:ext cx="8595360" cy="292608"/>
          </a:xfrm>
          <a:prstGeom prst="rect">
            <a:avLst/>
          </a:prstGeom>
          <a:noFill/>
        </p:spPr>
        <p:txBody>
          <a:bodyPr wrap="square" lIns="0" tIns="0" rIns="0" bIns="0" rtlCol="0" anchor="ctr">
            <a:normAutofit/>
          </a:bodyPr>
          <a:lstStyle/>
          <a:p>
            <a:pPr marL="0" indent="0">
              <a:buNone/>
            </a:pPr>
            <a:r>
              <a:rPr lang="en-US" sz="1250" dirty="0">
                <a:solidFill>
                  <a:srgbClr val="B8C7D9"/>
                </a:solidFill>
                <a:latin typeface="微软雅黑" panose="020B0503020204020204" pitchFamily="34" charset="-122"/>
                <a:ea typeface="微软雅黑" panose="020B0503020204020204" pitchFamily="34" charset="-122"/>
                <a:cs typeface="微软雅黑" panose="020B0503020204020204" pitchFamily="34" charset="-120"/>
              </a:rPr>
              <a:t>基于 Kafka + Spark Streaming + MySQL/HDFS 的股票行情实时分析链路</a:t>
            </a:r>
            <a:endParaRPr lang="en-US" sz="1250" dirty="0"/>
          </a:p>
        </p:txBody>
      </p:sp>
      <p:sp>
        <p:nvSpPr>
          <p:cNvPr id="5" name="Shape 3"/>
          <p:cNvSpPr/>
          <p:nvPr/>
        </p:nvSpPr>
        <p:spPr>
          <a:xfrm>
            <a:off x="713232" y="4160520"/>
            <a:ext cx="9875520" cy="0"/>
          </a:xfrm>
          <a:prstGeom prst="line">
            <a:avLst/>
          </a:prstGeom>
          <a:noFill/>
          <a:ln w="25400">
            <a:solidFill>
              <a:srgbClr val="3DD6C6"/>
            </a:solidFill>
            <a:prstDash val="solid"/>
          </a:ln>
        </p:spPr>
      </p:sp>
      <p:sp>
        <p:nvSpPr>
          <p:cNvPr id="6" name="Text 4"/>
          <p:cNvSpPr/>
          <p:nvPr/>
        </p:nvSpPr>
        <p:spPr>
          <a:xfrm>
            <a:off x="713232" y="4498848"/>
            <a:ext cx="8046720" cy="228600"/>
          </a:xfrm>
          <a:prstGeom prst="rect">
            <a:avLst/>
          </a:prstGeom>
          <a:noFill/>
        </p:spPr>
        <p:txBody>
          <a:bodyPr wrap="square" lIns="0" tIns="0" rIns="0" bIns="0" rtlCol="0" anchor="ctr">
            <a:normAutofit/>
          </a:bodyPr>
          <a:lstStyle/>
          <a:p>
            <a:pPr marL="0" indent="0">
              <a:buNone/>
            </a:pPr>
            <a:r>
              <a:rPr lang="en-US" sz="1140" dirty="0">
                <a:solidFill>
                  <a:srgbClr val="D8EAF8"/>
                </a:solidFill>
                <a:latin typeface="微软雅黑" panose="020B0503020204020204" pitchFamily="34" charset="-122"/>
                <a:ea typeface="微软雅黑" panose="020B0503020204020204" pitchFamily="34" charset="-122"/>
                <a:cs typeface="微软雅黑" panose="020B0503020204020204" pitchFamily="34" charset="-120"/>
              </a:rPr>
              <a:t>股票行情采集  →  消息传输  →  流式计算  →  异常告警  →  前端展示</a:t>
            </a:r>
            <a:endParaRPr lang="en-US" sz="1140" dirty="0"/>
          </a:p>
        </p:txBody>
      </p:sp>
      <p:sp>
        <p:nvSpPr>
          <p:cNvPr id="7" name="Text 5"/>
          <p:cNvSpPr/>
          <p:nvPr/>
        </p:nvSpPr>
        <p:spPr>
          <a:xfrm>
            <a:off x="713232" y="5623560"/>
            <a:ext cx="9326880" cy="292608"/>
          </a:xfrm>
          <a:prstGeom prst="rect">
            <a:avLst/>
          </a:prstGeom>
          <a:noFill/>
        </p:spPr>
        <p:txBody>
          <a:bodyPr wrap="square" lIns="0" tIns="0" rIns="0" bIns="0" rtlCol="0" anchor="ctr">
            <a:normAutofit/>
          </a:bodyPr>
          <a:lstStyle/>
          <a:p>
            <a:pPr marL="0" indent="0">
              <a:buNone/>
            </a:pPr>
            <a:r>
              <a:rPr lang="en-US" sz="1220" b="1" dirty="0">
                <a:solidFill>
                  <a:srgbClr val="CFFAFE"/>
                </a:solidFill>
                <a:latin typeface="微软雅黑" panose="020B0503020204020204" pitchFamily="34" charset="-122"/>
                <a:ea typeface="微软雅黑" panose="020B0503020204020204" pitchFamily="34" charset="-122"/>
                <a:cs typeface="微软雅黑" panose="020B0503020204020204" pitchFamily="34" charset="-120"/>
              </a:rPr>
              <a:t>本模块实现了从股票行情采集、消息传输、流式计算、异常告警到前端展示的完整实时数据分析流程。</a:t>
            </a:r>
            <a:endParaRPr lang="en-US" sz="12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238"/>
        </a:solidFill>
        <a:effectLst/>
      </p:bgPr>
    </p:bg>
    <p:spTree>
      <p:nvGrpSpPr>
        <p:cNvPr id="1" name=""/>
        <p:cNvGrpSpPr/>
        <p:nvPr/>
      </p:nvGrpSpPr>
      <p:grpSpPr/>
      <p:sp>
        <p:nvSpPr>
          <p:cNvPr id="2" name="TextBox 1"/>
          <p:cNvSpPr txBox="1"/>
          <p:nvPr/>
        </p:nvSpPr>
        <p:spPr>
          <a:xfrm>
            <a:off x="749808" y="594360"/>
            <a:ext cx="7223760" cy="411480"/>
          </a:xfrm>
          <a:prstGeom prst="rect">
            <a:avLst/>
          </a:prstGeom>
          <a:noFill/>
        </p:spPr>
        <p:txBody>
          <a:bodyPr wrap="none" lIns="36576" rIns="36576">
            <a:spAutoFit/>
          </a:bodyPr>
          <a:lstStyle/>
          <a:p>
            <a:pPr algn="l"/>
            <a:r>
              <a:rPr sz="2700" b="1">
                <a:solidFill>
                  <a:srgbClr val="FFFFFF"/>
                </a:solidFill>
                <a:latin typeface="微软雅黑" panose="020B0503020204020204" pitchFamily="34" charset="-122"/>
              </a:rPr>
              <a:t>数据爬虫与预处理模块</a:t>
            </a:r>
            <a:endParaRPr sz="2700" b="1">
              <a:solidFill>
                <a:srgbClr val="FFFFFF"/>
              </a:solidFill>
              <a:latin typeface="微软雅黑" panose="020B0503020204020204" pitchFamily="34" charset="-122"/>
            </a:endParaRPr>
          </a:p>
        </p:txBody>
      </p:sp>
      <p:sp>
        <p:nvSpPr>
          <p:cNvPr id="3" name="TextBox 2"/>
          <p:cNvSpPr txBox="1"/>
          <p:nvPr/>
        </p:nvSpPr>
        <p:spPr>
          <a:xfrm>
            <a:off x="786384" y="1115568"/>
            <a:ext cx="8869680" cy="320040"/>
          </a:xfrm>
          <a:prstGeom prst="rect">
            <a:avLst/>
          </a:prstGeom>
          <a:noFill/>
        </p:spPr>
        <p:txBody>
          <a:bodyPr wrap="none" lIns="36576" rIns="36576">
            <a:spAutoFit/>
          </a:bodyPr>
          <a:lstStyle/>
          <a:p>
            <a:pPr algn="l"/>
            <a:r>
              <a:rPr sz="1300" b="0">
                <a:solidFill>
                  <a:srgbClr val="D2E6F5"/>
                </a:solidFill>
                <a:latin typeface="微软雅黑" panose="020B0503020204020204" pitchFamily="34" charset="-122"/>
              </a:rPr>
              <a:t>在实时数据分析前，先完成行情来源接入、字段解析、质量过滤和标准化输出</a:t>
            </a:r>
            <a:endParaRPr sz="1300" b="0">
              <a:solidFill>
                <a:srgbClr val="D2E6F5"/>
              </a:solidFill>
              <a:latin typeface="微软雅黑" panose="020B0503020204020204" pitchFamily="34" charset="-122"/>
            </a:endParaRPr>
          </a:p>
        </p:txBody>
      </p:sp>
      <p:sp>
        <p:nvSpPr>
          <p:cNvPr id="4" name="Rounded Rectangle 3"/>
          <p:cNvSpPr/>
          <p:nvPr/>
        </p:nvSpPr>
        <p:spPr>
          <a:xfrm>
            <a:off x="685800" y="2743200"/>
            <a:ext cx="1938528" cy="658368"/>
          </a:xfrm>
          <a:prstGeom prst="round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行情源</a:t>
            </a:r>
            <a:endParaRPr sz="1050" b="1">
              <a:solidFill>
                <a:srgbClr val="FFFFFF"/>
              </a:solidFill>
              <a:latin typeface="微软雅黑" panose="020B0503020204020204" pitchFamily="34" charset="-122"/>
            </a:endParaRPr>
          </a:p>
        </p:txBody>
      </p:sp>
      <p:sp>
        <p:nvSpPr>
          <p:cNvPr id="5" name="TextBox 4"/>
          <p:cNvSpPr txBox="1"/>
          <p:nvPr/>
        </p:nvSpPr>
        <p:spPr>
          <a:xfrm>
            <a:off x="2642616" y="29260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6" name="Rounded Rectangle 5"/>
          <p:cNvSpPr/>
          <p:nvPr/>
        </p:nvSpPr>
        <p:spPr>
          <a:xfrm>
            <a:off x="2852928" y="2743200"/>
            <a:ext cx="1938528" cy="658368"/>
          </a:xfrm>
          <a:prstGeom prst="round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接口采集</a:t>
            </a:r>
            <a:endParaRPr sz="1050" b="1">
              <a:solidFill>
                <a:srgbClr val="FFFFFF"/>
              </a:solidFill>
              <a:latin typeface="微软雅黑" panose="020B0503020204020204" pitchFamily="34" charset="-122"/>
            </a:endParaRPr>
          </a:p>
        </p:txBody>
      </p:sp>
      <p:sp>
        <p:nvSpPr>
          <p:cNvPr id="7" name="TextBox 6"/>
          <p:cNvSpPr txBox="1"/>
          <p:nvPr/>
        </p:nvSpPr>
        <p:spPr>
          <a:xfrm>
            <a:off x="4809744" y="29260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8" name="Rounded Rectangle 7"/>
          <p:cNvSpPr/>
          <p:nvPr/>
        </p:nvSpPr>
        <p:spPr>
          <a:xfrm>
            <a:off x="5020056" y="2743200"/>
            <a:ext cx="1938528" cy="658368"/>
          </a:xfrm>
          <a:prstGeom prst="round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字段解析</a:t>
            </a:r>
            <a:endParaRPr sz="1050" b="1">
              <a:solidFill>
                <a:srgbClr val="FFFFFF"/>
              </a:solidFill>
              <a:latin typeface="微软雅黑" panose="020B0503020204020204" pitchFamily="34" charset="-122"/>
            </a:endParaRPr>
          </a:p>
        </p:txBody>
      </p:sp>
      <p:sp>
        <p:nvSpPr>
          <p:cNvPr id="9" name="TextBox 8"/>
          <p:cNvSpPr txBox="1"/>
          <p:nvPr/>
        </p:nvSpPr>
        <p:spPr>
          <a:xfrm>
            <a:off x="6976872" y="29260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10" name="Rounded Rectangle 9"/>
          <p:cNvSpPr/>
          <p:nvPr/>
        </p:nvSpPr>
        <p:spPr>
          <a:xfrm>
            <a:off x="7187184" y="2743200"/>
            <a:ext cx="1938528" cy="658368"/>
          </a:xfrm>
          <a:prstGeom prst="round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质量过滤</a:t>
            </a:r>
            <a:endParaRPr sz="1050" b="1">
              <a:solidFill>
                <a:srgbClr val="FFFFFF"/>
              </a:solidFill>
              <a:latin typeface="微软雅黑" panose="020B0503020204020204" pitchFamily="34" charset="-122"/>
            </a:endParaRPr>
          </a:p>
        </p:txBody>
      </p:sp>
      <p:sp>
        <p:nvSpPr>
          <p:cNvPr id="11" name="TextBox 10"/>
          <p:cNvSpPr txBox="1"/>
          <p:nvPr/>
        </p:nvSpPr>
        <p:spPr>
          <a:xfrm>
            <a:off x="9144000" y="29260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12" name="Rounded Rectangle 11"/>
          <p:cNvSpPr/>
          <p:nvPr/>
        </p:nvSpPr>
        <p:spPr>
          <a:xfrm>
            <a:off x="9354312" y="2743200"/>
            <a:ext cx="1938528" cy="658368"/>
          </a:xfrm>
          <a:prstGeom prst="roundRect">
            <a:avLst/>
          </a:prstGeom>
          <a:solidFill>
            <a:srgbClr val="7056BE"/>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标准事件</a:t>
            </a:r>
            <a:endParaRPr sz="1050" b="1">
              <a:solidFill>
                <a:srgbClr val="FFFFFF"/>
              </a:solidFill>
              <a:latin typeface="微软雅黑" panose="020B0503020204020204" pitchFamily="34" charset="-122"/>
            </a:endParaRPr>
          </a:p>
        </p:txBody>
      </p:sp>
      <p:sp>
        <p:nvSpPr>
          <p:cNvPr id="13" name="TextBox 12"/>
          <p:cNvSpPr txBox="1"/>
          <p:nvPr/>
        </p:nvSpPr>
        <p:spPr>
          <a:xfrm>
            <a:off x="804672" y="4645152"/>
            <a:ext cx="9326880" cy="548640"/>
          </a:xfrm>
          <a:prstGeom prst="rect">
            <a:avLst/>
          </a:prstGeom>
          <a:noFill/>
        </p:spPr>
        <p:txBody>
          <a:bodyPr wrap="none" lIns="36576" rIns="36576">
            <a:spAutoFit/>
          </a:bodyPr>
          <a:lstStyle/>
          <a:p>
            <a:pPr algn="l"/>
            <a:r>
              <a:rPr sz="1500" b="0">
                <a:solidFill>
                  <a:srgbClr val="EBF8FF"/>
                </a:solidFill>
                <a:latin typeface="微软雅黑" panose="020B0503020204020204" pitchFamily="34" charset="-122"/>
              </a:rPr>
              <a:t>这一部分是实时链路的入口，决定后续 Kafka、Spark、MySQL/HDFS 中数据的完整性和可信度。</a:t>
            </a:r>
            <a:endParaRPr sz="1500" b="0">
              <a:solidFill>
                <a:srgbClr val="EBF8FF"/>
              </a:solidFill>
              <a:latin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p:sp>
        <p:nvSpPr>
          <p:cNvPr id="2" name="TextBox 1"/>
          <p:cNvSpPr txBox="1"/>
          <p:nvPr/>
        </p:nvSpPr>
        <p:spPr>
          <a:xfrm>
            <a:off x="566928" y="384048"/>
            <a:ext cx="10058400" cy="384048"/>
          </a:xfrm>
          <a:prstGeom prst="rect">
            <a:avLst/>
          </a:prstGeom>
          <a:noFill/>
        </p:spPr>
        <p:txBody>
          <a:bodyPr wrap="none" lIns="36576" rIns="36576">
            <a:spAutoFit/>
          </a:bodyPr>
          <a:lstStyle/>
          <a:p>
            <a:pPr algn="l"/>
            <a:r>
              <a:rPr sz="2300" b="1">
                <a:solidFill>
                  <a:srgbClr val="0F2238"/>
                </a:solidFill>
                <a:latin typeface="微软雅黑" panose="020B0503020204020204" pitchFamily="34" charset="-122"/>
              </a:rPr>
              <a:t>数据来源与采集方式</a:t>
            </a:r>
            <a:endParaRPr sz="2300" b="1">
              <a:solidFill>
                <a:srgbClr val="0F2238"/>
              </a:solidFill>
              <a:latin typeface="微软雅黑" panose="020B0503020204020204" pitchFamily="34" charset="-122"/>
            </a:endParaRPr>
          </a:p>
        </p:txBody>
      </p:sp>
      <p:sp>
        <p:nvSpPr>
          <p:cNvPr id="3" name="TextBox 2"/>
          <p:cNvSpPr txBox="1"/>
          <p:nvPr/>
        </p:nvSpPr>
        <p:spPr>
          <a:xfrm>
            <a:off x="594360" y="804672"/>
            <a:ext cx="9692640" cy="256032"/>
          </a:xfrm>
          <a:prstGeom prst="rect">
            <a:avLst/>
          </a:prstGeom>
          <a:noFill/>
        </p:spPr>
        <p:txBody>
          <a:bodyPr wrap="none" lIns="36576" rIns="36576">
            <a:spAutoFit/>
          </a:bodyPr>
          <a:lstStyle/>
          <a:p>
            <a:pPr algn="l"/>
            <a:r>
              <a:rPr sz="1050" b="0">
                <a:solidFill>
                  <a:srgbClr val="64748B"/>
                </a:solidFill>
                <a:latin typeface="微软雅黑" panose="020B0503020204020204" pitchFamily="34" charset="-122"/>
              </a:rPr>
              <a:t>优先使用可直接请求的行情接口，避免 Selenium 带来的高延迟和不稳定</a:t>
            </a:r>
            <a:endParaRPr sz="1050" b="0">
              <a:solidFill>
                <a:srgbClr val="64748B"/>
              </a:solidFill>
              <a:latin typeface="微软雅黑" panose="020B0503020204020204" pitchFamily="34" charset="-122"/>
            </a:endParaRPr>
          </a:p>
        </p:txBody>
      </p:sp>
      <p:sp>
        <p:nvSpPr>
          <p:cNvPr id="4" name="Rectangle 3"/>
          <p:cNvSpPr/>
          <p:nvPr/>
        </p:nvSpPr>
        <p:spPr>
          <a:xfrm>
            <a:off x="566928" y="1078992"/>
            <a:ext cx="1051560" cy="36576"/>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17320"/>
            <a:ext cx="2514600" cy="1874519"/>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417320"/>
            <a:ext cx="73152" cy="1874519"/>
          </a:xfrm>
          <a:prstGeom prst="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54480"/>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新浪财经</a:t>
            </a:r>
            <a:endParaRPr sz="1300" b="1">
              <a:solidFill>
                <a:srgbClr val="0F2238"/>
              </a:solidFill>
              <a:latin typeface="微软雅黑" panose="020B0503020204020204" pitchFamily="34" charset="-122"/>
            </a:endParaRPr>
          </a:p>
        </p:txBody>
      </p:sp>
      <p:sp>
        <p:nvSpPr>
          <p:cNvPr id="8" name="TextBox 7"/>
          <p:cNvSpPr txBox="1"/>
          <p:nvPr/>
        </p:nvSpPr>
        <p:spPr>
          <a:xfrm>
            <a:off x="822959" y="1892808"/>
            <a:ext cx="2221992" cy="1307591"/>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使用 requests 获取 A 股实时行情</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返回 JavaScript 字符串</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适合实时演示中的快速报价</a:t>
            </a:r>
            <a:endParaRPr sz="920">
              <a:solidFill>
                <a:srgbClr val="1E293B"/>
              </a:solidFill>
              <a:latin typeface="微软雅黑" panose="020B0503020204020204" pitchFamily="34" charset="-122"/>
            </a:endParaRPr>
          </a:p>
        </p:txBody>
      </p:sp>
      <p:sp>
        <p:nvSpPr>
          <p:cNvPr id="9" name="Rounded Rectangle 8"/>
          <p:cNvSpPr/>
          <p:nvPr/>
        </p:nvSpPr>
        <p:spPr>
          <a:xfrm>
            <a:off x="3429000" y="1417320"/>
            <a:ext cx="2514600" cy="1874519"/>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417320"/>
            <a:ext cx="73152" cy="1874519"/>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554480"/>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腾讯财经</a:t>
            </a:r>
            <a:endParaRPr sz="1300" b="1">
              <a:solidFill>
                <a:srgbClr val="0F2238"/>
              </a:solidFill>
              <a:latin typeface="微软雅黑" panose="020B0503020204020204" pitchFamily="34" charset="-122"/>
            </a:endParaRPr>
          </a:p>
        </p:txBody>
      </p:sp>
      <p:sp>
        <p:nvSpPr>
          <p:cNvPr id="12" name="TextBox 11"/>
          <p:cNvSpPr txBox="1"/>
          <p:nvPr/>
        </p:nvSpPr>
        <p:spPr>
          <a:xfrm>
            <a:off x="3593592" y="1892808"/>
            <a:ext cx="2221992" cy="1307591"/>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作为实时行情备用源</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返回 ~ 分隔字符串</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用于主源失败后的兜底</a:t>
            </a:r>
            <a:endParaRPr sz="920">
              <a:solidFill>
                <a:srgbClr val="1E293B"/>
              </a:solidFill>
              <a:latin typeface="微软雅黑" panose="020B0503020204020204" pitchFamily="34" charset="-122"/>
            </a:endParaRPr>
          </a:p>
        </p:txBody>
      </p:sp>
      <p:sp>
        <p:nvSpPr>
          <p:cNvPr id="13" name="Rounded Rectangle 12"/>
          <p:cNvSpPr/>
          <p:nvPr/>
        </p:nvSpPr>
        <p:spPr>
          <a:xfrm>
            <a:off x="6199632" y="1417320"/>
            <a:ext cx="2514600" cy="1874519"/>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417320"/>
            <a:ext cx="73152" cy="1874519"/>
          </a:xfrm>
          <a:prstGeom prst="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554480"/>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东方财富</a:t>
            </a:r>
            <a:endParaRPr sz="1300" b="1">
              <a:solidFill>
                <a:srgbClr val="0F2238"/>
              </a:solidFill>
              <a:latin typeface="微软雅黑" panose="020B0503020204020204" pitchFamily="34" charset="-122"/>
            </a:endParaRPr>
          </a:p>
        </p:txBody>
      </p:sp>
      <p:sp>
        <p:nvSpPr>
          <p:cNvPr id="16" name="TextBox 15"/>
          <p:cNvSpPr txBox="1"/>
          <p:nvPr/>
        </p:nvSpPr>
        <p:spPr>
          <a:xfrm>
            <a:off x="6364224" y="1892808"/>
            <a:ext cx="2221992" cy="1307591"/>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通过 push2 API 获取行情</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返回 JSON 数据</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支持 A 股和港股报价</a:t>
            </a:r>
            <a:endParaRPr sz="920">
              <a:solidFill>
                <a:srgbClr val="1E293B"/>
              </a:solidFill>
              <a:latin typeface="微软雅黑" panose="020B0503020204020204" pitchFamily="34" charset="-122"/>
            </a:endParaRPr>
          </a:p>
        </p:txBody>
      </p:sp>
      <p:sp>
        <p:nvSpPr>
          <p:cNvPr id="17" name="Rounded Rectangle 16"/>
          <p:cNvSpPr/>
          <p:nvPr/>
        </p:nvSpPr>
        <p:spPr>
          <a:xfrm>
            <a:off x="8970264" y="1417320"/>
            <a:ext cx="2057400" cy="1874519"/>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70264" y="1417320"/>
            <a:ext cx="73152" cy="1874519"/>
          </a:xfrm>
          <a:prstGeom prst="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6" y="1554480"/>
            <a:ext cx="17647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AKShare</a:t>
            </a:r>
            <a:endParaRPr sz="1300" b="1">
              <a:solidFill>
                <a:srgbClr val="0F2238"/>
              </a:solidFill>
              <a:latin typeface="微软雅黑" panose="020B0503020204020204" pitchFamily="34" charset="-122"/>
            </a:endParaRPr>
          </a:p>
        </p:txBody>
      </p:sp>
      <p:sp>
        <p:nvSpPr>
          <p:cNvPr id="20" name="TextBox 19"/>
          <p:cNvSpPr txBox="1"/>
          <p:nvPr/>
        </p:nvSpPr>
        <p:spPr>
          <a:xfrm>
            <a:off x="9134856" y="1892808"/>
            <a:ext cx="1764792" cy="1307591"/>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获取历史日线数据</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用于冷启动和模型训练</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支持指数数据导入</a:t>
            </a:r>
            <a:endParaRPr sz="920">
              <a:solidFill>
                <a:srgbClr val="1E293B"/>
              </a:solidFill>
              <a:latin typeface="微软雅黑" panose="020B0503020204020204" pitchFamily="34" charset="-122"/>
            </a:endParaRPr>
          </a:p>
        </p:txBody>
      </p:sp>
      <p:sp>
        <p:nvSpPr>
          <p:cNvPr id="21" name="TextBox 20"/>
          <p:cNvSpPr txBox="1"/>
          <p:nvPr/>
        </p:nvSpPr>
        <p:spPr>
          <a:xfrm>
            <a:off x="777240" y="3858768"/>
            <a:ext cx="9875520" cy="256032"/>
          </a:xfrm>
          <a:prstGeom prst="rect">
            <a:avLst/>
          </a:prstGeom>
          <a:noFill/>
        </p:spPr>
        <p:txBody>
          <a:bodyPr wrap="none" lIns="36576" rIns="36576">
            <a:spAutoFit/>
          </a:bodyPr>
          <a:lstStyle/>
          <a:p>
            <a:pPr algn="l"/>
            <a:r>
              <a:rPr sz="1400" b="1">
                <a:solidFill>
                  <a:srgbClr val="0F2238"/>
                </a:solidFill>
                <a:latin typeface="微软雅黑" panose="020B0503020204020204" pitchFamily="34" charset="-122"/>
              </a:rPr>
              <a:t>核心代码文件</a:t>
            </a:r>
            <a:endParaRPr sz="1400" b="1">
              <a:solidFill>
                <a:srgbClr val="0F2238"/>
              </a:solidFill>
              <a:latin typeface="微软雅黑" panose="020B0503020204020204" pitchFamily="34" charset="-122"/>
            </a:endParaRPr>
          </a:p>
        </p:txBody>
      </p:sp>
      <p:sp>
        <p:nvSpPr>
          <p:cNvPr id="22" name="Rounded Rectangle 21"/>
          <p:cNvSpPr/>
          <p:nvPr/>
        </p:nvSpPr>
        <p:spPr>
          <a:xfrm>
            <a:off x="685800" y="4343400"/>
            <a:ext cx="2480310" cy="658368"/>
          </a:xfrm>
          <a:prstGeom prst="round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stock_sources.py</a:t>
            </a:r>
            <a:endParaRPr sz="1050" b="1">
              <a:solidFill>
                <a:srgbClr val="FFFFFF"/>
              </a:solidFill>
              <a:latin typeface="微软雅黑" panose="020B0503020204020204" pitchFamily="34" charset="-122"/>
            </a:endParaRPr>
          </a:p>
        </p:txBody>
      </p:sp>
      <p:sp>
        <p:nvSpPr>
          <p:cNvPr id="23" name="TextBox 22"/>
          <p:cNvSpPr txBox="1"/>
          <p:nvPr/>
        </p:nvSpPr>
        <p:spPr>
          <a:xfrm>
            <a:off x="3184398" y="45262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4" name="Rounded Rectangle 23"/>
          <p:cNvSpPr/>
          <p:nvPr/>
        </p:nvSpPr>
        <p:spPr>
          <a:xfrm>
            <a:off x="3394710" y="4343400"/>
            <a:ext cx="2480310" cy="658368"/>
          </a:xfrm>
          <a:prstGeom prst="round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stock_producer.py</a:t>
            </a:r>
            <a:endParaRPr sz="1050" b="1">
              <a:solidFill>
                <a:srgbClr val="FFFFFF"/>
              </a:solidFill>
              <a:latin typeface="微软雅黑" panose="020B0503020204020204" pitchFamily="34" charset="-122"/>
            </a:endParaRPr>
          </a:p>
        </p:txBody>
      </p:sp>
      <p:sp>
        <p:nvSpPr>
          <p:cNvPr id="25" name="TextBox 24"/>
          <p:cNvSpPr txBox="1"/>
          <p:nvPr/>
        </p:nvSpPr>
        <p:spPr>
          <a:xfrm>
            <a:off x="5893307" y="45262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6" name="Rounded Rectangle 25"/>
          <p:cNvSpPr/>
          <p:nvPr/>
        </p:nvSpPr>
        <p:spPr>
          <a:xfrm>
            <a:off x="6103620" y="4343400"/>
            <a:ext cx="2480310" cy="658368"/>
          </a:xfrm>
          <a:prstGeom prst="round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cold_start.py</a:t>
            </a:r>
            <a:endParaRPr sz="1050" b="1">
              <a:solidFill>
                <a:srgbClr val="FFFFFF"/>
              </a:solidFill>
              <a:latin typeface="微软雅黑" panose="020B0503020204020204" pitchFamily="34" charset="-122"/>
            </a:endParaRPr>
          </a:p>
        </p:txBody>
      </p:sp>
      <p:sp>
        <p:nvSpPr>
          <p:cNvPr id="27" name="TextBox 26"/>
          <p:cNvSpPr txBox="1"/>
          <p:nvPr/>
        </p:nvSpPr>
        <p:spPr>
          <a:xfrm>
            <a:off x="8602217" y="452628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8" name="Rounded Rectangle 27"/>
          <p:cNvSpPr/>
          <p:nvPr/>
        </p:nvSpPr>
        <p:spPr>
          <a:xfrm>
            <a:off x="8812530" y="4343400"/>
            <a:ext cx="2480310" cy="658368"/>
          </a:xfrm>
          <a:prstGeom prst="round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stock_utils.py</a:t>
            </a:r>
            <a:endParaRPr sz="1050" b="1">
              <a:solidFill>
                <a:srgbClr val="FFFFFF"/>
              </a:solidFill>
              <a:latin typeface="微软雅黑" panose="020B0503020204020204" pitchFamily="34" charset="-122"/>
            </a:endParaRPr>
          </a:p>
        </p:txBody>
      </p:sp>
      <p:sp>
        <p:nvSpPr>
          <p:cNvPr id="29" name="TextBox 28"/>
          <p:cNvSpPr txBox="1"/>
          <p:nvPr/>
        </p:nvSpPr>
        <p:spPr>
          <a:xfrm>
            <a:off x="594360" y="6473952"/>
            <a:ext cx="4114800" cy="182880"/>
          </a:xfrm>
          <a:prstGeom prst="rect">
            <a:avLst/>
          </a:prstGeom>
          <a:noFill/>
        </p:spPr>
        <p:txBody>
          <a:bodyPr wrap="none" lIns="36576" rIns="36576">
            <a:spAutoFit/>
          </a:bodyPr>
          <a:lstStyle/>
          <a:p>
            <a:pPr algn="l"/>
            <a:r>
              <a:rPr sz="850" b="0">
                <a:solidFill>
                  <a:srgbClr val="64748B"/>
                </a:solidFill>
                <a:latin typeface="微软雅黑" panose="020B0503020204020204" pitchFamily="34" charset="-122"/>
              </a:rPr>
              <a:t>数据爬虫与预处理</a:t>
            </a:r>
            <a:endParaRPr sz="850" b="0">
              <a:solidFill>
                <a:srgbClr val="64748B"/>
              </a:solidFill>
              <a:latin typeface="微软雅黑" panose="020B0503020204020204" pitchFamily="34" charset="-122"/>
            </a:endParaRPr>
          </a:p>
        </p:txBody>
      </p:sp>
      <p:sp>
        <p:nvSpPr>
          <p:cNvPr id="30" name="TextBox 29"/>
          <p:cNvSpPr txBox="1"/>
          <p:nvPr/>
        </p:nvSpPr>
        <p:spPr>
          <a:xfrm>
            <a:off x="9784080" y="6473952"/>
            <a:ext cx="1554480" cy="182880"/>
          </a:xfrm>
          <a:prstGeom prst="rect">
            <a:avLst/>
          </a:prstGeom>
          <a:noFill/>
        </p:spPr>
        <p:txBody>
          <a:bodyPr wrap="none" lIns="36576" rIns="36576">
            <a:spAutoFit/>
          </a:bodyPr>
          <a:lstStyle/>
          <a:p>
            <a:pPr algn="r"/>
            <a:r>
              <a:rPr sz="850" b="0">
                <a:solidFill>
                  <a:srgbClr val="64748B"/>
                </a:solidFill>
                <a:latin typeface="微软雅黑" panose="020B0503020204020204" pitchFamily="34" charset="-122"/>
              </a:rPr>
              <a:t>股票实时流分析平台</a:t>
            </a:r>
            <a:endParaRPr sz="850" b="0">
              <a:solidFill>
                <a:srgbClr val="64748B"/>
              </a:solidFill>
              <a:latin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F"/>
        </a:solidFill>
        <a:effectLst/>
      </p:bgPr>
    </p:bg>
    <p:spTree>
      <p:nvGrpSpPr>
        <p:cNvPr id="1" name=""/>
        <p:cNvGrpSpPr/>
        <p:nvPr/>
      </p:nvGrpSpPr>
      <p:grpSpPr/>
      <p:sp>
        <p:nvSpPr>
          <p:cNvPr id="2" name="TextBox 1"/>
          <p:cNvSpPr txBox="1"/>
          <p:nvPr/>
        </p:nvSpPr>
        <p:spPr>
          <a:xfrm>
            <a:off x="566928" y="384048"/>
            <a:ext cx="10058400" cy="384048"/>
          </a:xfrm>
          <a:prstGeom prst="rect">
            <a:avLst/>
          </a:prstGeom>
          <a:noFill/>
        </p:spPr>
        <p:txBody>
          <a:bodyPr wrap="none" lIns="36576" rIns="36576">
            <a:spAutoFit/>
          </a:bodyPr>
          <a:lstStyle/>
          <a:p>
            <a:pPr algn="l"/>
            <a:r>
              <a:rPr sz="2300" b="1">
                <a:solidFill>
                  <a:srgbClr val="0F2238"/>
                </a:solidFill>
                <a:latin typeface="微软雅黑" panose="020B0503020204020204" pitchFamily="34" charset="-122"/>
              </a:rPr>
              <a:t>爬虫采集流程设计</a:t>
            </a:r>
            <a:endParaRPr sz="2300" b="1">
              <a:solidFill>
                <a:srgbClr val="0F2238"/>
              </a:solidFill>
              <a:latin typeface="微软雅黑" panose="020B0503020204020204" pitchFamily="34" charset="-122"/>
            </a:endParaRPr>
          </a:p>
        </p:txBody>
      </p:sp>
      <p:sp>
        <p:nvSpPr>
          <p:cNvPr id="3" name="TextBox 2"/>
          <p:cNvSpPr txBox="1"/>
          <p:nvPr/>
        </p:nvSpPr>
        <p:spPr>
          <a:xfrm>
            <a:off x="594360" y="804672"/>
            <a:ext cx="9692640" cy="256032"/>
          </a:xfrm>
          <a:prstGeom prst="rect">
            <a:avLst/>
          </a:prstGeom>
          <a:noFill/>
        </p:spPr>
        <p:txBody>
          <a:bodyPr wrap="none" lIns="36576" rIns="36576">
            <a:spAutoFit/>
          </a:bodyPr>
          <a:lstStyle/>
          <a:p>
            <a:pPr algn="l"/>
            <a:r>
              <a:rPr sz="1050" b="0">
                <a:solidFill>
                  <a:srgbClr val="64748B"/>
                </a:solidFill>
                <a:latin typeface="微软雅黑" panose="020B0503020204020204" pitchFamily="34" charset="-122"/>
              </a:rPr>
              <a:t>Producer 按股票池循环采集，并通过多源兜底保证实时链路不断流</a:t>
            </a:r>
            <a:endParaRPr sz="1050" b="0">
              <a:solidFill>
                <a:srgbClr val="64748B"/>
              </a:solidFill>
              <a:latin typeface="微软雅黑" panose="020B0503020204020204" pitchFamily="34" charset="-122"/>
            </a:endParaRPr>
          </a:p>
        </p:txBody>
      </p:sp>
      <p:sp>
        <p:nvSpPr>
          <p:cNvPr id="4" name="Rectangle 3"/>
          <p:cNvSpPr/>
          <p:nvPr/>
        </p:nvSpPr>
        <p:spPr>
          <a:xfrm>
            <a:off x="566928" y="1078992"/>
            <a:ext cx="1051560" cy="36576"/>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72768"/>
            <a:ext cx="1938528" cy="658368"/>
          </a:xfrm>
          <a:prstGeom prst="round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读取股票池</a:t>
            </a:r>
            <a:endParaRPr sz="1050" b="1">
              <a:solidFill>
                <a:srgbClr val="FFFFFF"/>
              </a:solidFill>
              <a:latin typeface="微软雅黑" panose="020B0503020204020204" pitchFamily="34" charset="-122"/>
            </a:endParaRPr>
          </a:p>
        </p:txBody>
      </p:sp>
      <p:sp>
        <p:nvSpPr>
          <p:cNvPr id="6" name="TextBox 5"/>
          <p:cNvSpPr txBox="1"/>
          <p:nvPr/>
        </p:nvSpPr>
        <p:spPr>
          <a:xfrm>
            <a:off x="2642616" y="1755648"/>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7" name="Rounded Rectangle 6"/>
          <p:cNvSpPr/>
          <p:nvPr/>
        </p:nvSpPr>
        <p:spPr>
          <a:xfrm>
            <a:off x="2852928" y="1572768"/>
            <a:ext cx="1938528" cy="658368"/>
          </a:xfrm>
          <a:prstGeom prst="round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多线程请求</a:t>
            </a:r>
            <a:endParaRPr sz="1050" b="1">
              <a:solidFill>
                <a:srgbClr val="FFFFFF"/>
              </a:solidFill>
              <a:latin typeface="微软雅黑" panose="020B0503020204020204" pitchFamily="34" charset="-122"/>
            </a:endParaRPr>
          </a:p>
        </p:txBody>
      </p:sp>
      <p:sp>
        <p:nvSpPr>
          <p:cNvPr id="8" name="TextBox 7"/>
          <p:cNvSpPr txBox="1"/>
          <p:nvPr/>
        </p:nvSpPr>
        <p:spPr>
          <a:xfrm>
            <a:off x="4809744" y="1755648"/>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9" name="Rounded Rectangle 8"/>
          <p:cNvSpPr/>
          <p:nvPr/>
        </p:nvSpPr>
        <p:spPr>
          <a:xfrm>
            <a:off x="5020056" y="1572768"/>
            <a:ext cx="1938528" cy="658368"/>
          </a:xfrm>
          <a:prstGeom prst="round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多源兜底</a:t>
            </a:r>
            <a:endParaRPr sz="1050" b="1">
              <a:solidFill>
                <a:srgbClr val="FFFFFF"/>
              </a:solidFill>
              <a:latin typeface="微软雅黑" panose="020B0503020204020204" pitchFamily="34" charset="-122"/>
            </a:endParaRPr>
          </a:p>
        </p:txBody>
      </p:sp>
      <p:sp>
        <p:nvSpPr>
          <p:cNvPr id="10" name="TextBox 9"/>
          <p:cNvSpPr txBox="1"/>
          <p:nvPr/>
        </p:nvSpPr>
        <p:spPr>
          <a:xfrm>
            <a:off x="6976872" y="1755648"/>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11" name="Rounded Rectangle 10"/>
          <p:cNvSpPr/>
          <p:nvPr/>
        </p:nvSpPr>
        <p:spPr>
          <a:xfrm>
            <a:off x="7187184" y="1572768"/>
            <a:ext cx="1938528" cy="658368"/>
          </a:xfrm>
          <a:prstGeom prst="round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行情校验</a:t>
            </a:r>
            <a:endParaRPr sz="1050" b="1">
              <a:solidFill>
                <a:srgbClr val="FFFFFF"/>
              </a:solidFill>
              <a:latin typeface="微软雅黑" panose="020B0503020204020204" pitchFamily="34" charset="-122"/>
            </a:endParaRPr>
          </a:p>
        </p:txBody>
      </p:sp>
      <p:sp>
        <p:nvSpPr>
          <p:cNvPr id="12" name="TextBox 11"/>
          <p:cNvSpPr txBox="1"/>
          <p:nvPr/>
        </p:nvSpPr>
        <p:spPr>
          <a:xfrm>
            <a:off x="9144000" y="1755648"/>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13" name="Rounded Rectangle 12"/>
          <p:cNvSpPr/>
          <p:nvPr/>
        </p:nvSpPr>
        <p:spPr>
          <a:xfrm>
            <a:off x="9354312" y="1572768"/>
            <a:ext cx="1938528" cy="658368"/>
          </a:xfrm>
          <a:prstGeom prst="roundRect">
            <a:avLst/>
          </a:prstGeom>
          <a:solidFill>
            <a:srgbClr val="7056BE"/>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发送 Kafka</a:t>
            </a:r>
            <a:endParaRPr sz="1050" b="1">
              <a:solidFill>
                <a:srgbClr val="FFFFFF"/>
              </a:solidFill>
              <a:latin typeface="微软雅黑" panose="020B0503020204020204" pitchFamily="34" charset="-122"/>
            </a:endParaRPr>
          </a:p>
        </p:txBody>
      </p:sp>
      <p:sp>
        <p:nvSpPr>
          <p:cNvPr id="14" name="Rounded Rectangle 13"/>
          <p:cNvSpPr/>
          <p:nvPr/>
        </p:nvSpPr>
        <p:spPr>
          <a:xfrm>
            <a:off x="713232" y="2788920"/>
            <a:ext cx="3017520" cy="182880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2788920"/>
            <a:ext cx="73152" cy="1828800"/>
          </a:xfrm>
          <a:prstGeom prst="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2926079"/>
            <a:ext cx="272491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并发采集</a:t>
            </a:r>
            <a:endParaRPr sz="1300" b="1">
              <a:solidFill>
                <a:srgbClr val="0F2238"/>
              </a:solidFill>
              <a:latin typeface="微软雅黑" panose="020B0503020204020204" pitchFamily="34" charset="-122"/>
            </a:endParaRPr>
          </a:p>
        </p:txBody>
      </p:sp>
      <p:sp>
        <p:nvSpPr>
          <p:cNvPr id="17" name="TextBox 16"/>
          <p:cNvSpPr txBox="1"/>
          <p:nvPr/>
        </p:nvSpPr>
        <p:spPr>
          <a:xfrm>
            <a:off x="877824" y="3264408"/>
            <a:ext cx="2724912" cy="126187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ThreadPoolExecutor 同时请求多只股票</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减少单轮行情采集耗时</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线程数由 STOCK_PRODUCER_MAX_WORKERS 控制</a:t>
            </a:r>
            <a:endParaRPr sz="920">
              <a:solidFill>
                <a:srgbClr val="1E293B"/>
              </a:solidFill>
              <a:latin typeface="微软雅黑" panose="020B0503020204020204" pitchFamily="34" charset="-122"/>
            </a:endParaRPr>
          </a:p>
        </p:txBody>
      </p:sp>
      <p:sp>
        <p:nvSpPr>
          <p:cNvPr id="18" name="Rounded Rectangle 17"/>
          <p:cNvSpPr/>
          <p:nvPr/>
        </p:nvSpPr>
        <p:spPr>
          <a:xfrm>
            <a:off x="3977639" y="2788920"/>
            <a:ext cx="3017520" cy="182880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977639" y="2788920"/>
            <a:ext cx="73152" cy="1828800"/>
          </a:xfrm>
          <a:prstGeom prst="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42231" y="2926079"/>
            <a:ext cx="272491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失败隔离</a:t>
            </a:r>
            <a:endParaRPr sz="1300" b="1">
              <a:solidFill>
                <a:srgbClr val="0F2238"/>
              </a:solidFill>
              <a:latin typeface="微软雅黑" panose="020B0503020204020204" pitchFamily="34" charset="-122"/>
            </a:endParaRPr>
          </a:p>
        </p:txBody>
      </p:sp>
      <p:sp>
        <p:nvSpPr>
          <p:cNvPr id="21" name="TextBox 20"/>
          <p:cNvSpPr txBox="1"/>
          <p:nvPr/>
        </p:nvSpPr>
        <p:spPr>
          <a:xfrm>
            <a:off x="4142231" y="3264408"/>
            <a:ext cx="2724912" cy="126187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单只股票请求失败只跳过该股票</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不会中断整个 Producer 进程</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日志输出失败原因便于排查</a:t>
            </a:r>
            <a:endParaRPr sz="920">
              <a:solidFill>
                <a:srgbClr val="1E293B"/>
              </a:solidFill>
              <a:latin typeface="微软雅黑" panose="020B0503020204020204" pitchFamily="34" charset="-122"/>
            </a:endParaRPr>
          </a:p>
        </p:txBody>
      </p:sp>
      <p:sp>
        <p:nvSpPr>
          <p:cNvPr id="22" name="Rounded Rectangle 21"/>
          <p:cNvSpPr/>
          <p:nvPr/>
        </p:nvSpPr>
        <p:spPr>
          <a:xfrm>
            <a:off x="7242048" y="2788920"/>
            <a:ext cx="3017520" cy="182880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42048" y="2788920"/>
            <a:ext cx="73152" cy="1828800"/>
          </a:xfrm>
          <a:prstGeom prst="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926079"/>
            <a:ext cx="272491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Kafka 输出</a:t>
            </a:r>
            <a:endParaRPr sz="1300" b="1">
              <a:solidFill>
                <a:srgbClr val="0F2238"/>
              </a:solidFill>
              <a:latin typeface="微软雅黑" panose="020B0503020204020204" pitchFamily="34" charset="-122"/>
            </a:endParaRPr>
          </a:p>
        </p:txBody>
      </p:sp>
      <p:sp>
        <p:nvSpPr>
          <p:cNvPr id="25" name="TextBox 24"/>
          <p:cNvSpPr txBox="1"/>
          <p:nvPr/>
        </p:nvSpPr>
        <p:spPr>
          <a:xfrm>
            <a:off x="7406640" y="3264408"/>
            <a:ext cx="2724912" cy="126187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股票代码作为消息 key</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行情事件序列化为 JSON</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Spark 后续持续消费实时 topic</a:t>
            </a:r>
            <a:endParaRPr sz="920">
              <a:solidFill>
                <a:srgbClr val="1E293B"/>
              </a:solidFill>
              <a:latin typeface="微软雅黑" panose="020B0503020204020204" pitchFamily="34" charset="-122"/>
            </a:endParaRPr>
          </a:p>
        </p:txBody>
      </p:sp>
      <p:sp>
        <p:nvSpPr>
          <p:cNvPr id="26" name="TextBox 25"/>
          <p:cNvSpPr txBox="1"/>
          <p:nvPr/>
        </p:nvSpPr>
        <p:spPr>
          <a:xfrm>
            <a:off x="822960" y="5321808"/>
            <a:ext cx="7171690" cy="291465"/>
          </a:xfrm>
          <a:prstGeom prst="rect">
            <a:avLst/>
          </a:prstGeom>
          <a:noFill/>
        </p:spPr>
        <p:txBody>
          <a:bodyPr wrap="none" lIns="36576" rIns="36576">
            <a:spAutoFit/>
          </a:bodyPr>
          <a:lstStyle/>
          <a:p>
            <a:pPr algn="l"/>
            <a:r>
              <a:rPr sz="1300" b="0">
                <a:solidFill>
                  <a:srgbClr val="1E293B"/>
                </a:solidFill>
                <a:latin typeface="微软雅黑" panose="020B0503020204020204" pitchFamily="34" charset="-122"/>
              </a:rPr>
              <a:t>爬虫模块不是一次性下载文件，而是持续采集行情事件，为实时流计算提供不断更新的数据输入。</a:t>
            </a:r>
            <a:endParaRPr sz="1300" b="0">
              <a:solidFill>
                <a:srgbClr val="1E293B"/>
              </a:solidFill>
              <a:latin typeface="微软雅黑" panose="020B0503020204020204" pitchFamily="34" charset="-122"/>
            </a:endParaRPr>
          </a:p>
        </p:txBody>
      </p:sp>
      <p:sp>
        <p:nvSpPr>
          <p:cNvPr id="27" name="TextBox 26"/>
          <p:cNvSpPr txBox="1"/>
          <p:nvPr/>
        </p:nvSpPr>
        <p:spPr>
          <a:xfrm>
            <a:off x="594360" y="6473952"/>
            <a:ext cx="4114800" cy="182880"/>
          </a:xfrm>
          <a:prstGeom prst="rect">
            <a:avLst/>
          </a:prstGeom>
          <a:noFill/>
        </p:spPr>
        <p:txBody>
          <a:bodyPr wrap="none" lIns="36576" rIns="36576">
            <a:spAutoFit/>
          </a:bodyPr>
          <a:lstStyle/>
          <a:p>
            <a:pPr algn="l"/>
            <a:r>
              <a:rPr sz="850" b="0">
                <a:solidFill>
                  <a:srgbClr val="64748B"/>
                </a:solidFill>
                <a:latin typeface="微软雅黑" panose="020B0503020204020204" pitchFamily="34" charset="-122"/>
              </a:rPr>
              <a:t>数据爬虫与预处理</a:t>
            </a:r>
            <a:endParaRPr sz="850" b="0">
              <a:solidFill>
                <a:srgbClr val="64748B"/>
              </a:solidFill>
              <a:latin typeface="微软雅黑" panose="020B0503020204020204" pitchFamily="34" charset="-122"/>
            </a:endParaRPr>
          </a:p>
        </p:txBody>
      </p:sp>
      <p:sp>
        <p:nvSpPr>
          <p:cNvPr id="28" name="TextBox 27"/>
          <p:cNvSpPr txBox="1"/>
          <p:nvPr/>
        </p:nvSpPr>
        <p:spPr>
          <a:xfrm>
            <a:off x="9784080" y="6473952"/>
            <a:ext cx="1554480" cy="182880"/>
          </a:xfrm>
          <a:prstGeom prst="rect">
            <a:avLst/>
          </a:prstGeom>
          <a:noFill/>
        </p:spPr>
        <p:txBody>
          <a:bodyPr wrap="none" lIns="36576" rIns="36576">
            <a:spAutoFit/>
          </a:bodyPr>
          <a:lstStyle/>
          <a:p>
            <a:pPr algn="r"/>
            <a:r>
              <a:rPr sz="850" b="0">
                <a:solidFill>
                  <a:srgbClr val="64748B"/>
                </a:solidFill>
                <a:latin typeface="微软雅黑" panose="020B0503020204020204" pitchFamily="34" charset="-122"/>
              </a:rPr>
              <a:t>股票实时流分析平台</a:t>
            </a:r>
            <a:endParaRPr sz="850" b="0">
              <a:solidFill>
                <a:srgbClr val="64748B"/>
              </a:solidFill>
              <a:latin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D"/>
        </a:solidFill>
        <a:effectLst/>
      </p:bgPr>
    </p:bg>
    <p:spTree>
      <p:nvGrpSpPr>
        <p:cNvPr id="1" name=""/>
        <p:cNvGrpSpPr/>
        <p:nvPr/>
      </p:nvGrpSpPr>
      <p:grpSpPr/>
      <p:sp>
        <p:nvSpPr>
          <p:cNvPr id="2" name="TextBox 1"/>
          <p:cNvSpPr txBox="1"/>
          <p:nvPr/>
        </p:nvSpPr>
        <p:spPr>
          <a:xfrm>
            <a:off x="566928" y="384048"/>
            <a:ext cx="10058400" cy="384048"/>
          </a:xfrm>
          <a:prstGeom prst="rect">
            <a:avLst/>
          </a:prstGeom>
          <a:noFill/>
        </p:spPr>
        <p:txBody>
          <a:bodyPr wrap="none" lIns="36576" rIns="36576">
            <a:spAutoFit/>
          </a:bodyPr>
          <a:lstStyle/>
          <a:p>
            <a:pPr algn="l"/>
            <a:r>
              <a:rPr sz="2300" b="1">
                <a:solidFill>
                  <a:srgbClr val="0F2238"/>
                </a:solidFill>
                <a:latin typeface="微软雅黑" panose="020B0503020204020204" pitchFamily="34" charset="-122"/>
              </a:rPr>
              <a:t>字段解析与标准化输出</a:t>
            </a:r>
            <a:endParaRPr sz="2300" b="1">
              <a:solidFill>
                <a:srgbClr val="0F2238"/>
              </a:solidFill>
              <a:latin typeface="微软雅黑" panose="020B0503020204020204" pitchFamily="34" charset="-122"/>
            </a:endParaRPr>
          </a:p>
        </p:txBody>
      </p:sp>
      <p:sp>
        <p:nvSpPr>
          <p:cNvPr id="3" name="TextBox 2"/>
          <p:cNvSpPr txBox="1"/>
          <p:nvPr/>
        </p:nvSpPr>
        <p:spPr>
          <a:xfrm>
            <a:off x="594360" y="804672"/>
            <a:ext cx="9692640" cy="256032"/>
          </a:xfrm>
          <a:prstGeom prst="rect">
            <a:avLst/>
          </a:prstGeom>
          <a:noFill/>
        </p:spPr>
        <p:txBody>
          <a:bodyPr wrap="none" lIns="36576" rIns="36576">
            <a:spAutoFit/>
          </a:bodyPr>
          <a:lstStyle/>
          <a:p>
            <a:pPr algn="l"/>
            <a:r>
              <a:rPr sz="1050" b="0">
                <a:solidFill>
                  <a:srgbClr val="64748B"/>
                </a:solidFill>
                <a:latin typeface="微软雅黑" panose="020B0503020204020204" pitchFamily="34" charset="-122"/>
              </a:rPr>
              <a:t>不同来源返回格式不同，最终统一为 Kafka 和 Spark 可消费的标准行情事件</a:t>
            </a:r>
            <a:endParaRPr sz="1050" b="0">
              <a:solidFill>
                <a:srgbClr val="64748B"/>
              </a:solidFill>
              <a:latin typeface="微软雅黑" panose="020B0503020204020204" pitchFamily="34" charset="-122"/>
            </a:endParaRPr>
          </a:p>
        </p:txBody>
      </p:sp>
      <p:sp>
        <p:nvSpPr>
          <p:cNvPr id="4" name="Rectangle 3"/>
          <p:cNvSpPr/>
          <p:nvPr/>
        </p:nvSpPr>
        <p:spPr>
          <a:xfrm>
            <a:off x="566928" y="1078992"/>
            <a:ext cx="1051560" cy="36576"/>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13232" y="1417320"/>
            <a:ext cx="3154680" cy="192024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2" y="1417320"/>
            <a:ext cx="73152" cy="1920240"/>
          </a:xfrm>
          <a:prstGeom prst="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554480"/>
            <a:ext cx="286207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返回格式差异</a:t>
            </a:r>
            <a:endParaRPr sz="1300" b="1">
              <a:solidFill>
                <a:srgbClr val="0F2238"/>
              </a:solidFill>
              <a:latin typeface="微软雅黑" panose="020B0503020204020204" pitchFamily="34" charset="-122"/>
            </a:endParaRPr>
          </a:p>
        </p:txBody>
      </p:sp>
      <p:sp>
        <p:nvSpPr>
          <p:cNvPr id="8" name="TextBox 7"/>
          <p:cNvSpPr txBox="1"/>
          <p:nvPr/>
        </p:nvSpPr>
        <p:spPr>
          <a:xfrm>
            <a:off x="877824" y="1892808"/>
            <a:ext cx="2862072" cy="135331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新浪：JavaScript 字符串</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腾讯：~ 分隔字段</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东方财富：JSON 字段</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AKShare：DataFrame 行记录</a:t>
            </a:r>
            <a:endParaRPr sz="920">
              <a:solidFill>
                <a:srgbClr val="1E293B"/>
              </a:solidFill>
              <a:latin typeface="微软雅黑" panose="020B0503020204020204" pitchFamily="34" charset="-122"/>
            </a:endParaRPr>
          </a:p>
        </p:txBody>
      </p:sp>
      <p:sp>
        <p:nvSpPr>
          <p:cNvPr id="9" name="Rounded Rectangle 8"/>
          <p:cNvSpPr/>
          <p:nvPr/>
        </p:nvSpPr>
        <p:spPr>
          <a:xfrm>
            <a:off x="4160520" y="1417320"/>
            <a:ext cx="3154680" cy="192024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60520" y="1417320"/>
            <a:ext cx="73152" cy="1920240"/>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25112" y="1554480"/>
            <a:ext cx="286207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统一解析方法</a:t>
            </a:r>
            <a:endParaRPr sz="1300" b="1">
              <a:solidFill>
                <a:srgbClr val="0F2238"/>
              </a:solidFill>
              <a:latin typeface="微软雅黑" panose="020B0503020204020204" pitchFamily="34" charset="-122"/>
            </a:endParaRPr>
          </a:p>
        </p:txBody>
      </p:sp>
      <p:sp>
        <p:nvSpPr>
          <p:cNvPr id="12" name="TextBox 11"/>
          <p:cNvSpPr txBox="1"/>
          <p:nvPr/>
        </p:nvSpPr>
        <p:spPr>
          <a:xfrm>
            <a:off x="4325112" y="1892808"/>
            <a:ext cx="2862072" cy="135331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正则提取字符串 payload</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response.json() 读取接口 JSON</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safe_float / safe_int 安全转换</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detect_market 识别市场</a:t>
            </a:r>
            <a:endParaRPr sz="920">
              <a:solidFill>
                <a:srgbClr val="1E293B"/>
              </a:solidFill>
              <a:latin typeface="微软雅黑" panose="020B0503020204020204" pitchFamily="34" charset="-122"/>
            </a:endParaRPr>
          </a:p>
        </p:txBody>
      </p:sp>
      <p:sp>
        <p:nvSpPr>
          <p:cNvPr id="13" name="Rounded Rectangle 12"/>
          <p:cNvSpPr/>
          <p:nvPr/>
        </p:nvSpPr>
        <p:spPr>
          <a:xfrm>
            <a:off x="7607808" y="1417320"/>
            <a:ext cx="3154680" cy="1920240"/>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07808" y="1417320"/>
            <a:ext cx="73152" cy="1920240"/>
          </a:xfrm>
          <a:prstGeom prst="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1554480"/>
            <a:ext cx="286207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标准事件字段</a:t>
            </a:r>
            <a:endParaRPr sz="1300" b="1">
              <a:solidFill>
                <a:srgbClr val="0F2238"/>
              </a:solidFill>
              <a:latin typeface="微软雅黑" panose="020B0503020204020204" pitchFamily="34" charset="-122"/>
            </a:endParaRPr>
          </a:p>
        </p:txBody>
      </p:sp>
      <p:sp>
        <p:nvSpPr>
          <p:cNvPr id="16" name="TextBox 15"/>
          <p:cNvSpPr txBox="1"/>
          <p:nvPr/>
        </p:nvSpPr>
        <p:spPr>
          <a:xfrm>
            <a:off x="7772400" y="1892808"/>
            <a:ext cx="2862072" cy="1353312"/>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symbol、company_name、market</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open/high/low/last_price</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change_pct、volume、turnover</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event_time、source、event_id</a:t>
            </a:r>
            <a:endParaRPr sz="920">
              <a:solidFill>
                <a:srgbClr val="1E293B"/>
              </a:solidFill>
              <a:latin typeface="微软雅黑" panose="020B0503020204020204" pitchFamily="34" charset="-122"/>
            </a:endParaRPr>
          </a:p>
        </p:txBody>
      </p:sp>
      <p:sp>
        <p:nvSpPr>
          <p:cNvPr id="17" name="TextBox 16"/>
          <p:cNvSpPr txBox="1"/>
          <p:nvPr/>
        </p:nvSpPr>
        <p:spPr>
          <a:xfrm>
            <a:off x="777240" y="3886200"/>
            <a:ext cx="10058400" cy="256032"/>
          </a:xfrm>
          <a:prstGeom prst="rect">
            <a:avLst/>
          </a:prstGeom>
          <a:noFill/>
        </p:spPr>
        <p:txBody>
          <a:bodyPr wrap="none" lIns="36576" rIns="36576">
            <a:spAutoFit/>
          </a:bodyPr>
          <a:lstStyle/>
          <a:p>
            <a:pPr algn="l"/>
            <a:r>
              <a:rPr sz="1400" b="1">
                <a:solidFill>
                  <a:srgbClr val="0F2238"/>
                </a:solidFill>
                <a:latin typeface="微软雅黑" panose="020B0503020204020204" pitchFamily="34" charset="-122"/>
              </a:rPr>
              <a:t>标准化后的事件结构</a:t>
            </a:r>
            <a:endParaRPr sz="1400" b="1">
              <a:solidFill>
                <a:srgbClr val="0F2238"/>
              </a:solidFill>
              <a:latin typeface="微软雅黑" panose="020B0503020204020204" pitchFamily="34" charset="-122"/>
            </a:endParaRPr>
          </a:p>
        </p:txBody>
      </p:sp>
      <p:sp>
        <p:nvSpPr>
          <p:cNvPr id="18" name="Rounded Rectangle 17"/>
          <p:cNvSpPr/>
          <p:nvPr/>
        </p:nvSpPr>
        <p:spPr>
          <a:xfrm>
            <a:off x="685800" y="4370832"/>
            <a:ext cx="1938528" cy="658368"/>
          </a:xfrm>
          <a:prstGeom prst="round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股票标识</a:t>
            </a:r>
            <a:endParaRPr sz="1050" b="1">
              <a:solidFill>
                <a:srgbClr val="FFFFFF"/>
              </a:solidFill>
              <a:latin typeface="微软雅黑" panose="020B0503020204020204" pitchFamily="34" charset="-122"/>
            </a:endParaRPr>
          </a:p>
        </p:txBody>
      </p:sp>
      <p:sp>
        <p:nvSpPr>
          <p:cNvPr id="19" name="TextBox 18"/>
          <p:cNvSpPr txBox="1"/>
          <p:nvPr/>
        </p:nvSpPr>
        <p:spPr>
          <a:xfrm>
            <a:off x="2642616" y="4553712"/>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0" name="Rounded Rectangle 19"/>
          <p:cNvSpPr/>
          <p:nvPr/>
        </p:nvSpPr>
        <p:spPr>
          <a:xfrm>
            <a:off x="2852928" y="4370832"/>
            <a:ext cx="1938528" cy="658368"/>
          </a:xfrm>
          <a:prstGeom prst="round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价格字段</a:t>
            </a:r>
            <a:endParaRPr sz="1050" b="1">
              <a:solidFill>
                <a:srgbClr val="FFFFFF"/>
              </a:solidFill>
              <a:latin typeface="微软雅黑" panose="020B0503020204020204" pitchFamily="34" charset="-122"/>
            </a:endParaRPr>
          </a:p>
        </p:txBody>
      </p:sp>
      <p:sp>
        <p:nvSpPr>
          <p:cNvPr id="21" name="TextBox 20"/>
          <p:cNvSpPr txBox="1"/>
          <p:nvPr/>
        </p:nvSpPr>
        <p:spPr>
          <a:xfrm>
            <a:off x="4809744" y="4553712"/>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2" name="Rounded Rectangle 21"/>
          <p:cNvSpPr/>
          <p:nvPr/>
        </p:nvSpPr>
        <p:spPr>
          <a:xfrm>
            <a:off x="5020056" y="4370832"/>
            <a:ext cx="1938528" cy="658368"/>
          </a:xfrm>
          <a:prstGeom prst="round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成交字段</a:t>
            </a:r>
            <a:endParaRPr sz="1050" b="1">
              <a:solidFill>
                <a:srgbClr val="FFFFFF"/>
              </a:solidFill>
              <a:latin typeface="微软雅黑" panose="020B0503020204020204" pitchFamily="34" charset="-122"/>
            </a:endParaRPr>
          </a:p>
        </p:txBody>
      </p:sp>
      <p:sp>
        <p:nvSpPr>
          <p:cNvPr id="23" name="TextBox 22"/>
          <p:cNvSpPr txBox="1"/>
          <p:nvPr/>
        </p:nvSpPr>
        <p:spPr>
          <a:xfrm>
            <a:off x="6976872" y="4553712"/>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4" name="Rounded Rectangle 23"/>
          <p:cNvSpPr/>
          <p:nvPr/>
        </p:nvSpPr>
        <p:spPr>
          <a:xfrm>
            <a:off x="7187184" y="4370832"/>
            <a:ext cx="1938528" cy="658368"/>
          </a:xfrm>
          <a:prstGeom prst="round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时间来源</a:t>
            </a:r>
            <a:endParaRPr sz="1050" b="1">
              <a:solidFill>
                <a:srgbClr val="FFFFFF"/>
              </a:solidFill>
              <a:latin typeface="微软雅黑" panose="020B0503020204020204" pitchFamily="34" charset="-122"/>
            </a:endParaRPr>
          </a:p>
        </p:txBody>
      </p:sp>
      <p:sp>
        <p:nvSpPr>
          <p:cNvPr id="25" name="TextBox 24"/>
          <p:cNvSpPr txBox="1"/>
          <p:nvPr/>
        </p:nvSpPr>
        <p:spPr>
          <a:xfrm>
            <a:off x="9144000" y="4553712"/>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6" name="Rounded Rectangle 25"/>
          <p:cNvSpPr/>
          <p:nvPr/>
        </p:nvSpPr>
        <p:spPr>
          <a:xfrm>
            <a:off x="9354312" y="4370832"/>
            <a:ext cx="1938528" cy="658368"/>
          </a:xfrm>
          <a:prstGeom prst="roundRect">
            <a:avLst/>
          </a:prstGeom>
          <a:solidFill>
            <a:srgbClr val="7056BE"/>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唯一事件 ID</a:t>
            </a:r>
            <a:endParaRPr sz="1050" b="1">
              <a:solidFill>
                <a:srgbClr val="FFFFFF"/>
              </a:solidFill>
              <a:latin typeface="微软雅黑" panose="020B0503020204020204" pitchFamily="34" charset="-122"/>
            </a:endParaRPr>
          </a:p>
        </p:txBody>
      </p:sp>
      <p:sp>
        <p:nvSpPr>
          <p:cNvPr id="27" name="TextBox 26"/>
          <p:cNvSpPr txBox="1"/>
          <p:nvPr/>
        </p:nvSpPr>
        <p:spPr>
          <a:xfrm>
            <a:off x="804672" y="5532120"/>
            <a:ext cx="9692640" cy="320040"/>
          </a:xfrm>
          <a:prstGeom prst="rect">
            <a:avLst/>
          </a:prstGeom>
          <a:noFill/>
        </p:spPr>
        <p:txBody>
          <a:bodyPr wrap="none" lIns="36576" rIns="36576">
            <a:spAutoFit/>
          </a:bodyPr>
          <a:lstStyle/>
          <a:p>
            <a:pPr algn="l"/>
            <a:r>
              <a:rPr sz="1250" b="0">
                <a:solidFill>
                  <a:srgbClr val="1E293B"/>
                </a:solidFill>
                <a:latin typeface="微软雅黑" panose="020B0503020204020204" pitchFamily="34" charset="-122"/>
              </a:rPr>
              <a:t>统一结构的好处：后续 Kafka 传输、Spark 解析、MySQL 写库和前端展示都不需要关心原始数据源差异。</a:t>
            </a:r>
            <a:endParaRPr sz="1250" b="0">
              <a:solidFill>
                <a:srgbClr val="1E293B"/>
              </a:solidFill>
              <a:latin typeface="微软雅黑" panose="020B0503020204020204" pitchFamily="34" charset="-122"/>
            </a:endParaRPr>
          </a:p>
        </p:txBody>
      </p:sp>
      <p:sp>
        <p:nvSpPr>
          <p:cNvPr id="28" name="TextBox 27"/>
          <p:cNvSpPr txBox="1"/>
          <p:nvPr/>
        </p:nvSpPr>
        <p:spPr>
          <a:xfrm>
            <a:off x="594360" y="6473952"/>
            <a:ext cx="4114800" cy="182880"/>
          </a:xfrm>
          <a:prstGeom prst="rect">
            <a:avLst/>
          </a:prstGeom>
          <a:noFill/>
        </p:spPr>
        <p:txBody>
          <a:bodyPr wrap="none" lIns="36576" rIns="36576">
            <a:spAutoFit/>
          </a:bodyPr>
          <a:lstStyle/>
          <a:p>
            <a:pPr algn="l"/>
            <a:r>
              <a:rPr sz="850" b="0">
                <a:solidFill>
                  <a:srgbClr val="64748B"/>
                </a:solidFill>
                <a:latin typeface="微软雅黑" panose="020B0503020204020204" pitchFamily="34" charset="-122"/>
              </a:rPr>
              <a:t>数据爬虫与预处理</a:t>
            </a:r>
            <a:endParaRPr sz="850" b="0">
              <a:solidFill>
                <a:srgbClr val="64748B"/>
              </a:solidFill>
              <a:latin typeface="微软雅黑" panose="020B0503020204020204" pitchFamily="34" charset="-122"/>
            </a:endParaRPr>
          </a:p>
        </p:txBody>
      </p:sp>
      <p:sp>
        <p:nvSpPr>
          <p:cNvPr id="29" name="TextBox 28"/>
          <p:cNvSpPr txBox="1"/>
          <p:nvPr/>
        </p:nvSpPr>
        <p:spPr>
          <a:xfrm>
            <a:off x="9784080" y="6473952"/>
            <a:ext cx="1554480" cy="182880"/>
          </a:xfrm>
          <a:prstGeom prst="rect">
            <a:avLst/>
          </a:prstGeom>
          <a:noFill/>
        </p:spPr>
        <p:txBody>
          <a:bodyPr wrap="none" lIns="36576" rIns="36576">
            <a:spAutoFit/>
          </a:bodyPr>
          <a:lstStyle/>
          <a:p>
            <a:pPr algn="r"/>
            <a:r>
              <a:rPr sz="850" b="0">
                <a:solidFill>
                  <a:srgbClr val="64748B"/>
                </a:solidFill>
                <a:latin typeface="微软雅黑" panose="020B0503020204020204" pitchFamily="34" charset="-122"/>
              </a:rPr>
              <a:t>股票实时流分析平台</a:t>
            </a:r>
            <a:endParaRPr sz="850" b="0">
              <a:solidFill>
                <a:srgbClr val="64748B"/>
              </a:solidFill>
              <a:latin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BFD"/>
        </a:solidFill>
        <a:effectLst/>
      </p:bgPr>
    </p:bg>
    <p:spTree>
      <p:nvGrpSpPr>
        <p:cNvPr id="1" name=""/>
        <p:cNvGrpSpPr/>
        <p:nvPr/>
      </p:nvGrpSpPr>
      <p:grpSpPr/>
      <p:sp>
        <p:nvSpPr>
          <p:cNvPr id="2" name="TextBox 1"/>
          <p:cNvSpPr txBox="1"/>
          <p:nvPr/>
        </p:nvSpPr>
        <p:spPr>
          <a:xfrm>
            <a:off x="566928" y="384048"/>
            <a:ext cx="10058400" cy="384048"/>
          </a:xfrm>
          <a:prstGeom prst="rect">
            <a:avLst/>
          </a:prstGeom>
          <a:noFill/>
        </p:spPr>
        <p:txBody>
          <a:bodyPr wrap="none" lIns="36576" rIns="36576">
            <a:spAutoFit/>
          </a:bodyPr>
          <a:lstStyle/>
          <a:p>
            <a:pPr algn="l"/>
            <a:r>
              <a:rPr sz="2300" b="1">
                <a:solidFill>
                  <a:srgbClr val="0F2238"/>
                </a:solidFill>
                <a:latin typeface="微软雅黑" panose="020B0503020204020204" pitchFamily="34" charset="-122"/>
              </a:rPr>
              <a:t>数据预处理与质量控制</a:t>
            </a:r>
            <a:endParaRPr sz="2300" b="1">
              <a:solidFill>
                <a:srgbClr val="0F2238"/>
              </a:solidFill>
              <a:latin typeface="微软雅黑" panose="020B0503020204020204" pitchFamily="34" charset="-122"/>
            </a:endParaRPr>
          </a:p>
        </p:txBody>
      </p:sp>
      <p:sp>
        <p:nvSpPr>
          <p:cNvPr id="3" name="TextBox 2"/>
          <p:cNvSpPr txBox="1"/>
          <p:nvPr/>
        </p:nvSpPr>
        <p:spPr>
          <a:xfrm>
            <a:off x="594360" y="804672"/>
            <a:ext cx="9692640" cy="256032"/>
          </a:xfrm>
          <a:prstGeom prst="rect">
            <a:avLst/>
          </a:prstGeom>
          <a:noFill/>
        </p:spPr>
        <p:txBody>
          <a:bodyPr wrap="none" lIns="36576" rIns="36576">
            <a:spAutoFit/>
          </a:bodyPr>
          <a:lstStyle/>
          <a:p>
            <a:pPr algn="l"/>
            <a:r>
              <a:rPr sz="1050" b="0">
                <a:solidFill>
                  <a:srgbClr val="64748B"/>
                </a:solidFill>
                <a:latin typeface="微软雅黑" panose="020B0503020204020204" pitchFamily="34" charset="-122"/>
              </a:rPr>
              <a:t>在实时计算前先处理缺失值、异常值、重复数据和训练特征</a:t>
            </a:r>
            <a:endParaRPr sz="1050" b="0">
              <a:solidFill>
                <a:srgbClr val="64748B"/>
              </a:solidFill>
              <a:latin typeface="微软雅黑" panose="020B0503020204020204" pitchFamily="34" charset="-122"/>
            </a:endParaRPr>
          </a:p>
        </p:txBody>
      </p:sp>
      <p:sp>
        <p:nvSpPr>
          <p:cNvPr id="4" name="Rectangle 3"/>
          <p:cNvSpPr/>
          <p:nvPr/>
        </p:nvSpPr>
        <p:spPr>
          <a:xfrm>
            <a:off x="566928" y="1078992"/>
            <a:ext cx="1051560" cy="36576"/>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353312"/>
            <a:ext cx="2514600" cy="19933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53312"/>
            <a:ext cx="73152" cy="1993392"/>
          </a:xfrm>
          <a:prstGeom prst="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90472"/>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缺失值处理</a:t>
            </a:r>
            <a:endParaRPr sz="1300" b="1">
              <a:solidFill>
                <a:srgbClr val="0F2238"/>
              </a:solidFill>
              <a:latin typeface="微软雅黑" panose="020B0503020204020204" pitchFamily="34" charset="-122"/>
            </a:endParaRPr>
          </a:p>
        </p:txBody>
      </p:sp>
      <p:sp>
        <p:nvSpPr>
          <p:cNvPr id="8" name="TextBox 7"/>
          <p:cNvSpPr txBox="1"/>
          <p:nvPr/>
        </p:nvSpPr>
        <p:spPr>
          <a:xfrm>
            <a:off x="822959" y="1828800"/>
            <a:ext cx="2221992" cy="1426464"/>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空值、--、非法字符串转默认值</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价格和成交量统一转数值</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滚动指标产生的 NaN 统一填充</a:t>
            </a:r>
            <a:endParaRPr sz="920">
              <a:solidFill>
                <a:srgbClr val="1E293B"/>
              </a:solidFill>
              <a:latin typeface="微软雅黑" panose="020B0503020204020204" pitchFamily="34" charset="-122"/>
            </a:endParaRPr>
          </a:p>
        </p:txBody>
      </p:sp>
      <p:sp>
        <p:nvSpPr>
          <p:cNvPr id="9" name="Rounded Rectangle 8"/>
          <p:cNvSpPr/>
          <p:nvPr/>
        </p:nvSpPr>
        <p:spPr>
          <a:xfrm>
            <a:off x="3429000" y="1353312"/>
            <a:ext cx="2514600" cy="19933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353312"/>
            <a:ext cx="73152" cy="1993392"/>
          </a:xfrm>
          <a:prstGeom prst="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490472"/>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异常值过滤</a:t>
            </a:r>
            <a:endParaRPr sz="1300" b="1">
              <a:solidFill>
                <a:srgbClr val="0F2238"/>
              </a:solidFill>
              <a:latin typeface="微软雅黑" panose="020B0503020204020204" pitchFamily="34" charset="-122"/>
            </a:endParaRPr>
          </a:p>
        </p:txBody>
      </p:sp>
      <p:sp>
        <p:nvSpPr>
          <p:cNvPr id="12" name="TextBox 11"/>
          <p:cNvSpPr txBox="1"/>
          <p:nvPr/>
        </p:nvSpPr>
        <p:spPr>
          <a:xfrm>
            <a:off x="3593592" y="1828800"/>
            <a:ext cx="2221992" cy="1426464"/>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last_price &gt; 0</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volume &gt; 0</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A 股涨跌幅限制更严格</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港股允许更大波动范围</a:t>
            </a:r>
            <a:endParaRPr sz="920">
              <a:solidFill>
                <a:srgbClr val="1E293B"/>
              </a:solidFill>
              <a:latin typeface="微软雅黑" panose="020B0503020204020204" pitchFamily="34" charset="-122"/>
            </a:endParaRPr>
          </a:p>
        </p:txBody>
      </p:sp>
      <p:sp>
        <p:nvSpPr>
          <p:cNvPr id="13" name="Rounded Rectangle 12"/>
          <p:cNvSpPr/>
          <p:nvPr/>
        </p:nvSpPr>
        <p:spPr>
          <a:xfrm>
            <a:off x="6199632" y="1353312"/>
            <a:ext cx="2514600" cy="19933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1353312"/>
            <a:ext cx="73152" cy="1993392"/>
          </a:xfrm>
          <a:prstGeom prst="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490472"/>
            <a:ext cx="22219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去重与压缩</a:t>
            </a:r>
            <a:endParaRPr sz="1300" b="1">
              <a:solidFill>
                <a:srgbClr val="0F2238"/>
              </a:solidFill>
              <a:latin typeface="微软雅黑" panose="020B0503020204020204" pitchFamily="34" charset="-122"/>
            </a:endParaRPr>
          </a:p>
        </p:txBody>
      </p:sp>
      <p:sp>
        <p:nvSpPr>
          <p:cNvPr id="16" name="TextBox 15"/>
          <p:cNvSpPr txBox="1"/>
          <p:nvPr/>
        </p:nvSpPr>
        <p:spPr>
          <a:xfrm>
            <a:off x="6364224" y="1828800"/>
            <a:ext cx="2221992" cy="1426464"/>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按 event_id 去重</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过滤未变化行情快照</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训练集压缩连续不变价格</a:t>
            </a:r>
            <a:endParaRPr sz="920">
              <a:solidFill>
                <a:srgbClr val="1E293B"/>
              </a:solidFill>
              <a:latin typeface="微软雅黑" panose="020B0503020204020204" pitchFamily="34" charset="-122"/>
            </a:endParaRPr>
          </a:p>
        </p:txBody>
      </p:sp>
      <p:sp>
        <p:nvSpPr>
          <p:cNvPr id="17" name="Rounded Rectangle 16"/>
          <p:cNvSpPr/>
          <p:nvPr/>
        </p:nvSpPr>
        <p:spPr>
          <a:xfrm>
            <a:off x="8970264" y="1353312"/>
            <a:ext cx="2057400" cy="1993392"/>
          </a:xfrm>
          <a:prstGeom prst="roundRect">
            <a:avLst/>
          </a:prstGeom>
          <a:solidFill>
            <a:srgbClr val="FFFFFF"/>
          </a:solidFill>
          <a:ln w="12700">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70264" y="1353312"/>
            <a:ext cx="73152" cy="1993392"/>
          </a:xfrm>
          <a:prstGeom prst="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4856" y="1490472"/>
            <a:ext cx="1764792" cy="256032"/>
          </a:xfrm>
          <a:prstGeom prst="rect">
            <a:avLst/>
          </a:prstGeom>
          <a:noFill/>
        </p:spPr>
        <p:txBody>
          <a:bodyPr wrap="none" lIns="36576" rIns="36576">
            <a:spAutoFit/>
          </a:bodyPr>
          <a:lstStyle/>
          <a:p>
            <a:pPr algn="l"/>
            <a:r>
              <a:rPr sz="1300" b="1">
                <a:solidFill>
                  <a:srgbClr val="0F2238"/>
                </a:solidFill>
                <a:latin typeface="微软雅黑" panose="020B0503020204020204" pitchFamily="34" charset="-122"/>
              </a:rPr>
              <a:t>特征构造</a:t>
            </a:r>
            <a:endParaRPr sz="1300" b="1">
              <a:solidFill>
                <a:srgbClr val="0F2238"/>
              </a:solidFill>
              <a:latin typeface="微软雅黑" panose="020B0503020204020204" pitchFamily="34" charset="-122"/>
            </a:endParaRPr>
          </a:p>
        </p:txBody>
      </p:sp>
      <p:sp>
        <p:nvSpPr>
          <p:cNvPr id="20" name="TextBox 19"/>
          <p:cNvSpPr txBox="1"/>
          <p:nvPr/>
        </p:nvSpPr>
        <p:spPr>
          <a:xfrm>
            <a:off x="9134856" y="1828800"/>
            <a:ext cx="1764792" cy="1426464"/>
          </a:xfrm>
          <a:prstGeom prst="rect">
            <a:avLst/>
          </a:prstGeom>
          <a:noFill/>
        </p:spPr>
        <p:txBody>
          <a:bodyPr wrap="square" lIns="18288" rIns="18288">
            <a:spAutoFit/>
          </a:bodyPr>
          <a:lstStyle/>
          <a:p>
            <a:pPr>
              <a:spcAft>
                <a:spcPts val="400"/>
              </a:spcAft>
            </a:pPr>
            <a:r>
              <a:rPr sz="920">
                <a:solidFill>
                  <a:srgbClr val="1E293B"/>
                </a:solidFill>
                <a:latin typeface="微软雅黑" panose="020B0503020204020204" pitchFamily="34" charset="-122"/>
              </a:rPr>
              <a:t>收益率、动量、均线</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成交量变化、波动率</a:t>
            </a:r>
            <a:endParaRPr sz="920">
              <a:solidFill>
                <a:srgbClr val="1E293B"/>
              </a:solidFill>
              <a:latin typeface="微软雅黑" panose="020B0503020204020204" pitchFamily="34" charset="-122"/>
            </a:endParaRPr>
          </a:p>
          <a:p>
            <a:pPr>
              <a:spcAft>
                <a:spcPts val="400"/>
              </a:spcAft>
            </a:pPr>
            <a:r>
              <a:rPr sz="920">
                <a:solidFill>
                  <a:srgbClr val="1E293B"/>
                </a:solidFill>
                <a:latin typeface="微软雅黑" panose="020B0503020204020204" pitchFamily="34" charset="-122"/>
              </a:rPr>
              <a:t>行业和指数相对特征</a:t>
            </a:r>
            <a:endParaRPr sz="920">
              <a:solidFill>
                <a:srgbClr val="1E293B"/>
              </a:solidFill>
              <a:latin typeface="微软雅黑" panose="020B0503020204020204" pitchFamily="34" charset="-122"/>
            </a:endParaRPr>
          </a:p>
        </p:txBody>
      </p:sp>
      <p:sp>
        <p:nvSpPr>
          <p:cNvPr id="21" name="Rounded Rectangle 20"/>
          <p:cNvSpPr/>
          <p:nvPr/>
        </p:nvSpPr>
        <p:spPr>
          <a:xfrm>
            <a:off x="685800" y="4160520"/>
            <a:ext cx="1938528" cy="658368"/>
          </a:xfrm>
          <a:prstGeom prst="roundRect">
            <a:avLst/>
          </a:prstGeom>
          <a:solidFill>
            <a:srgbClr val="2062A7"/>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原始行情</a:t>
            </a:r>
            <a:endParaRPr sz="1050" b="1">
              <a:solidFill>
                <a:srgbClr val="FFFFFF"/>
              </a:solidFill>
              <a:latin typeface="微软雅黑" panose="020B0503020204020204" pitchFamily="34" charset="-122"/>
            </a:endParaRPr>
          </a:p>
        </p:txBody>
      </p:sp>
      <p:sp>
        <p:nvSpPr>
          <p:cNvPr id="22" name="TextBox 21"/>
          <p:cNvSpPr txBox="1"/>
          <p:nvPr/>
        </p:nvSpPr>
        <p:spPr>
          <a:xfrm>
            <a:off x="2642616" y="434340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3" name="Rounded Rectangle 22"/>
          <p:cNvSpPr/>
          <p:nvPr/>
        </p:nvSpPr>
        <p:spPr>
          <a:xfrm>
            <a:off x="2852928" y="4160520"/>
            <a:ext cx="1938528" cy="658368"/>
          </a:xfrm>
          <a:prstGeom prst="roundRect">
            <a:avLst/>
          </a:prstGeom>
          <a:solidFill>
            <a:srgbClr val="28B5C2"/>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安全转换</a:t>
            </a:r>
            <a:endParaRPr sz="1050" b="1">
              <a:solidFill>
                <a:srgbClr val="FFFFFF"/>
              </a:solidFill>
              <a:latin typeface="微软雅黑" panose="020B0503020204020204" pitchFamily="34" charset="-122"/>
            </a:endParaRPr>
          </a:p>
        </p:txBody>
      </p:sp>
      <p:sp>
        <p:nvSpPr>
          <p:cNvPr id="24" name="TextBox 23"/>
          <p:cNvSpPr txBox="1"/>
          <p:nvPr/>
        </p:nvSpPr>
        <p:spPr>
          <a:xfrm>
            <a:off x="4809744" y="434340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5" name="Rounded Rectangle 24"/>
          <p:cNvSpPr/>
          <p:nvPr/>
        </p:nvSpPr>
        <p:spPr>
          <a:xfrm>
            <a:off x="5020056" y="4160520"/>
            <a:ext cx="1938528" cy="658368"/>
          </a:xfrm>
          <a:prstGeom prst="roundRect">
            <a:avLst/>
          </a:prstGeom>
          <a:solidFill>
            <a:srgbClr val="3E9C6A"/>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质量过滤</a:t>
            </a:r>
            <a:endParaRPr sz="1050" b="1">
              <a:solidFill>
                <a:srgbClr val="FFFFFF"/>
              </a:solidFill>
              <a:latin typeface="微软雅黑" panose="020B0503020204020204" pitchFamily="34" charset="-122"/>
            </a:endParaRPr>
          </a:p>
        </p:txBody>
      </p:sp>
      <p:sp>
        <p:nvSpPr>
          <p:cNvPr id="26" name="TextBox 25"/>
          <p:cNvSpPr txBox="1"/>
          <p:nvPr/>
        </p:nvSpPr>
        <p:spPr>
          <a:xfrm>
            <a:off x="6976872" y="434340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7" name="Rounded Rectangle 26"/>
          <p:cNvSpPr/>
          <p:nvPr/>
        </p:nvSpPr>
        <p:spPr>
          <a:xfrm>
            <a:off x="7187184" y="4160520"/>
            <a:ext cx="1938528" cy="658368"/>
          </a:xfrm>
          <a:prstGeom prst="roundRect">
            <a:avLst/>
          </a:prstGeom>
          <a:solidFill>
            <a:srgbClr val="E28B31"/>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去重压缩</a:t>
            </a:r>
            <a:endParaRPr sz="1050" b="1">
              <a:solidFill>
                <a:srgbClr val="FFFFFF"/>
              </a:solidFill>
              <a:latin typeface="微软雅黑" panose="020B0503020204020204" pitchFamily="34" charset="-122"/>
            </a:endParaRPr>
          </a:p>
        </p:txBody>
      </p:sp>
      <p:sp>
        <p:nvSpPr>
          <p:cNvPr id="28" name="TextBox 27"/>
          <p:cNvSpPr txBox="1"/>
          <p:nvPr/>
        </p:nvSpPr>
        <p:spPr>
          <a:xfrm>
            <a:off x="9144000" y="4343400"/>
            <a:ext cx="182880" cy="228600"/>
          </a:xfrm>
          <a:prstGeom prst="rect">
            <a:avLst/>
          </a:prstGeom>
          <a:noFill/>
        </p:spPr>
        <p:txBody>
          <a:bodyPr wrap="none" lIns="36576" rIns="36576">
            <a:spAutoFit/>
          </a:bodyPr>
          <a:lstStyle/>
          <a:p>
            <a:pPr algn="ctr"/>
            <a:r>
              <a:rPr sz="1700" b="1">
                <a:solidFill>
                  <a:srgbClr val="64748B"/>
                </a:solidFill>
                <a:latin typeface="微软雅黑" panose="020B0503020204020204" pitchFamily="34" charset="-122"/>
              </a:rPr>
              <a:t>→</a:t>
            </a:r>
            <a:endParaRPr sz="1700" b="1">
              <a:solidFill>
                <a:srgbClr val="64748B"/>
              </a:solidFill>
              <a:latin typeface="微软雅黑" panose="020B0503020204020204" pitchFamily="34" charset="-122"/>
            </a:endParaRPr>
          </a:p>
        </p:txBody>
      </p:sp>
      <p:sp>
        <p:nvSpPr>
          <p:cNvPr id="29" name="Rounded Rectangle 28"/>
          <p:cNvSpPr/>
          <p:nvPr/>
        </p:nvSpPr>
        <p:spPr>
          <a:xfrm>
            <a:off x="9354312" y="4160520"/>
            <a:ext cx="1938528" cy="658368"/>
          </a:xfrm>
          <a:prstGeom prst="roundRect">
            <a:avLst/>
          </a:prstGeom>
          <a:solidFill>
            <a:srgbClr val="7056BE"/>
          </a:solidFill>
          <a:ln>
            <a:noFill/>
          </a:ln>
        </p:spPr>
        <p:style>
          <a:lnRef idx="1">
            <a:schemeClr val="accent1"/>
          </a:lnRef>
          <a:fillRef idx="3">
            <a:schemeClr val="accent1"/>
          </a:fillRef>
          <a:effectRef idx="2">
            <a:schemeClr val="accent1"/>
          </a:effectRef>
          <a:fontRef idx="minor">
            <a:schemeClr val="lt1"/>
          </a:fontRef>
        </p:style>
        <p:txBody>
          <a:bodyPr lIns="54864" tIns="73152" rIns="54864" rtlCol="0" anchor="ctr"/>
          <a:lstStyle/>
          <a:p>
            <a:pPr algn="ctr"/>
            <a:r>
              <a:rPr sz="1050" b="1">
                <a:solidFill>
                  <a:srgbClr val="FFFFFF"/>
                </a:solidFill>
                <a:latin typeface="微软雅黑" panose="020B0503020204020204" pitchFamily="34" charset="-122"/>
              </a:rPr>
              <a:t>可分析数据</a:t>
            </a:r>
            <a:endParaRPr sz="1050" b="1">
              <a:solidFill>
                <a:srgbClr val="FFFFFF"/>
              </a:solidFill>
              <a:latin typeface="微软雅黑" panose="020B0503020204020204" pitchFamily="34" charset="-122"/>
            </a:endParaRPr>
          </a:p>
        </p:txBody>
      </p:sp>
      <p:sp>
        <p:nvSpPr>
          <p:cNvPr id="30" name="TextBox 29"/>
          <p:cNvSpPr txBox="1"/>
          <p:nvPr/>
        </p:nvSpPr>
        <p:spPr>
          <a:xfrm>
            <a:off x="786384" y="5321808"/>
            <a:ext cx="9966960" cy="402336"/>
          </a:xfrm>
          <a:prstGeom prst="rect">
            <a:avLst/>
          </a:prstGeom>
          <a:noFill/>
        </p:spPr>
        <p:txBody>
          <a:bodyPr wrap="none" lIns="36576" rIns="36576">
            <a:spAutoFit/>
          </a:bodyPr>
          <a:lstStyle/>
          <a:p>
            <a:pPr algn="l"/>
            <a:r>
              <a:rPr sz="1300" b="0">
                <a:solidFill>
                  <a:srgbClr val="1E293B"/>
                </a:solidFill>
                <a:latin typeface="微软雅黑" panose="020B0503020204020204" pitchFamily="34" charset="-122"/>
              </a:rPr>
              <a:t>这一阶段保证进入实时分析和机器学习模块的数据是结构化、可信、可比较的行情数据。</a:t>
            </a:r>
            <a:endParaRPr sz="1300" b="0">
              <a:solidFill>
                <a:srgbClr val="1E293B"/>
              </a:solidFill>
              <a:latin typeface="微软雅黑" panose="020B0503020204020204" pitchFamily="34" charset="-122"/>
            </a:endParaRPr>
          </a:p>
        </p:txBody>
      </p:sp>
      <p:sp>
        <p:nvSpPr>
          <p:cNvPr id="31" name="TextBox 30"/>
          <p:cNvSpPr txBox="1"/>
          <p:nvPr/>
        </p:nvSpPr>
        <p:spPr>
          <a:xfrm>
            <a:off x="594360" y="6473952"/>
            <a:ext cx="4114800" cy="182880"/>
          </a:xfrm>
          <a:prstGeom prst="rect">
            <a:avLst/>
          </a:prstGeom>
          <a:noFill/>
        </p:spPr>
        <p:txBody>
          <a:bodyPr wrap="none" lIns="36576" rIns="36576">
            <a:spAutoFit/>
          </a:bodyPr>
          <a:lstStyle/>
          <a:p>
            <a:pPr algn="l"/>
            <a:r>
              <a:rPr sz="850" b="0">
                <a:solidFill>
                  <a:srgbClr val="64748B"/>
                </a:solidFill>
                <a:latin typeface="微软雅黑" panose="020B0503020204020204" pitchFamily="34" charset="-122"/>
              </a:rPr>
              <a:t>数据爬虫与预处理</a:t>
            </a:r>
            <a:endParaRPr sz="850" b="0">
              <a:solidFill>
                <a:srgbClr val="64748B"/>
              </a:solidFill>
              <a:latin typeface="微软雅黑" panose="020B0503020204020204" pitchFamily="34" charset="-122"/>
            </a:endParaRPr>
          </a:p>
        </p:txBody>
      </p:sp>
      <p:sp>
        <p:nvSpPr>
          <p:cNvPr id="32" name="TextBox 31"/>
          <p:cNvSpPr txBox="1"/>
          <p:nvPr/>
        </p:nvSpPr>
        <p:spPr>
          <a:xfrm>
            <a:off x="9784080" y="6473952"/>
            <a:ext cx="1554480" cy="182880"/>
          </a:xfrm>
          <a:prstGeom prst="rect">
            <a:avLst/>
          </a:prstGeom>
          <a:noFill/>
        </p:spPr>
        <p:txBody>
          <a:bodyPr wrap="none" lIns="36576" rIns="36576">
            <a:spAutoFit/>
          </a:bodyPr>
          <a:lstStyle/>
          <a:p>
            <a:pPr algn="r"/>
            <a:r>
              <a:rPr sz="850" b="0">
                <a:solidFill>
                  <a:srgbClr val="64748B"/>
                </a:solidFill>
                <a:latin typeface="微软雅黑" panose="020B0503020204020204" pitchFamily="34" charset="-122"/>
              </a:rPr>
              <a:t>股票实时流分析平台</a:t>
            </a:r>
            <a:endParaRPr sz="850" b="0">
              <a:solidFill>
                <a:srgbClr val="64748B"/>
              </a:solidFill>
              <a:latin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2920" y="256032"/>
            <a:ext cx="8046720" cy="457200"/>
          </a:xfrm>
          <a:prstGeom prst="rect">
            <a:avLst/>
          </a:prstGeom>
          <a:noFill/>
        </p:spPr>
        <p:txBody>
          <a:bodyPr wrap="square">
            <a:normAutofit/>
          </a:bodyPr>
          <a:lstStyle/>
          <a:p>
            <a:r>
              <a:rPr sz="2500" b="1">
                <a:solidFill>
                  <a:srgbClr val="12263F"/>
                </a:solidFill>
                <a:latin typeface="微软雅黑" panose="020B0503020204020204" pitchFamily="34" charset="-122"/>
              </a:rPr>
              <a:t>数据爬虫模块：从行情源到标准事件</a:t>
            </a:r>
            <a:endParaRPr sz="2500" b="1">
              <a:solidFill>
                <a:srgbClr val="12263F"/>
              </a:solidFill>
              <a:latin typeface="微软雅黑" panose="020B0503020204020204" pitchFamily="34" charset="-122"/>
            </a:endParaRPr>
          </a:p>
        </p:txBody>
      </p:sp>
      <p:sp>
        <p:nvSpPr>
          <p:cNvPr id="3" name="TextBox 2"/>
          <p:cNvSpPr txBox="1"/>
          <p:nvPr/>
        </p:nvSpPr>
        <p:spPr>
          <a:xfrm>
            <a:off x="530352" y="749808"/>
            <a:ext cx="8412480" cy="310896"/>
          </a:xfrm>
          <a:prstGeom prst="rect">
            <a:avLst/>
          </a:prstGeom>
          <a:noFill/>
        </p:spPr>
        <p:txBody>
          <a:bodyPr wrap="square">
            <a:normAutofit/>
          </a:bodyPr>
          <a:lstStyle/>
          <a:p>
            <a:r>
              <a:rPr sz="1150" b="0">
                <a:solidFill>
                  <a:srgbClr val="586069"/>
                </a:solidFill>
                <a:latin typeface="微软雅黑" panose="020B0503020204020204" pitchFamily="34" charset="-122"/>
              </a:rPr>
              <a:t>在进入 Kafka 和 Spark 之前，先完成股票池读取、多源采集、字段解析和统一事件封装</a:t>
            </a:r>
            <a:endParaRPr sz="1150" b="0">
              <a:solidFill>
                <a:srgbClr val="586069"/>
              </a:solidFill>
              <a:latin typeface="微软雅黑" panose="020B0503020204020204" pitchFamily="34" charset="-122"/>
            </a:endParaRPr>
          </a:p>
        </p:txBody>
      </p:sp>
      <p:sp>
        <p:nvSpPr>
          <p:cNvPr id="4" name="Rectangle 3"/>
          <p:cNvSpPr/>
          <p:nvPr/>
        </p:nvSpPr>
        <p:spPr>
          <a:xfrm>
            <a:off x="530352" y="1078992"/>
            <a:ext cx="1417320" cy="36576"/>
          </a:xfrm>
          <a:prstGeom prst="rect">
            <a:avLst/>
          </a:prstGeom>
          <a:solidFill>
            <a:srgbClr val="1C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9808" y="1325880"/>
            <a:ext cx="1325880" cy="475488"/>
          </a:xfrm>
          <a:prstGeom prst="roundRect">
            <a:avLst/>
          </a:prstGeom>
          <a:solidFill>
            <a:srgbClr val="2A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股票池</a:t>
            </a:r>
            <a:endParaRPr sz="1050" b="1">
              <a:solidFill>
                <a:srgbClr val="FFFFFF"/>
              </a:solidFill>
              <a:latin typeface="微软雅黑" panose="020B0503020204020204" pitchFamily="34" charset="-122"/>
            </a:endParaRPr>
          </a:p>
        </p:txBody>
      </p:sp>
      <p:sp>
        <p:nvSpPr>
          <p:cNvPr id="7" name="TextBox 6"/>
          <p:cNvSpPr txBox="1"/>
          <p:nvPr/>
        </p:nvSpPr>
        <p:spPr>
          <a:xfrm>
            <a:off x="2093976" y="1444752"/>
            <a:ext cx="182880" cy="201168"/>
          </a:xfrm>
          <a:prstGeom prst="rect">
            <a:avLst/>
          </a:prstGeom>
          <a:noFill/>
        </p:spPr>
        <p:txBody>
          <a:bodyPr wrap="square">
            <a:normAutofit/>
          </a:bodyPr>
          <a:lstStyle/>
          <a:p>
            <a:pPr algn="ctr"/>
            <a:r>
              <a:rPr sz="1600" b="1">
                <a:solidFill>
                  <a:srgbClr val="586069"/>
                </a:solidFill>
                <a:latin typeface="微软雅黑" panose="020B0503020204020204" pitchFamily="34" charset="-122"/>
              </a:rPr>
              <a:t>→</a:t>
            </a:r>
            <a:endParaRPr sz="1600" b="1">
              <a:solidFill>
                <a:srgbClr val="586069"/>
              </a:solidFill>
              <a:latin typeface="微软雅黑" panose="020B0503020204020204" pitchFamily="34" charset="-122"/>
            </a:endParaRPr>
          </a:p>
        </p:txBody>
      </p:sp>
      <p:sp>
        <p:nvSpPr>
          <p:cNvPr id="8" name="Rounded Rectangle 7"/>
          <p:cNvSpPr/>
          <p:nvPr/>
        </p:nvSpPr>
        <p:spPr>
          <a:xfrm>
            <a:off x="2276856" y="1325880"/>
            <a:ext cx="1325880" cy="475488"/>
          </a:xfrm>
          <a:prstGeom prst="roundRect">
            <a:avLst/>
          </a:prstGeom>
          <a:solidFill>
            <a:srgbClr val="1C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并发请求</a:t>
            </a:r>
            <a:endParaRPr sz="1050" b="1">
              <a:solidFill>
                <a:srgbClr val="FFFFFF"/>
              </a:solidFill>
              <a:latin typeface="微软雅黑" panose="020B0503020204020204" pitchFamily="34" charset="-122"/>
            </a:endParaRPr>
          </a:p>
        </p:txBody>
      </p:sp>
      <p:sp>
        <p:nvSpPr>
          <p:cNvPr id="10" name="TextBox 9"/>
          <p:cNvSpPr txBox="1"/>
          <p:nvPr/>
        </p:nvSpPr>
        <p:spPr>
          <a:xfrm>
            <a:off x="3621024" y="1444752"/>
            <a:ext cx="182880" cy="201168"/>
          </a:xfrm>
          <a:prstGeom prst="rect">
            <a:avLst/>
          </a:prstGeom>
          <a:noFill/>
        </p:spPr>
        <p:txBody>
          <a:bodyPr wrap="square">
            <a:normAutofit/>
          </a:bodyPr>
          <a:lstStyle/>
          <a:p>
            <a:pPr algn="ctr"/>
            <a:r>
              <a:rPr sz="1600" b="1">
                <a:solidFill>
                  <a:srgbClr val="586069"/>
                </a:solidFill>
                <a:latin typeface="微软雅黑" panose="020B0503020204020204" pitchFamily="34" charset="-122"/>
              </a:rPr>
              <a:t>→</a:t>
            </a:r>
            <a:endParaRPr sz="1600" b="1">
              <a:solidFill>
                <a:srgbClr val="586069"/>
              </a:solidFill>
              <a:latin typeface="微软雅黑" panose="020B0503020204020204" pitchFamily="34" charset="-122"/>
            </a:endParaRPr>
          </a:p>
        </p:txBody>
      </p:sp>
      <p:sp>
        <p:nvSpPr>
          <p:cNvPr id="11" name="Rounded Rectangle 10"/>
          <p:cNvSpPr/>
          <p:nvPr/>
        </p:nvSpPr>
        <p:spPr>
          <a:xfrm>
            <a:off x="3803904" y="1325880"/>
            <a:ext cx="1325880" cy="475488"/>
          </a:xfrm>
          <a:prstGeom prst="roundRect">
            <a:avLst/>
          </a:prstGeom>
          <a:solidFill>
            <a:srgbClr val="37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58768"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多源兜底</a:t>
            </a:r>
            <a:endParaRPr sz="1050" b="1">
              <a:solidFill>
                <a:srgbClr val="FFFFFF"/>
              </a:solidFill>
              <a:latin typeface="微软雅黑" panose="020B0503020204020204" pitchFamily="34" charset="-122"/>
            </a:endParaRPr>
          </a:p>
        </p:txBody>
      </p:sp>
      <p:sp>
        <p:nvSpPr>
          <p:cNvPr id="13" name="TextBox 12"/>
          <p:cNvSpPr txBox="1"/>
          <p:nvPr/>
        </p:nvSpPr>
        <p:spPr>
          <a:xfrm>
            <a:off x="5148072" y="1444752"/>
            <a:ext cx="182880" cy="201168"/>
          </a:xfrm>
          <a:prstGeom prst="rect">
            <a:avLst/>
          </a:prstGeom>
          <a:noFill/>
        </p:spPr>
        <p:txBody>
          <a:bodyPr wrap="square">
            <a:normAutofit/>
          </a:bodyPr>
          <a:lstStyle/>
          <a:p>
            <a:pPr algn="ctr"/>
            <a:r>
              <a:rPr sz="1600" b="1">
                <a:solidFill>
                  <a:srgbClr val="586069"/>
                </a:solidFill>
                <a:latin typeface="微软雅黑" panose="020B0503020204020204" pitchFamily="34" charset="-122"/>
              </a:rPr>
              <a:t>→</a:t>
            </a:r>
            <a:endParaRPr sz="1600" b="1">
              <a:solidFill>
                <a:srgbClr val="586069"/>
              </a:solidFill>
              <a:latin typeface="微软雅黑" panose="020B0503020204020204" pitchFamily="34" charset="-122"/>
            </a:endParaRPr>
          </a:p>
        </p:txBody>
      </p:sp>
      <p:sp>
        <p:nvSpPr>
          <p:cNvPr id="14" name="Rounded Rectangle 13"/>
          <p:cNvSpPr/>
          <p:nvPr/>
        </p:nvSpPr>
        <p:spPr>
          <a:xfrm>
            <a:off x="5330952" y="1325880"/>
            <a:ext cx="1325880" cy="475488"/>
          </a:xfrm>
          <a:prstGeom prst="roundRect">
            <a:avLst/>
          </a:prstGeom>
          <a:solidFill>
            <a:srgbClr val="E88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85816"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标准化</a:t>
            </a:r>
            <a:endParaRPr sz="1050" b="1">
              <a:solidFill>
                <a:srgbClr val="FFFFFF"/>
              </a:solidFill>
              <a:latin typeface="微软雅黑" panose="020B0503020204020204" pitchFamily="34" charset="-122"/>
            </a:endParaRPr>
          </a:p>
        </p:txBody>
      </p:sp>
      <p:sp>
        <p:nvSpPr>
          <p:cNvPr id="16" name="TextBox 15"/>
          <p:cNvSpPr txBox="1"/>
          <p:nvPr/>
        </p:nvSpPr>
        <p:spPr>
          <a:xfrm>
            <a:off x="6675120" y="1444752"/>
            <a:ext cx="182880" cy="201168"/>
          </a:xfrm>
          <a:prstGeom prst="rect">
            <a:avLst/>
          </a:prstGeom>
          <a:noFill/>
        </p:spPr>
        <p:txBody>
          <a:bodyPr wrap="square">
            <a:normAutofit/>
          </a:bodyPr>
          <a:lstStyle/>
          <a:p>
            <a:pPr algn="ctr"/>
            <a:r>
              <a:rPr sz="1600" b="1">
                <a:solidFill>
                  <a:srgbClr val="586069"/>
                </a:solidFill>
                <a:latin typeface="微软雅黑" panose="020B0503020204020204" pitchFamily="34" charset="-122"/>
              </a:rPr>
              <a:t>→</a:t>
            </a:r>
            <a:endParaRPr sz="1600" b="1">
              <a:solidFill>
                <a:srgbClr val="586069"/>
              </a:solidFill>
              <a:latin typeface="微软雅黑" panose="020B0503020204020204" pitchFamily="34" charset="-122"/>
            </a:endParaRPr>
          </a:p>
        </p:txBody>
      </p:sp>
      <p:sp>
        <p:nvSpPr>
          <p:cNvPr id="17" name="Rounded Rectangle 16"/>
          <p:cNvSpPr/>
          <p:nvPr/>
        </p:nvSpPr>
        <p:spPr>
          <a:xfrm>
            <a:off x="6858000" y="1325880"/>
            <a:ext cx="1325880" cy="475488"/>
          </a:xfrm>
          <a:prstGeom prst="roundRect">
            <a:avLst/>
          </a:prstGeom>
          <a:solidFill>
            <a:srgbClr val="2A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4"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有效性校验</a:t>
            </a:r>
            <a:endParaRPr sz="1050" b="1">
              <a:solidFill>
                <a:srgbClr val="FFFFFF"/>
              </a:solidFill>
              <a:latin typeface="微软雅黑" panose="020B0503020204020204" pitchFamily="34" charset="-122"/>
            </a:endParaRPr>
          </a:p>
        </p:txBody>
      </p:sp>
      <p:sp>
        <p:nvSpPr>
          <p:cNvPr id="19" name="TextBox 18"/>
          <p:cNvSpPr txBox="1"/>
          <p:nvPr/>
        </p:nvSpPr>
        <p:spPr>
          <a:xfrm>
            <a:off x="8202168" y="1444752"/>
            <a:ext cx="182880" cy="201168"/>
          </a:xfrm>
          <a:prstGeom prst="rect">
            <a:avLst/>
          </a:prstGeom>
          <a:noFill/>
        </p:spPr>
        <p:txBody>
          <a:bodyPr wrap="square">
            <a:normAutofit/>
          </a:bodyPr>
          <a:lstStyle/>
          <a:p>
            <a:pPr algn="ctr"/>
            <a:r>
              <a:rPr sz="1600" b="1">
                <a:solidFill>
                  <a:srgbClr val="586069"/>
                </a:solidFill>
                <a:latin typeface="微软雅黑" panose="020B0503020204020204" pitchFamily="34" charset="-122"/>
              </a:rPr>
              <a:t>→</a:t>
            </a:r>
            <a:endParaRPr sz="1600" b="1">
              <a:solidFill>
                <a:srgbClr val="586069"/>
              </a:solidFill>
              <a:latin typeface="微软雅黑" panose="020B0503020204020204" pitchFamily="34" charset="-122"/>
            </a:endParaRPr>
          </a:p>
        </p:txBody>
      </p:sp>
      <p:sp>
        <p:nvSpPr>
          <p:cNvPr id="20" name="Rounded Rectangle 19"/>
          <p:cNvSpPr/>
          <p:nvPr/>
        </p:nvSpPr>
        <p:spPr>
          <a:xfrm>
            <a:off x="8385048" y="1325880"/>
            <a:ext cx="1325880" cy="475488"/>
          </a:xfrm>
          <a:prstGeom prst="roundRect">
            <a:avLst/>
          </a:prstGeom>
          <a:solidFill>
            <a:srgbClr val="37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9912" y="1435608"/>
            <a:ext cx="1216152" cy="201168"/>
          </a:xfrm>
          <a:prstGeom prst="rect">
            <a:avLst/>
          </a:prstGeom>
          <a:noFill/>
        </p:spPr>
        <p:txBody>
          <a:bodyPr wrap="square">
            <a:normAutofit/>
          </a:bodyPr>
          <a:lstStyle/>
          <a:p>
            <a:pPr algn="ctr"/>
            <a:r>
              <a:rPr sz="1050" b="1">
                <a:solidFill>
                  <a:srgbClr val="FFFFFF"/>
                </a:solidFill>
                <a:latin typeface="微软雅黑" panose="020B0503020204020204" pitchFamily="34" charset="-122"/>
              </a:rPr>
              <a:t>写入 Kafka</a:t>
            </a:r>
            <a:endParaRPr sz="1050" b="1">
              <a:solidFill>
                <a:srgbClr val="FFFFFF"/>
              </a:solidFill>
              <a:latin typeface="微软雅黑" panose="020B0503020204020204" pitchFamily="34" charset="-122"/>
            </a:endParaRPr>
          </a:p>
        </p:txBody>
      </p:sp>
      <p:sp>
        <p:nvSpPr>
          <p:cNvPr id="22" name="Rounded Rectangle 21"/>
          <p:cNvSpPr/>
          <p:nvPr/>
        </p:nvSpPr>
        <p:spPr>
          <a:xfrm>
            <a:off x="566928" y="2029968"/>
            <a:ext cx="3401568" cy="1481328"/>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2029968"/>
            <a:ext cx="73152" cy="1481328"/>
          </a:xfrm>
          <a:prstGeom prst="rect">
            <a:avLst/>
          </a:prstGeom>
          <a:solidFill>
            <a:srgbClr val="2A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2157984"/>
            <a:ext cx="3081528" cy="228600"/>
          </a:xfrm>
          <a:prstGeom prst="rect">
            <a:avLst/>
          </a:prstGeom>
          <a:noFill/>
        </p:spPr>
        <p:txBody>
          <a:bodyPr wrap="square">
            <a:normAutofit/>
          </a:bodyPr>
          <a:lstStyle/>
          <a:p>
            <a:r>
              <a:rPr sz="1300" b="1">
                <a:solidFill>
                  <a:srgbClr val="12263F"/>
                </a:solidFill>
                <a:latin typeface="微软雅黑" panose="020B0503020204020204" pitchFamily="34" charset="-122"/>
              </a:rPr>
              <a:t>采集设计</a:t>
            </a:r>
            <a:endParaRPr sz="1300" b="1">
              <a:solidFill>
                <a:srgbClr val="12263F"/>
              </a:solidFill>
              <a:latin typeface="微软雅黑" panose="020B0503020204020204" pitchFamily="34" charset="-122"/>
            </a:endParaRPr>
          </a:p>
        </p:txBody>
      </p:sp>
      <p:sp>
        <p:nvSpPr>
          <p:cNvPr id="25" name="TextBox 24"/>
          <p:cNvSpPr txBox="1"/>
          <p:nvPr/>
        </p:nvSpPr>
        <p:spPr>
          <a:xfrm>
            <a:off x="786384" y="2459736"/>
            <a:ext cx="3054096" cy="950976"/>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load_symbols() 读取监控股票池，避免无目标抓取。</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ThreadPoolExecutor 并发请求，缩短一轮行情采集耗时。</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fetch_quote_with_fallback() 按新浪、腾讯、东方财富顺序兜底。</a:t>
            </a:r>
            <a:endParaRPr sz="1050">
              <a:solidFill>
                <a:srgbClr val="1C222A"/>
              </a:solidFill>
              <a:latin typeface="微软雅黑" panose="020B0503020204020204" pitchFamily="34" charset="-122"/>
            </a:endParaRPr>
          </a:p>
        </p:txBody>
      </p:sp>
      <p:sp>
        <p:nvSpPr>
          <p:cNvPr id="26" name="Rounded Rectangle 25"/>
          <p:cNvSpPr/>
          <p:nvPr/>
        </p:nvSpPr>
        <p:spPr>
          <a:xfrm>
            <a:off x="566928" y="3703320"/>
            <a:ext cx="3401568" cy="1481328"/>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3703320"/>
            <a:ext cx="73152" cy="1481328"/>
          </a:xfrm>
          <a:prstGeom prst="rect">
            <a:avLst/>
          </a:prstGeom>
          <a:solidFill>
            <a:srgbClr val="1C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831336"/>
            <a:ext cx="3081528" cy="228600"/>
          </a:xfrm>
          <a:prstGeom prst="rect">
            <a:avLst/>
          </a:prstGeom>
          <a:noFill/>
        </p:spPr>
        <p:txBody>
          <a:bodyPr wrap="square">
            <a:normAutofit/>
          </a:bodyPr>
          <a:lstStyle/>
          <a:p>
            <a:r>
              <a:rPr sz="1300" b="1">
                <a:solidFill>
                  <a:srgbClr val="12263F"/>
                </a:solidFill>
                <a:latin typeface="微软雅黑" panose="020B0503020204020204" pitchFamily="34" charset="-122"/>
              </a:rPr>
              <a:t>接口解析</a:t>
            </a:r>
            <a:endParaRPr sz="1300" b="1">
              <a:solidFill>
                <a:srgbClr val="12263F"/>
              </a:solidFill>
              <a:latin typeface="微软雅黑" panose="020B0503020204020204" pitchFamily="34" charset="-122"/>
            </a:endParaRPr>
          </a:p>
        </p:txBody>
      </p:sp>
      <p:sp>
        <p:nvSpPr>
          <p:cNvPr id="29" name="TextBox 28"/>
          <p:cNvSpPr txBox="1"/>
          <p:nvPr/>
        </p:nvSpPr>
        <p:spPr>
          <a:xfrm>
            <a:off x="786384" y="4133088"/>
            <a:ext cx="3054096" cy="950976"/>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新浪返回 JavaScript 字符串，使用正则提取 payload。</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腾讯返回 ~ 分隔字段，按下标解析价格和成交量。</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东方财富返回 JSON，使用 eastmoney_price() 处理缩放价格。</a:t>
            </a:r>
            <a:endParaRPr sz="1050">
              <a:solidFill>
                <a:srgbClr val="1C222A"/>
              </a:solidFill>
              <a:latin typeface="微软雅黑" panose="020B0503020204020204" pitchFamily="34" charset="-122"/>
            </a:endParaRPr>
          </a:p>
        </p:txBody>
      </p:sp>
      <p:sp>
        <p:nvSpPr>
          <p:cNvPr id="30" name="Rounded Rectangle 29"/>
          <p:cNvSpPr/>
          <p:nvPr/>
        </p:nvSpPr>
        <p:spPr>
          <a:xfrm>
            <a:off x="4251960" y="2029968"/>
            <a:ext cx="4526280" cy="2011680"/>
          </a:xfrm>
          <a:prstGeom prst="roundRect">
            <a:avLst/>
          </a:prstGeom>
          <a:solidFill>
            <a:srgbClr val="1E293B"/>
          </a:solidFill>
          <a:ln>
            <a:solidFill>
              <a:srgbClr val="2D3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98264" y="2148840"/>
            <a:ext cx="4251960" cy="1810512"/>
          </a:xfrm>
          <a:prstGeom prst="rect">
            <a:avLst/>
          </a:prstGeom>
          <a:noFill/>
        </p:spPr>
        <p:txBody>
          <a:bodyPr wrap="square">
            <a:normAutofit/>
          </a:bodyPr>
          <a:lstStyle/>
          <a:p>
            <a:r>
              <a:rPr sz="920">
                <a:solidFill>
                  <a:srgbClr val="E2E8F0"/>
                </a:solidFill>
                <a:latin typeface="Consolas" panose="020B0609020204030204"/>
              </a:rPr>
              <a:t>quotes = [q for q in fetch_quotes()</a:t>
            </a:r>
            <a:br>
              <a:rPr sz="920">
                <a:solidFill>
                  <a:srgbClr val="E2E8F0"/>
                </a:solidFill>
                <a:latin typeface="Consolas" panose="020B0609020204030204"/>
              </a:rPr>
            </a:br>
            <a:r>
              <a:rPr sz="920">
                <a:solidFill>
                  <a:srgbClr val="E2E8F0"/>
                </a:solidFill>
                <a:latin typeface="Consolas" panose="020B0609020204030204"/>
              </a:rPr>
              <a:t>          if is_valid_tick(q)]</a:t>
            </a:r>
            <a:br>
              <a:rPr sz="920">
                <a:solidFill>
                  <a:srgbClr val="E2E8F0"/>
                </a:solidFill>
                <a:latin typeface="Consolas" panose="020B0609020204030204"/>
              </a:rPr>
            </a:br>
            <a:br>
              <a:rPr sz="920">
                <a:solidFill>
                  <a:srgbClr val="E2E8F0"/>
                </a:solidFill>
                <a:latin typeface="Consolas" panose="020B0609020204030204"/>
              </a:rPr>
            </a:br>
            <a:r>
              <a:rPr sz="920">
                <a:solidFill>
                  <a:srgbClr val="E2E8F0"/>
                </a:solidFill>
                <a:latin typeface="Consolas" panose="020B0609020204030204"/>
              </a:rPr>
              <a:t>for quote in quotes:</a:t>
            </a:r>
            <a:br>
              <a:rPr sz="920">
                <a:solidFill>
                  <a:srgbClr val="E2E8F0"/>
                </a:solidFill>
                <a:latin typeface="Consolas" panose="020B0609020204030204"/>
              </a:rPr>
            </a:br>
            <a:r>
              <a:rPr sz="920">
                <a:solidFill>
                  <a:srgbClr val="E2E8F0"/>
                </a:solidFill>
                <a:latin typeface="Consolas" panose="020B0609020204030204"/>
              </a:rPr>
              <a:t>    producer.send(</a:t>
            </a:r>
            <a:br>
              <a:rPr sz="920">
                <a:solidFill>
                  <a:srgbClr val="E2E8F0"/>
                </a:solidFill>
                <a:latin typeface="Consolas" panose="020B0609020204030204"/>
              </a:rPr>
            </a:br>
            <a:r>
              <a:rPr sz="920">
                <a:solidFill>
                  <a:srgbClr val="E2E8F0"/>
                </a:solidFill>
                <a:latin typeface="Consolas" panose="020B0609020204030204"/>
              </a:rPr>
              <a:t>        settings.kafka_topic,</a:t>
            </a:r>
            <a:br>
              <a:rPr sz="920">
                <a:solidFill>
                  <a:srgbClr val="E2E8F0"/>
                </a:solidFill>
                <a:latin typeface="Consolas" panose="020B0609020204030204"/>
              </a:rPr>
            </a:br>
            <a:r>
              <a:rPr sz="920">
                <a:solidFill>
                  <a:srgbClr val="E2E8F0"/>
                </a:solidFill>
                <a:latin typeface="Consolas" panose="020B0609020204030204"/>
              </a:rPr>
              <a:t>        key=quote['symbol'],</a:t>
            </a:r>
            <a:br>
              <a:rPr sz="920">
                <a:solidFill>
                  <a:srgbClr val="E2E8F0"/>
                </a:solidFill>
                <a:latin typeface="Consolas" panose="020B0609020204030204"/>
              </a:rPr>
            </a:br>
            <a:r>
              <a:rPr sz="920">
                <a:solidFill>
                  <a:srgbClr val="E2E8F0"/>
                </a:solidFill>
                <a:latin typeface="Consolas" panose="020B0609020204030204"/>
              </a:rPr>
              <a:t>        value=quote</a:t>
            </a:r>
            <a:br>
              <a:rPr sz="920">
                <a:solidFill>
                  <a:srgbClr val="E2E8F0"/>
                </a:solidFill>
                <a:latin typeface="Consolas" panose="020B0609020204030204"/>
              </a:rPr>
            </a:br>
            <a:r>
              <a:rPr sz="920">
                <a:solidFill>
                  <a:srgbClr val="E2E8F0"/>
                </a:solidFill>
                <a:latin typeface="Consolas" panose="020B0609020204030204"/>
              </a:rPr>
              <a:t>    )</a:t>
            </a:r>
            <a:br>
              <a:rPr sz="920">
                <a:solidFill>
                  <a:srgbClr val="E2E8F0"/>
                </a:solidFill>
                <a:latin typeface="Consolas" panose="020B0609020204030204"/>
              </a:rPr>
            </a:br>
            <a:r>
              <a:rPr sz="920">
                <a:solidFill>
                  <a:srgbClr val="E2E8F0"/>
                </a:solidFill>
                <a:latin typeface="Consolas" panose="020B0609020204030204"/>
              </a:rPr>
              <a:t>producer.flush()</a:t>
            </a:r>
            <a:endParaRPr sz="920">
              <a:solidFill>
                <a:srgbClr val="E2E8F0"/>
              </a:solidFill>
              <a:latin typeface="Consolas" panose="020B0609020204030204"/>
            </a:endParaRPr>
          </a:p>
        </p:txBody>
      </p:sp>
      <p:sp>
        <p:nvSpPr>
          <p:cNvPr id="32" name="Rounded Rectangle 31"/>
          <p:cNvSpPr/>
          <p:nvPr/>
        </p:nvSpPr>
        <p:spPr>
          <a:xfrm>
            <a:off x="4251960" y="4224528"/>
            <a:ext cx="4526280" cy="9601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51960" y="4224528"/>
            <a:ext cx="73152" cy="960120"/>
          </a:xfrm>
          <a:prstGeom prst="rect">
            <a:avLst/>
          </a:prstGeom>
          <a:solidFill>
            <a:srgbClr val="37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53128" y="4352544"/>
            <a:ext cx="4206240" cy="228600"/>
          </a:xfrm>
          <a:prstGeom prst="rect">
            <a:avLst/>
          </a:prstGeom>
          <a:noFill/>
        </p:spPr>
        <p:txBody>
          <a:bodyPr wrap="square">
            <a:normAutofit/>
          </a:bodyPr>
          <a:lstStyle/>
          <a:p>
            <a:r>
              <a:rPr sz="1300" b="1">
                <a:solidFill>
                  <a:srgbClr val="12263F"/>
                </a:solidFill>
                <a:latin typeface="微软雅黑" panose="020B0503020204020204" pitchFamily="34" charset="-122"/>
              </a:rPr>
              <a:t>汇报讲解重点</a:t>
            </a:r>
            <a:endParaRPr sz="1300" b="1">
              <a:solidFill>
                <a:srgbClr val="12263F"/>
              </a:solidFill>
              <a:latin typeface="微软雅黑" panose="020B0503020204020204" pitchFamily="34" charset="-122"/>
            </a:endParaRPr>
          </a:p>
        </p:txBody>
      </p:sp>
      <p:sp>
        <p:nvSpPr>
          <p:cNvPr id="35" name="TextBox 34"/>
          <p:cNvSpPr txBox="1"/>
          <p:nvPr/>
        </p:nvSpPr>
        <p:spPr>
          <a:xfrm>
            <a:off x="4471416" y="4654296"/>
            <a:ext cx="4178808" cy="429768"/>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爬虫端不直接写数据库，而是输出统一 JSON 事件。</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Kafka key 使用股票代码，便于后续按个股追踪与排查。</a:t>
            </a:r>
            <a:endParaRPr sz="1050">
              <a:solidFill>
                <a:srgbClr val="1C222A"/>
              </a:solidFill>
              <a:latin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02920" y="256032"/>
            <a:ext cx="8046720" cy="457200"/>
          </a:xfrm>
          <a:prstGeom prst="rect">
            <a:avLst/>
          </a:prstGeom>
          <a:noFill/>
        </p:spPr>
        <p:txBody>
          <a:bodyPr wrap="square">
            <a:normAutofit/>
          </a:bodyPr>
          <a:lstStyle/>
          <a:p>
            <a:r>
              <a:rPr sz="2500" b="1">
                <a:solidFill>
                  <a:srgbClr val="12263F"/>
                </a:solidFill>
                <a:latin typeface="微软雅黑" panose="020B0503020204020204" pitchFamily="34" charset="-122"/>
              </a:rPr>
              <a:t>数据预处理模块：清洗、去重与特征准备</a:t>
            </a:r>
            <a:endParaRPr sz="2500" b="1">
              <a:solidFill>
                <a:srgbClr val="12263F"/>
              </a:solidFill>
              <a:latin typeface="微软雅黑" panose="020B0503020204020204" pitchFamily="34" charset="-122"/>
            </a:endParaRPr>
          </a:p>
        </p:txBody>
      </p:sp>
      <p:sp>
        <p:nvSpPr>
          <p:cNvPr id="3" name="TextBox 2"/>
          <p:cNvSpPr txBox="1"/>
          <p:nvPr/>
        </p:nvSpPr>
        <p:spPr>
          <a:xfrm>
            <a:off x="530352" y="749808"/>
            <a:ext cx="8412480" cy="310896"/>
          </a:xfrm>
          <a:prstGeom prst="rect">
            <a:avLst/>
          </a:prstGeom>
          <a:noFill/>
        </p:spPr>
        <p:txBody>
          <a:bodyPr wrap="square">
            <a:normAutofit/>
          </a:bodyPr>
          <a:lstStyle/>
          <a:p>
            <a:r>
              <a:rPr sz="1150" b="0">
                <a:solidFill>
                  <a:srgbClr val="586069"/>
                </a:solidFill>
                <a:latin typeface="微软雅黑" panose="020B0503020204020204" pitchFamily="34" charset="-122"/>
              </a:rPr>
              <a:t>预处理负责把原始行情变成实时分析和机器学习都能使用的高质量数据</a:t>
            </a:r>
            <a:endParaRPr sz="1150" b="0">
              <a:solidFill>
                <a:srgbClr val="586069"/>
              </a:solidFill>
              <a:latin typeface="微软雅黑" panose="020B0503020204020204" pitchFamily="34" charset="-122"/>
            </a:endParaRPr>
          </a:p>
        </p:txBody>
      </p:sp>
      <p:sp>
        <p:nvSpPr>
          <p:cNvPr id="4" name="Rectangle 3"/>
          <p:cNvSpPr/>
          <p:nvPr/>
        </p:nvSpPr>
        <p:spPr>
          <a:xfrm>
            <a:off x="530352" y="1078992"/>
            <a:ext cx="1417320" cy="36576"/>
          </a:xfrm>
          <a:prstGeom prst="rect">
            <a:avLst/>
          </a:prstGeom>
          <a:solidFill>
            <a:srgbClr val="1C9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261872"/>
            <a:ext cx="25146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261872"/>
            <a:ext cx="73152" cy="1417320"/>
          </a:xfrm>
          <a:prstGeom prst="rect">
            <a:avLst/>
          </a:prstGeom>
          <a:solidFill>
            <a:srgbClr val="2A69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389888"/>
            <a:ext cx="2194560" cy="228600"/>
          </a:xfrm>
          <a:prstGeom prst="rect">
            <a:avLst/>
          </a:prstGeom>
          <a:noFill/>
        </p:spPr>
        <p:txBody>
          <a:bodyPr wrap="square">
            <a:normAutofit/>
          </a:bodyPr>
          <a:lstStyle/>
          <a:p>
            <a:r>
              <a:rPr sz="1300" b="1">
                <a:solidFill>
                  <a:srgbClr val="12263F"/>
                </a:solidFill>
                <a:latin typeface="微软雅黑" panose="020B0503020204020204" pitchFamily="34" charset="-122"/>
              </a:rPr>
              <a:t>缺失与类型处理</a:t>
            </a:r>
            <a:endParaRPr sz="1300" b="1">
              <a:solidFill>
                <a:srgbClr val="12263F"/>
              </a:solidFill>
              <a:latin typeface="微软雅黑" panose="020B0503020204020204" pitchFamily="34" charset="-122"/>
            </a:endParaRPr>
          </a:p>
        </p:txBody>
      </p:sp>
      <p:sp>
        <p:nvSpPr>
          <p:cNvPr id="8" name="TextBox 7"/>
          <p:cNvSpPr txBox="1"/>
          <p:nvPr/>
        </p:nvSpPr>
        <p:spPr>
          <a:xfrm>
            <a:off x="786384" y="1691640"/>
            <a:ext cx="2167128" cy="886968"/>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safe_float / safe_int 处理空值、--、非法字符串。</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价格、成交量、成交额统一转换为数值字段。</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滚动指标产生的 NaN / inf 统一填充或裁剪。</a:t>
            </a:r>
            <a:endParaRPr sz="1050">
              <a:solidFill>
                <a:srgbClr val="1C222A"/>
              </a:solidFill>
              <a:latin typeface="微软雅黑" panose="020B0503020204020204" pitchFamily="34" charset="-122"/>
            </a:endParaRPr>
          </a:p>
        </p:txBody>
      </p:sp>
      <p:sp>
        <p:nvSpPr>
          <p:cNvPr id="9" name="Rounded Rectangle 8"/>
          <p:cNvSpPr/>
          <p:nvPr/>
        </p:nvSpPr>
        <p:spPr>
          <a:xfrm>
            <a:off x="3310128" y="1261872"/>
            <a:ext cx="25146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128" y="1261872"/>
            <a:ext cx="73152" cy="1417320"/>
          </a:xfrm>
          <a:prstGeom prst="rect">
            <a:avLst/>
          </a:prstGeom>
          <a:solidFill>
            <a:srgbClr val="E88A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1389888"/>
            <a:ext cx="2194560" cy="228600"/>
          </a:xfrm>
          <a:prstGeom prst="rect">
            <a:avLst/>
          </a:prstGeom>
          <a:noFill/>
        </p:spPr>
        <p:txBody>
          <a:bodyPr wrap="square">
            <a:normAutofit/>
          </a:bodyPr>
          <a:lstStyle/>
          <a:p>
            <a:r>
              <a:rPr sz="1300" b="1">
                <a:solidFill>
                  <a:srgbClr val="12263F"/>
                </a:solidFill>
                <a:latin typeface="微软雅黑" panose="020B0503020204020204" pitchFamily="34" charset="-122"/>
              </a:rPr>
              <a:t>异常数据过滤</a:t>
            </a:r>
            <a:endParaRPr sz="1300" b="1">
              <a:solidFill>
                <a:srgbClr val="12263F"/>
              </a:solidFill>
              <a:latin typeface="微软雅黑" panose="020B0503020204020204" pitchFamily="34" charset="-122"/>
            </a:endParaRPr>
          </a:p>
        </p:txBody>
      </p:sp>
      <p:sp>
        <p:nvSpPr>
          <p:cNvPr id="12" name="TextBox 11"/>
          <p:cNvSpPr txBox="1"/>
          <p:nvPr/>
        </p:nvSpPr>
        <p:spPr>
          <a:xfrm>
            <a:off x="3529584" y="1691640"/>
            <a:ext cx="2167128" cy="886968"/>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last_price &gt; 0，volume &gt; 0。</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A 股限制异常涨跌幅，港股允许更大波动。</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无效行情不进入 Kafka / Spark 后续链路。</a:t>
            </a:r>
            <a:endParaRPr sz="1050">
              <a:solidFill>
                <a:srgbClr val="1C222A"/>
              </a:solidFill>
              <a:latin typeface="微软雅黑" panose="020B0503020204020204" pitchFamily="34" charset="-122"/>
            </a:endParaRPr>
          </a:p>
        </p:txBody>
      </p:sp>
      <p:sp>
        <p:nvSpPr>
          <p:cNvPr id="13" name="Rounded Rectangle 12"/>
          <p:cNvSpPr/>
          <p:nvPr/>
        </p:nvSpPr>
        <p:spPr>
          <a:xfrm>
            <a:off x="6053328" y="1261872"/>
            <a:ext cx="2514600" cy="1417320"/>
          </a:xfrm>
          <a:prstGeom prst="roundRect">
            <a:avLst/>
          </a:prstGeom>
          <a:solidFill>
            <a:srgbClr val="FFFFFF"/>
          </a:solidFill>
          <a:ln w="12700">
            <a:solidFill>
              <a:srgbClr val="D6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53328" y="1261872"/>
            <a:ext cx="73152" cy="1417320"/>
          </a:xfrm>
          <a:prstGeom prst="rect">
            <a:avLst/>
          </a:prstGeom>
          <a:solidFill>
            <a:srgbClr val="379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4496" y="1389888"/>
            <a:ext cx="2194560" cy="228600"/>
          </a:xfrm>
          <a:prstGeom prst="rect">
            <a:avLst/>
          </a:prstGeom>
          <a:noFill/>
        </p:spPr>
        <p:txBody>
          <a:bodyPr wrap="square">
            <a:normAutofit/>
          </a:bodyPr>
          <a:lstStyle/>
          <a:p>
            <a:r>
              <a:rPr sz="1300" b="1">
                <a:solidFill>
                  <a:srgbClr val="12263F"/>
                </a:solidFill>
                <a:latin typeface="微软雅黑" panose="020B0503020204020204" pitchFamily="34" charset="-122"/>
              </a:rPr>
              <a:t>重复数据处理</a:t>
            </a:r>
            <a:endParaRPr sz="1300" b="1">
              <a:solidFill>
                <a:srgbClr val="12263F"/>
              </a:solidFill>
              <a:latin typeface="微软雅黑" panose="020B0503020204020204" pitchFamily="34" charset="-122"/>
            </a:endParaRPr>
          </a:p>
        </p:txBody>
      </p:sp>
      <p:sp>
        <p:nvSpPr>
          <p:cNvPr id="16" name="TextBox 15"/>
          <p:cNvSpPr txBox="1"/>
          <p:nvPr/>
        </p:nvSpPr>
        <p:spPr>
          <a:xfrm>
            <a:off x="6272784" y="1691640"/>
            <a:ext cx="2167128" cy="886968"/>
          </a:xfrm>
          <a:prstGeom prst="rect">
            <a:avLst/>
          </a:prstGeom>
          <a:noFill/>
        </p:spPr>
        <p:txBody>
          <a:bodyPr wrap="square">
            <a:normAutofit/>
          </a:bodyPr>
          <a:lstStyle/>
          <a:p>
            <a:pPr>
              <a:spcAft>
                <a:spcPts val="400"/>
              </a:spcAft>
            </a:pPr>
            <a:r>
              <a:rPr sz="1050">
                <a:solidFill>
                  <a:srgbClr val="1C222A"/>
                </a:solidFill>
                <a:latin typeface="微软雅黑" panose="020B0503020204020204" pitchFamily="34" charset="-122"/>
              </a:rPr>
              <a:t>Spark 微批按 event_id 去重。</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相同行情快照不重复写库。</a:t>
            </a:r>
            <a:endParaRPr sz="1050">
              <a:solidFill>
                <a:srgbClr val="1C222A"/>
              </a:solidFill>
              <a:latin typeface="微软雅黑" panose="020B0503020204020204" pitchFamily="34" charset="-122"/>
            </a:endParaRPr>
          </a:p>
          <a:p>
            <a:pPr>
              <a:spcAft>
                <a:spcPts val="400"/>
              </a:spcAft>
            </a:pPr>
            <a:r>
              <a:rPr sz="1050">
                <a:solidFill>
                  <a:srgbClr val="1C222A"/>
                </a:solidFill>
                <a:latin typeface="微软雅黑" panose="020B0503020204020204" pitchFamily="34" charset="-122"/>
              </a:rPr>
              <a:t>训练集压缩连续不变价格，减少无效样本。</a:t>
            </a:r>
            <a:endParaRPr sz="1050">
              <a:solidFill>
                <a:srgbClr val="1C222A"/>
              </a:solidFill>
              <a:latin typeface="微软雅黑" panose="020B0503020204020204" pitchFamily="34" charset="-122"/>
            </a:endParaRPr>
          </a:p>
        </p:txBody>
      </p:sp>
      <p:sp>
        <p:nvSpPr>
          <p:cNvPr id="17" name="Rounded Rectangle 16"/>
          <p:cNvSpPr/>
          <p:nvPr/>
        </p:nvSpPr>
        <p:spPr>
          <a:xfrm>
            <a:off x="658368" y="2999232"/>
            <a:ext cx="3840480" cy="1737360"/>
          </a:xfrm>
          <a:prstGeom prst="roundRect">
            <a:avLst/>
          </a:prstGeom>
          <a:solidFill>
            <a:srgbClr val="1E293B"/>
          </a:solidFill>
          <a:ln>
            <a:solidFill>
              <a:srgbClr val="2D3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118104"/>
            <a:ext cx="3566160" cy="1536192"/>
          </a:xfrm>
          <a:prstGeom prst="rect">
            <a:avLst/>
          </a:prstGeom>
          <a:noFill/>
        </p:spPr>
        <p:txBody>
          <a:bodyPr wrap="square">
            <a:normAutofit/>
          </a:bodyPr>
          <a:lstStyle/>
          <a:p>
            <a:r>
              <a:rPr sz="920">
                <a:solidFill>
                  <a:srgbClr val="E2E8F0"/>
                </a:solidFill>
                <a:latin typeface="Consolas" panose="020B0609020204030204"/>
              </a:rPr>
              <a:t>return parsed.filter(</a:t>
            </a:r>
            <a:br>
              <a:rPr sz="920">
                <a:solidFill>
                  <a:srgbClr val="E2E8F0"/>
                </a:solidFill>
                <a:latin typeface="Consolas" panose="020B0609020204030204"/>
              </a:rPr>
            </a:br>
            <a:r>
              <a:rPr sz="920">
                <a:solidFill>
                  <a:srgbClr val="E2E8F0"/>
                </a:solidFill>
                <a:latin typeface="Consolas" panose="020B0609020204030204"/>
              </a:rPr>
              <a:t>    (F.col('last_price') &gt; 0)</a:t>
            </a:r>
            <a:br>
              <a:rPr sz="920">
                <a:solidFill>
                  <a:srgbClr val="E2E8F0"/>
                </a:solidFill>
                <a:latin typeface="Consolas" panose="020B0609020204030204"/>
              </a:rPr>
            </a:br>
            <a:r>
              <a:rPr sz="920">
                <a:solidFill>
                  <a:srgbClr val="E2E8F0"/>
                </a:solidFill>
                <a:latin typeface="Consolas" panose="020B0609020204030204"/>
              </a:rPr>
              <a:t>    &amp; (F.col('volume') &gt; 0)</a:t>
            </a:r>
            <a:br>
              <a:rPr sz="920">
                <a:solidFill>
                  <a:srgbClr val="E2E8F0"/>
                </a:solidFill>
                <a:latin typeface="Consolas" panose="020B0609020204030204"/>
              </a:rPr>
            </a:br>
            <a:r>
              <a:rPr sz="920">
                <a:solidFill>
                  <a:srgbClr val="E2E8F0"/>
                </a:solidFill>
                <a:latin typeface="Consolas" panose="020B0609020204030204"/>
              </a:rPr>
              <a:t>    &amp; market_range_rule</a:t>
            </a:r>
            <a:br>
              <a:rPr sz="920">
                <a:solidFill>
                  <a:srgbClr val="E2E8F0"/>
                </a:solidFill>
                <a:latin typeface="Consolas" panose="020B0609020204030204"/>
              </a:rPr>
            </a:br>
            <a:r>
              <a:rPr sz="920">
                <a:solidFill>
                  <a:srgbClr val="E2E8F0"/>
                </a:solidFill>
                <a:latin typeface="Consolas" panose="020B0609020204030204"/>
              </a:rPr>
              <a:t>)</a:t>
            </a:r>
            <a:br>
              <a:rPr sz="920">
                <a:solidFill>
                  <a:srgbClr val="E2E8F0"/>
                </a:solidFill>
                <a:latin typeface="Consolas" panose="020B0609020204030204"/>
              </a:rPr>
            </a:br>
            <a:br>
              <a:rPr sz="920">
                <a:solidFill>
                  <a:srgbClr val="E2E8F0"/>
                </a:solidFill>
                <a:latin typeface="Consolas" panose="020B0609020204030204"/>
              </a:rPr>
            </a:br>
            <a:r>
              <a:rPr sz="920">
                <a:solidFill>
                  <a:srgbClr val="E2E8F0"/>
                </a:solidFill>
                <a:latin typeface="Consolas" panose="020B0609020204030204"/>
              </a:rPr>
              <a:t>raw_batch = batch_df.dropDuplicates(['event_id'])</a:t>
            </a:r>
            <a:endParaRPr sz="920">
              <a:solidFill>
                <a:srgbClr val="E2E8F0"/>
              </a:solidFill>
              <a:latin typeface="Consolas" panose="020B0609020204030204"/>
            </a:endParaRPr>
          </a:p>
        </p:txBody>
      </p:sp>
      <p:sp>
        <p:nvSpPr>
          <p:cNvPr id="19" name="Rounded Rectangle 18"/>
          <p:cNvSpPr/>
          <p:nvPr/>
        </p:nvSpPr>
        <p:spPr>
          <a:xfrm>
            <a:off x="4800600" y="2999232"/>
            <a:ext cx="3840480" cy="1737360"/>
          </a:xfrm>
          <a:prstGeom prst="roundRect">
            <a:avLst/>
          </a:prstGeom>
          <a:solidFill>
            <a:srgbClr val="1E293B"/>
          </a:solidFill>
          <a:ln>
            <a:solidFill>
              <a:srgbClr val="2D3E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46904" y="3118104"/>
            <a:ext cx="3566160" cy="1536192"/>
          </a:xfrm>
          <a:prstGeom prst="rect">
            <a:avLst/>
          </a:prstGeom>
          <a:noFill/>
        </p:spPr>
        <p:txBody>
          <a:bodyPr wrap="square">
            <a:normAutofit/>
          </a:bodyPr>
          <a:lstStyle/>
          <a:p>
            <a:r>
              <a:rPr sz="920">
                <a:solidFill>
                  <a:srgbClr val="E2E8F0"/>
                </a:solidFill>
                <a:latin typeface="Consolas" panose="020B0609020204030204"/>
              </a:rPr>
              <a:t>for column in SEQUENCE_FEATURES:</a:t>
            </a:r>
            <a:br>
              <a:rPr sz="920">
                <a:solidFill>
                  <a:srgbClr val="E2E8F0"/>
                </a:solidFill>
                <a:latin typeface="Consolas" panose="020B0609020204030204"/>
              </a:rPr>
            </a:br>
            <a:r>
              <a:rPr sz="920">
                <a:solidFill>
                  <a:srgbClr val="E2E8F0"/>
                </a:solidFill>
                <a:latin typeface="Consolas" panose="020B0609020204030204"/>
              </a:rPr>
              <a:t>    sorted_df[column] = (</a:t>
            </a:r>
            <a:br>
              <a:rPr sz="920">
                <a:solidFill>
                  <a:srgbClr val="E2E8F0"/>
                </a:solidFill>
                <a:latin typeface="Consolas" panose="020B0609020204030204"/>
              </a:rPr>
            </a:br>
            <a:r>
              <a:rPr sz="920">
                <a:solidFill>
                  <a:srgbClr val="E2E8F0"/>
                </a:solidFill>
                <a:latin typeface="Consolas" panose="020B0609020204030204"/>
              </a:rPr>
              <a:t>        pd.to_numeric(... )</a:t>
            </a:r>
            <a:br>
              <a:rPr sz="920">
                <a:solidFill>
                  <a:srgbClr val="E2E8F0"/>
                </a:solidFill>
                <a:latin typeface="Consolas" panose="020B0609020204030204"/>
              </a:rPr>
            </a:br>
            <a:r>
              <a:rPr sz="920">
                <a:solidFill>
                  <a:srgbClr val="E2E8F0"/>
                </a:solidFill>
                <a:latin typeface="Consolas" panose="020B0609020204030204"/>
              </a:rPr>
              <a:t>          .replace([np.inf, -np.inf], 0)</a:t>
            </a:r>
            <a:br>
              <a:rPr sz="920">
                <a:solidFill>
                  <a:srgbClr val="E2E8F0"/>
                </a:solidFill>
                <a:latin typeface="Consolas" panose="020B0609020204030204"/>
              </a:rPr>
            </a:br>
            <a:r>
              <a:rPr sz="920">
                <a:solidFill>
                  <a:srgbClr val="E2E8F0"/>
                </a:solidFill>
                <a:latin typeface="Consolas" panose="020B0609020204030204"/>
              </a:rPr>
              <a:t>          .fillna(0)</a:t>
            </a:r>
            <a:br>
              <a:rPr sz="920">
                <a:solidFill>
                  <a:srgbClr val="E2E8F0"/>
                </a:solidFill>
                <a:latin typeface="Consolas" panose="020B0609020204030204"/>
              </a:rPr>
            </a:br>
            <a:r>
              <a:rPr sz="920">
                <a:solidFill>
                  <a:srgbClr val="E2E8F0"/>
                </a:solidFill>
                <a:latin typeface="Consolas" panose="020B0609020204030204"/>
              </a:rPr>
              <a:t>          .clip(-5, 5)</a:t>
            </a:r>
            <a:br>
              <a:rPr sz="920">
                <a:solidFill>
                  <a:srgbClr val="E2E8F0"/>
                </a:solidFill>
                <a:latin typeface="Consolas" panose="020B0609020204030204"/>
              </a:rPr>
            </a:br>
            <a:r>
              <a:rPr sz="920">
                <a:solidFill>
                  <a:srgbClr val="E2E8F0"/>
                </a:solidFill>
                <a:latin typeface="Consolas" panose="020B0609020204030204"/>
              </a:rPr>
              <a:t>    )</a:t>
            </a:r>
            <a:endParaRPr sz="920">
              <a:solidFill>
                <a:srgbClr val="E2E8F0"/>
              </a:solidFill>
              <a:latin typeface="Consolas" panose="020B0609020204030204"/>
            </a:endParaRPr>
          </a:p>
        </p:txBody>
      </p:sp>
      <p:sp>
        <p:nvSpPr>
          <p:cNvPr id="21" name="TextBox 20"/>
          <p:cNvSpPr txBox="1"/>
          <p:nvPr/>
        </p:nvSpPr>
        <p:spPr>
          <a:xfrm>
            <a:off x="658368" y="4992624"/>
            <a:ext cx="8001000" cy="320040"/>
          </a:xfrm>
          <a:prstGeom prst="rect">
            <a:avLst/>
          </a:prstGeom>
          <a:noFill/>
        </p:spPr>
        <p:txBody>
          <a:bodyPr wrap="square">
            <a:normAutofit/>
          </a:bodyPr>
          <a:lstStyle/>
          <a:p>
            <a:pPr algn="ctr"/>
            <a:r>
              <a:rPr sz="1200" b="1">
                <a:solidFill>
                  <a:srgbClr val="12263F"/>
                </a:solidFill>
                <a:latin typeface="微软雅黑" panose="020B0503020204020204" pitchFamily="34" charset="-122"/>
              </a:rPr>
              <a:t>衔接关系：爬虫输出标准行情事件 → 预处理过滤脏数据和重复数据 → Kafka / Spark 接收稳定数据流 → MySQL/HDFS/前端/机器学习复用同一套结构化结果</a:t>
            </a:r>
            <a:endParaRPr sz="1200" b="1">
              <a:solidFill>
                <a:srgbClr val="12263F"/>
              </a:solidFill>
              <a:latin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实时数据分析模块在系统中的位置</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模块定位：把不断变化的行情转化为可分析、可存储、可展示、可告警的实时结果</a:t>
            </a:r>
            <a:endParaRPr lang="en-US" sz="950" dirty="0"/>
          </a:p>
        </p:txBody>
      </p:sp>
      <p:sp>
        <p:nvSpPr>
          <p:cNvPr id="4" name="Shape 2"/>
          <p:cNvSpPr/>
          <p:nvPr/>
        </p:nvSpPr>
        <p:spPr>
          <a:xfrm>
            <a:off x="822960" y="1636776"/>
            <a:ext cx="73152" cy="73152"/>
          </a:xfrm>
          <a:prstGeom prst="ellipse">
            <a:avLst/>
          </a:prstGeom>
          <a:solidFill>
            <a:srgbClr val="1D7CF2"/>
          </a:solidFill>
          <a:ln w="12700">
            <a:solidFill>
              <a:srgbClr val="1D7CF2"/>
            </a:solidFill>
            <a:prstDash val="solid"/>
          </a:ln>
        </p:spPr>
      </p:sp>
      <p:sp>
        <p:nvSpPr>
          <p:cNvPr id="5" name="Text 3"/>
          <p:cNvSpPr/>
          <p:nvPr/>
        </p:nvSpPr>
        <p:spPr>
          <a:xfrm>
            <a:off x="987552" y="1554480"/>
            <a:ext cx="9601200" cy="310896"/>
          </a:xfrm>
          <a:prstGeom prst="rect">
            <a:avLst/>
          </a:prstGeom>
          <a:noFill/>
        </p:spPr>
        <p:txBody>
          <a:bodyPr wrap="square" lIns="0" tIns="0" rIns="0" bIns="0" rtlCol="0" anchor="ctr">
            <a:normAutofit/>
          </a:bodyPr>
          <a:lstStyle/>
          <a:p>
            <a:pPr marL="0" indent="0">
              <a:buNone/>
            </a:pPr>
            <a:r>
              <a:rPr lang="en-US" sz="10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本项目不是只展示静态股票数据，而是通过实时流处理不断更新行情、统计指标和风险告警。</a:t>
            </a:r>
            <a:endParaRPr lang="en-US" sz="1040" dirty="0"/>
          </a:p>
        </p:txBody>
      </p:sp>
      <p:sp>
        <p:nvSpPr>
          <p:cNvPr id="6" name="Shape 4"/>
          <p:cNvSpPr/>
          <p:nvPr/>
        </p:nvSpPr>
        <p:spPr>
          <a:xfrm>
            <a:off x="822960" y="2231136"/>
            <a:ext cx="73152" cy="73152"/>
          </a:xfrm>
          <a:prstGeom prst="ellipse">
            <a:avLst/>
          </a:prstGeom>
          <a:solidFill>
            <a:srgbClr val="1D7CF2"/>
          </a:solidFill>
          <a:ln w="12700">
            <a:solidFill>
              <a:srgbClr val="1D7CF2"/>
            </a:solidFill>
            <a:prstDash val="solid"/>
          </a:ln>
        </p:spPr>
      </p:sp>
      <p:sp>
        <p:nvSpPr>
          <p:cNvPr id="7" name="Text 5"/>
          <p:cNvSpPr/>
          <p:nvPr/>
        </p:nvSpPr>
        <p:spPr>
          <a:xfrm>
            <a:off x="987552" y="2148840"/>
            <a:ext cx="960120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实时数据分析模块连接采集端、Kafka、Spark、MySQL/HDFS 和前端可视化页面。</a:t>
            </a:r>
            <a:endParaRPr lang="en-US" sz="1040" dirty="0"/>
          </a:p>
        </p:txBody>
      </p:sp>
      <p:sp>
        <p:nvSpPr>
          <p:cNvPr id="8" name="Shape 6"/>
          <p:cNvSpPr/>
          <p:nvPr/>
        </p:nvSpPr>
        <p:spPr>
          <a:xfrm>
            <a:off x="822960" y="2779776"/>
            <a:ext cx="73152" cy="73152"/>
          </a:xfrm>
          <a:prstGeom prst="ellipse">
            <a:avLst/>
          </a:prstGeom>
          <a:solidFill>
            <a:srgbClr val="1D7CF2"/>
          </a:solidFill>
          <a:ln w="12700">
            <a:solidFill>
              <a:srgbClr val="1D7CF2"/>
            </a:solidFill>
            <a:prstDash val="solid"/>
          </a:ln>
        </p:spPr>
      </p:sp>
      <p:sp>
        <p:nvSpPr>
          <p:cNvPr id="9" name="Text 7"/>
          <p:cNvSpPr/>
          <p:nvPr/>
        </p:nvSpPr>
        <p:spPr>
          <a:xfrm>
            <a:off x="987552" y="2697480"/>
            <a:ext cx="960120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它是平台中“动态展示”和“风险监控”的核心支撑模块。</a:t>
            </a:r>
            <a:endParaRPr lang="en-US" sz="1040" dirty="0"/>
          </a:p>
        </p:txBody>
      </p:sp>
      <p:sp>
        <p:nvSpPr>
          <p:cNvPr id="10" name="Shape 8"/>
          <p:cNvSpPr/>
          <p:nvPr/>
        </p:nvSpPr>
        <p:spPr>
          <a:xfrm>
            <a:off x="868680" y="4023360"/>
            <a:ext cx="1664208" cy="566928"/>
          </a:xfrm>
          <a:prstGeom prst="roundRect">
            <a:avLst>
              <a:gd name="adj" fmla="val 11290"/>
            </a:avLst>
          </a:prstGeom>
          <a:solidFill>
            <a:srgbClr val="1D7CF2"/>
          </a:solidFill>
          <a:ln w="12700">
            <a:solidFill>
              <a:srgbClr val="1D7CF2"/>
            </a:solidFill>
            <a:prstDash val="solid"/>
          </a:ln>
        </p:spPr>
      </p:sp>
      <p:sp>
        <p:nvSpPr>
          <p:cNvPr id="11" name="Text 9"/>
          <p:cNvSpPr/>
          <p:nvPr/>
        </p:nvSpPr>
        <p:spPr>
          <a:xfrm>
            <a:off x="923544" y="4224528"/>
            <a:ext cx="1554480" cy="146304"/>
          </a:xfrm>
          <a:prstGeom prst="rect">
            <a:avLst/>
          </a:prstGeom>
          <a:noFill/>
        </p:spPr>
        <p:txBody>
          <a:bodyPr wrap="square" lIns="0" tIns="0" rIns="0" bIns="0" rtlCol="0" anchor="ctr">
            <a:normAutofit/>
          </a:bodyPr>
          <a:lstStyle/>
          <a:p>
            <a:pPr marL="0" indent="0" algn="ctr">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数据采集端</a:t>
            </a:r>
            <a:endParaRPr lang="en-US" sz="860" dirty="0"/>
          </a:p>
        </p:txBody>
      </p:sp>
      <p:sp>
        <p:nvSpPr>
          <p:cNvPr id="12" name="Shape 10"/>
          <p:cNvSpPr/>
          <p:nvPr/>
        </p:nvSpPr>
        <p:spPr>
          <a:xfrm>
            <a:off x="3026664" y="4023360"/>
            <a:ext cx="1664208" cy="566928"/>
          </a:xfrm>
          <a:prstGeom prst="roundRect">
            <a:avLst>
              <a:gd name="adj" fmla="val 11290"/>
            </a:avLst>
          </a:prstGeom>
          <a:solidFill>
            <a:srgbClr val="F59E0B"/>
          </a:solidFill>
          <a:ln w="12700">
            <a:solidFill>
              <a:srgbClr val="F59E0B"/>
            </a:solidFill>
            <a:prstDash val="solid"/>
          </a:ln>
        </p:spPr>
      </p:sp>
      <p:sp>
        <p:nvSpPr>
          <p:cNvPr id="13" name="Text 11"/>
          <p:cNvSpPr/>
          <p:nvPr/>
        </p:nvSpPr>
        <p:spPr>
          <a:xfrm>
            <a:off x="3081528" y="4224528"/>
            <a:ext cx="1554480" cy="146304"/>
          </a:xfrm>
          <a:prstGeom prst="rect">
            <a:avLst/>
          </a:prstGeom>
          <a:noFill/>
        </p:spPr>
        <p:txBody>
          <a:bodyPr wrap="square" lIns="0" tIns="0" rIns="0" bIns="0" rtlCol="0" anchor="ctr">
            <a:normAutofit/>
          </a:bodyPr>
          <a:lstStyle/>
          <a:p>
            <a:pPr marL="0" indent="0" algn="ctr">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Kafka 消息队列</a:t>
            </a:r>
            <a:endParaRPr lang="en-US" sz="860" dirty="0"/>
          </a:p>
        </p:txBody>
      </p:sp>
      <p:sp>
        <p:nvSpPr>
          <p:cNvPr id="14" name="Shape 12"/>
          <p:cNvSpPr/>
          <p:nvPr/>
        </p:nvSpPr>
        <p:spPr>
          <a:xfrm>
            <a:off x="5184648" y="4023360"/>
            <a:ext cx="1664208" cy="566928"/>
          </a:xfrm>
          <a:prstGeom prst="roundRect">
            <a:avLst>
              <a:gd name="adj" fmla="val 11290"/>
            </a:avLst>
          </a:prstGeom>
          <a:solidFill>
            <a:srgbClr val="18A058"/>
          </a:solidFill>
          <a:ln w="12700">
            <a:solidFill>
              <a:srgbClr val="18A058"/>
            </a:solidFill>
            <a:prstDash val="solid"/>
          </a:ln>
        </p:spPr>
      </p:sp>
      <p:sp>
        <p:nvSpPr>
          <p:cNvPr id="15" name="Text 13"/>
          <p:cNvSpPr/>
          <p:nvPr/>
        </p:nvSpPr>
        <p:spPr>
          <a:xfrm>
            <a:off x="5239512" y="4224528"/>
            <a:ext cx="1554480" cy="146304"/>
          </a:xfrm>
          <a:prstGeom prst="rect">
            <a:avLst/>
          </a:prstGeom>
          <a:noFill/>
        </p:spPr>
        <p:txBody>
          <a:bodyPr wrap="square" lIns="0" tIns="0" rIns="0" bIns="0" rtlCol="0" anchor="ctr">
            <a:normAutofit/>
          </a:bodyPr>
          <a:lstStyle/>
          <a:p>
            <a:pPr marL="0" indent="0" algn="ctr">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Spark 流式计算</a:t>
            </a:r>
            <a:endParaRPr lang="en-US" sz="860" dirty="0"/>
          </a:p>
        </p:txBody>
      </p:sp>
      <p:sp>
        <p:nvSpPr>
          <p:cNvPr id="16" name="Shape 14"/>
          <p:cNvSpPr/>
          <p:nvPr/>
        </p:nvSpPr>
        <p:spPr>
          <a:xfrm>
            <a:off x="7342632" y="4023360"/>
            <a:ext cx="1664208" cy="566928"/>
          </a:xfrm>
          <a:prstGeom prst="roundRect">
            <a:avLst>
              <a:gd name="adj" fmla="val 11290"/>
            </a:avLst>
          </a:prstGeom>
          <a:solidFill>
            <a:srgbClr val="00A8FF"/>
          </a:solidFill>
          <a:ln w="12700">
            <a:solidFill>
              <a:srgbClr val="00A8FF"/>
            </a:solidFill>
            <a:prstDash val="solid"/>
          </a:ln>
        </p:spPr>
      </p:sp>
      <p:sp>
        <p:nvSpPr>
          <p:cNvPr id="17" name="Text 15"/>
          <p:cNvSpPr/>
          <p:nvPr/>
        </p:nvSpPr>
        <p:spPr>
          <a:xfrm>
            <a:off x="7397496" y="4224528"/>
            <a:ext cx="1554480" cy="146304"/>
          </a:xfrm>
          <a:prstGeom prst="rect">
            <a:avLst/>
          </a:prstGeom>
          <a:noFill/>
        </p:spPr>
        <p:txBody>
          <a:bodyPr wrap="square" lIns="0" tIns="0" rIns="0" bIns="0" rtlCol="0" anchor="ctr">
            <a:normAutofit/>
          </a:bodyPr>
          <a:lstStyle/>
          <a:p>
            <a:pPr marL="0" indent="0" algn="ctr">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MySQL/HDFS 存储</a:t>
            </a:r>
            <a:endParaRPr lang="en-US" sz="860" dirty="0"/>
          </a:p>
        </p:txBody>
      </p:sp>
      <p:sp>
        <p:nvSpPr>
          <p:cNvPr id="18" name="Shape 16"/>
          <p:cNvSpPr/>
          <p:nvPr/>
        </p:nvSpPr>
        <p:spPr>
          <a:xfrm>
            <a:off x="9500616" y="4023360"/>
            <a:ext cx="1664208" cy="566928"/>
          </a:xfrm>
          <a:prstGeom prst="roundRect">
            <a:avLst>
              <a:gd name="adj" fmla="val 11290"/>
            </a:avLst>
          </a:prstGeom>
          <a:solidFill>
            <a:srgbClr val="DC2626"/>
          </a:solidFill>
          <a:ln w="12700">
            <a:solidFill>
              <a:srgbClr val="DC2626"/>
            </a:solidFill>
            <a:prstDash val="solid"/>
          </a:ln>
        </p:spPr>
      </p:sp>
      <p:sp>
        <p:nvSpPr>
          <p:cNvPr id="19" name="Text 17"/>
          <p:cNvSpPr/>
          <p:nvPr/>
        </p:nvSpPr>
        <p:spPr>
          <a:xfrm>
            <a:off x="9555480" y="4224528"/>
            <a:ext cx="1554480" cy="146304"/>
          </a:xfrm>
          <a:prstGeom prst="rect">
            <a:avLst/>
          </a:prstGeom>
          <a:noFill/>
        </p:spPr>
        <p:txBody>
          <a:bodyPr wrap="square" lIns="0" tIns="0" rIns="0" bIns="0" rtlCol="0" anchor="ctr">
            <a:normAutofit/>
          </a:bodyPr>
          <a:lstStyle/>
          <a:p>
            <a:pPr marL="0" indent="0" algn="ctr">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前端可视化</a:t>
            </a:r>
            <a:endParaRPr lang="en-US" sz="860" dirty="0"/>
          </a:p>
        </p:txBody>
      </p:sp>
      <p:sp>
        <p:nvSpPr>
          <p:cNvPr id="20" name="Shape 18"/>
          <p:cNvSpPr/>
          <p:nvPr/>
        </p:nvSpPr>
        <p:spPr>
          <a:xfrm>
            <a:off x="868680" y="5532120"/>
            <a:ext cx="9875520" cy="0"/>
          </a:xfrm>
          <a:prstGeom prst="line">
            <a:avLst/>
          </a:prstGeom>
          <a:noFill/>
          <a:ln w="25400">
            <a:solidFill>
              <a:srgbClr val="1D7CF2"/>
            </a:solidFill>
            <a:prstDash val="solid"/>
          </a:ln>
        </p:spPr>
      </p:sp>
      <p:sp>
        <p:nvSpPr>
          <p:cNvPr id="21" name="Text 19"/>
          <p:cNvSpPr/>
          <p:nvPr/>
        </p:nvSpPr>
        <p:spPr>
          <a:xfrm>
            <a:off x="868680" y="5696712"/>
            <a:ext cx="987552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讲解句：这个模块的作用是把不断变化的行情数据转化为实时分析结果。</a:t>
            </a:r>
            <a:endParaRPr lang="en-US" sz="1140" dirty="0"/>
          </a:p>
        </p:txBody>
      </p:sp>
      <p:sp>
        <p:nvSpPr>
          <p:cNvPr id="22" name="Text 20"/>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3" name="Text 21"/>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实时数据分析整体流程</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从行情源到前端大屏的完整实时链路</a:t>
            </a:r>
            <a:endParaRPr lang="en-US" sz="950" dirty="0"/>
          </a:p>
        </p:txBody>
      </p:sp>
      <p:sp>
        <p:nvSpPr>
          <p:cNvPr id="4" name="Shape 2"/>
          <p:cNvSpPr/>
          <p:nvPr/>
        </p:nvSpPr>
        <p:spPr>
          <a:xfrm>
            <a:off x="868680" y="1234440"/>
            <a:ext cx="2880360" cy="347472"/>
          </a:xfrm>
          <a:prstGeom prst="roundRect">
            <a:avLst>
              <a:gd name="adj" fmla="val 13158"/>
            </a:avLst>
          </a:prstGeom>
          <a:solidFill>
            <a:srgbClr val="1D7CF2"/>
          </a:solidFill>
          <a:ln w="12700">
            <a:solidFill>
              <a:srgbClr val="1D7CF2"/>
            </a:solidFill>
            <a:prstDash val="solid"/>
          </a:ln>
        </p:spPr>
      </p:sp>
      <p:sp>
        <p:nvSpPr>
          <p:cNvPr id="5" name="Text 3"/>
          <p:cNvSpPr/>
          <p:nvPr/>
        </p:nvSpPr>
        <p:spPr>
          <a:xfrm>
            <a:off x="987552" y="1330452"/>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股票行情源</a:t>
            </a:r>
            <a:endParaRPr lang="en-US" sz="880" dirty="0"/>
          </a:p>
        </p:txBody>
      </p:sp>
      <p:sp>
        <p:nvSpPr>
          <p:cNvPr id="6" name="Shape 4"/>
          <p:cNvSpPr/>
          <p:nvPr/>
        </p:nvSpPr>
        <p:spPr>
          <a:xfrm>
            <a:off x="1993392" y="1618488"/>
            <a:ext cx="201168" cy="164592"/>
          </a:xfrm>
          <a:prstGeom prst="downArrow">
            <a:avLst/>
          </a:prstGeom>
          <a:solidFill>
            <a:srgbClr val="D7E0EA"/>
          </a:solidFill>
          <a:ln w="12700">
            <a:solidFill>
              <a:srgbClr val="D7E0EA"/>
            </a:solidFill>
            <a:prstDash val="solid"/>
          </a:ln>
        </p:spPr>
      </p:sp>
      <p:sp>
        <p:nvSpPr>
          <p:cNvPr id="7" name="Text 5"/>
          <p:cNvSpPr/>
          <p:nvPr/>
        </p:nvSpPr>
        <p:spPr>
          <a:xfrm>
            <a:off x="4160520" y="1307592"/>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多行情源输入</a:t>
            </a:r>
            <a:endParaRPr lang="en-US" sz="900" dirty="0"/>
          </a:p>
        </p:txBody>
      </p:sp>
      <p:sp>
        <p:nvSpPr>
          <p:cNvPr id="8" name="Shape 6"/>
          <p:cNvSpPr/>
          <p:nvPr/>
        </p:nvSpPr>
        <p:spPr>
          <a:xfrm>
            <a:off x="868680" y="1801368"/>
            <a:ext cx="2880360" cy="347472"/>
          </a:xfrm>
          <a:prstGeom prst="roundRect">
            <a:avLst>
              <a:gd name="adj" fmla="val 13158"/>
            </a:avLst>
          </a:prstGeom>
          <a:solidFill>
            <a:srgbClr val="1D7CF2"/>
          </a:solidFill>
          <a:ln w="12700">
            <a:solidFill>
              <a:srgbClr val="1D7CF2"/>
            </a:solidFill>
            <a:prstDash val="solid"/>
          </a:ln>
        </p:spPr>
      </p:sp>
      <p:sp>
        <p:nvSpPr>
          <p:cNvPr id="9" name="Text 7"/>
          <p:cNvSpPr/>
          <p:nvPr/>
        </p:nvSpPr>
        <p:spPr>
          <a:xfrm>
            <a:off x="987552" y="1897380"/>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Python Producer</a:t>
            </a:r>
            <a:endParaRPr lang="en-US" sz="880" dirty="0"/>
          </a:p>
        </p:txBody>
      </p:sp>
      <p:sp>
        <p:nvSpPr>
          <p:cNvPr id="10" name="Shape 8"/>
          <p:cNvSpPr/>
          <p:nvPr/>
        </p:nvSpPr>
        <p:spPr>
          <a:xfrm>
            <a:off x="1993392" y="2185416"/>
            <a:ext cx="201168" cy="164592"/>
          </a:xfrm>
          <a:prstGeom prst="downArrow">
            <a:avLst/>
          </a:prstGeom>
          <a:solidFill>
            <a:srgbClr val="D7E0EA"/>
          </a:solidFill>
          <a:ln w="12700">
            <a:solidFill>
              <a:srgbClr val="D7E0EA"/>
            </a:solidFill>
            <a:prstDash val="solid"/>
          </a:ln>
        </p:spPr>
      </p:sp>
      <p:sp>
        <p:nvSpPr>
          <p:cNvPr id="11" name="Text 9"/>
          <p:cNvSpPr/>
          <p:nvPr/>
        </p:nvSpPr>
        <p:spPr>
          <a:xfrm>
            <a:off x="4160520" y="1874520"/>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实时采集与标准化</a:t>
            </a:r>
            <a:endParaRPr lang="en-US" sz="900" dirty="0"/>
          </a:p>
        </p:txBody>
      </p:sp>
      <p:sp>
        <p:nvSpPr>
          <p:cNvPr id="12" name="Shape 10"/>
          <p:cNvSpPr/>
          <p:nvPr/>
        </p:nvSpPr>
        <p:spPr>
          <a:xfrm>
            <a:off x="868680" y="2368296"/>
            <a:ext cx="2880360" cy="347472"/>
          </a:xfrm>
          <a:prstGeom prst="roundRect">
            <a:avLst>
              <a:gd name="adj" fmla="val 13158"/>
            </a:avLst>
          </a:prstGeom>
          <a:solidFill>
            <a:srgbClr val="F59E0B"/>
          </a:solidFill>
          <a:ln w="12700">
            <a:solidFill>
              <a:srgbClr val="F59E0B"/>
            </a:solidFill>
            <a:prstDash val="solid"/>
          </a:ln>
        </p:spPr>
      </p:sp>
      <p:sp>
        <p:nvSpPr>
          <p:cNvPr id="13" name="Text 11"/>
          <p:cNvSpPr/>
          <p:nvPr/>
        </p:nvSpPr>
        <p:spPr>
          <a:xfrm>
            <a:off x="987552" y="2464308"/>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Kafka</a:t>
            </a:r>
            <a:endParaRPr lang="en-US" sz="880" dirty="0"/>
          </a:p>
        </p:txBody>
      </p:sp>
      <p:sp>
        <p:nvSpPr>
          <p:cNvPr id="14" name="Shape 12"/>
          <p:cNvSpPr/>
          <p:nvPr/>
        </p:nvSpPr>
        <p:spPr>
          <a:xfrm>
            <a:off x="1993392" y="2752344"/>
            <a:ext cx="201168" cy="164592"/>
          </a:xfrm>
          <a:prstGeom prst="downArrow">
            <a:avLst/>
          </a:prstGeom>
          <a:solidFill>
            <a:srgbClr val="D7E0EA"/>
          </a:solidFill>
          <a:ln w="12700">
            <a:solidFill>
              <a:srgbClr val="D7E0EA"/>
            </a:solidFill>
            <a:prstDash val="solid"/>
          </a:ln>
        </p:spPr>
      </p:sp>
      <p:sp>
        <p:nvSpPr>
          <p:cNvPr id="15" name="Text 13"/>
          <p:cNvSpPr/>
          <p:nvPr/>
        </p:nvSpPr>
        <p:spPr>
          <a:xfrm>
            <a:off x="4160520" y="2441448"/>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消息队列缓冲</a:t>
            </a:r>
            <a:endParaRPr lang="en-US" sz="900" dirty="0"/>
          </a:p>
        </p:txBody>
      </p:sp>
      <p:sp>
        <p:nvSpPr>
          <p:cNvPr id="16" name="Shape 14"/>
          <p:cNvSpPr/>
          <p:nvPr/>
        </p:nvSpPr>
        <p:spPr>
          <a:xfrm>
            <a:off x="868680" y="2935224"/>
            <a:ext cx="2880360" cy="347472"/>
          </a:xfrm>
          <a:prstGeom prst="roundRect">
            <a:avLst>
              <a:gd name="adj" fmla="val 13158"/>
            </a:avLst>
          </a:prstGeom>
          <a:solidFill>
            <a:srgbClr val="18A058"/>
          </a:solidFill>
          <a:ln w="12700">
            <a:solidFill>
              <a:srgbClr val="18A058"/>
            </a:solidFill>
            <a:prstDash val="solid"/>
          </a:ln>
        </p:spPr>
      </p:sp>
      <p:sp>
        <p:nvSpPr>
          <p:cNvPr id="17" name="Text 15"/>
          <p:cNvSpPr/>
          <p:nvPr/>
        </p:nvSpPr>
        <p:spPr>
          <a:xfrm>
            <a:off x="987552" y="3031236"/>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Spark Streaming</a:t>
            </a:r>
            <a:endParaRPr lang="en-US" sz="880" dirty="0"/>
          </a:p>
        </p:txBody>
      </p:sp>
      <p:sp>
        <p:nvSpPr>
          <p:cNvPr id="18" name="Shape 16"/>
          <p:cNvSpPr/>
          <p:nvPr/>
        </p:nvSpPr>
        <p:spPr>
          <a:xfrm>
            <a:off x="1993392" y="3319272"/>
            <a:ext cx="201168" cy="164592"/>
          </a:xfrm>
          <a:prstGeom prst="downArrow">
            <a:avLst/>
          </a:prstGeom>
          <a:solidFill>
            <a:srgbClr val="D7E0EA"/>
          </a:solidFill>
          <a:ln w="12700">
            <a:solidFill>
              <a:srgbClr val="D7E0EA"/>
            </a:solidFill>
            <a:prstDash val="solid"/>
          </a:ln>
        </p:spPr>
      </p:sp>
      <p:sp>
        <p:nvSpPr>
          <p:cNvPr id="19" name="Text 17"/>
          <p:cNvSpPr/>
          <p:nvPr/>
        </p:nvSpPr>
        <p:spPr>
          <a:xfrm>
            <a:off x="4160520" y="3008376"/>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解析、清洗、聚合、告警</a:t>
            </a:r>
            <a:endParaRPr lang="en-US" sz="900" dirty="0"/>
          </a:p>
        </p:txBody>
      </p:sp>
      <p:sp>
        <p:nvSpPr>
          <p:cNvPr id="20" name="Shape 18"/>
          <p:cNvSpPr/>
          <p:nvPr/>
        </p:nvSpPr>
        <p:spPr>
          <a:xfrm>
            <a:off x="868680" y="3502152"/>
            <a:ext cx="2880360" cy="347472"/>
          </a:xfrm>
          <a:prstGeom prst="roundRect">
            <a:avLst>
              <a:gd name="adj" fmla="val 13158"/>
            </a:avLst>
          </a:prstGeom>
          <a:solidFill>
            <a:srgbClr val="00A8FF"/>
          </a:solidFill>
          <a:ln w="12700">
            <a:solidFill>
              <a:srgbClr val="00A8FF"/>
            </a:solidFill>
            <a:prstDash val="solid"/>
          </a:ln>
        </p:spPr>
      </p:sp>
      <p:sp>
        <p:nvSpPr>
          <p:cNvPr id="21" name="Text 19"/>
          <p:cNvSpPr/>
          <p:nvPr/>
        </p:nvSpPr>
        <p:spPr>
          <a:xfrm>
            <a:off x="987552" y="3598164"/>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MySQL / HDFS</a:t>
            </a:r>
            <a:endParaRPr lang="en-US" sz="880" dirty="0"/>
          </a:p>
        </p:txBody>
      </p:sp>
      <p:sp>
        <p:nvSpPr>
          <p:cNvPr id="22" name="Shape 20"/>
          <p:cNvSpPr/>
          <p:nvPr/>
        </p:nvSpPr>
        <p:spPr>
          <a:xfrm>
            <a:off x="1993392" y="3886200"/>
            <a:ext cx="201168" cy="164592"/>
          </a:xfrm>
          <a:prstGeom prst="downArrow">
            <a:avLst/>
          </a:prstGeom>
          <a:solidFill>
            <a:srgbClr val="D7E0EA"/>
          </a:solidFill>
          <a:ln w="12700">
            <a:solidFill>
              <a:srgbClr val="D7E0EA"/>
            </a:solidFill>
            <a:prstDash val="solid"/>
          </a:ln>
        </p:spPr>
      </p:sp>
      <p:sp>
        <p:nvSpPr>
          <p:cNvPr id="23" name="Text 21"/>
          <p:cNvSpPr/>
          <p:nvPr/>
        </p:nvSpPr>
        <p:spPr>
          <a:xfrm>
            <a:off x="4160520" y="3575304"/>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快速查询与归档</a:t>
            </a:r>
            <a:endParaRPr lang="en-US" sz="900" dirty="0"/>
          </a:p>
        </p:txBody>
      </p:sp>
      <p:sp>
        <p:nvSpPr>
          <p:cNvPr id="24" name="Shape 22"/>
          <p:cNvSpPr/>
          <p:nvPr/>
        </p:nvSpPr>
        <p:spPr>
          <a:xfrm>
            <a:off x="868680" y="4069080"/>
            <a:ext cx="2880360" cy="347472"/>
          </a:xfrm>
          <a:prstGeom prst="roundRect">
            <a:avLst>
              <a:gd name="adj" fmla="val 13158"/>
            </a:avLst>
          </a:prstGeom>
          <a:solidFill>
            <a:srgbClr val="DC2626"/>
          </a:solidFill>
          <a:ln w="12700">
            <a:solidFill>
              <a:srgbClr val="DC2626"/>
            </a:solidFill>
            <a:prstDash val="solid"/>
          </a:ln>
        </p:spPr>
      </p:sp>
      <p:sp>
        <p:nvSpPr>
          <p:cNvPr id="25" name="Text 23"/>
          <p:cNvSpPr/>
          <p:nvPr/>
        </p:nvSpPr>
        <p:spPr>
          <a:xfrm>
            <a:off x="987552" y="4165092"/>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Java 后端接口</a:t>
            </a:r>
            <a:endParaRPr lang="en-US" sz="880" dirty="0"/>
          </a:p>
        </p:txBody>
      </p:sp>
      <p:sp>
        <p:nvSpPr>
          <p:cNvPr id="26" name="Shape 24"/>
          <p:cNvSpPr/>
          <p:nvPr/>
        </p:nvSpPr>
        <p:spPr>
          <a:xfrm>
            <a:off x="1993392" y="4453128"/>
            <a:ext cx="201168" cy="164592"/>
          </a:xfrm>
          <a:prstGeom prst="downArrow">
            <a:avLst/>
          </a:prstGeom>
          <a:solidFill>
            <a:srgbClr val="D7E0EA"/>
          </a:solidFill>
          <a:ln w="12700">
            <a:solidFill>
              <a:srgbClr val="D7E0EA"/>
            </a:solidFill>
            <a:prstDash val="solid"/>
          </a:ln>
        </p:spPr>
      </p:sp>
      <p:sp>
        <p:nvSpPr>
          <p:cNvPr id="27" name="Text 25"/>
          <p:cNvSpPr/>
          <p:nvPr/>
        </p:nvSpPr>
        <p:spPr>
          <a:xfrm>
            <a:off x="4160520" y="4142232"/>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封装看板数据</a:t>
            </a:r>
            <a:endParaRPr lang="en-US" sz="900" dirty="0"/>
          </a:p>
        </p:txBody>
      </p:sp>
      <p:sp>
        <p:nvSpPr>
          <p:cNvPr id="28" name="Shape 26"/>
          <p:cNvSpPr/>
          <p:nvPr/>
        </p:nvSpPr>
        <p:spPr>
          <a:xfrm>
            <a:off x="868680" y="4636008"/>
            <a:ext cx="2880360" cy="347472"/>
          </a:xfrm>
          <a:prstGeom prst="roundRect">
            <a:avLst>
              <a:gd name="adj" fmla="val 13158"/>
            </a:avLst>
          </a:prstGeom>
          <a:solidFill>
            <a:srgbClr val="0B1F36"/>
          </a:solidFill>
          <a:ln w="12700">
            <a:solidFill>
              <a:srgbClr val="0B1F36"/>
            </a:solidFill>
            <a:prstDash val="solid"/>
          </a:ln>
        </p:spPr>
      </p:sp>
      <p:sp>
        <p:nvSpPr>
          <p:cNvPr id="29" name="Text 27"/>
          <p:cNvSpPr/>
          <p:nvPr/>
        </p:nvSpPr>
        <p:spPr>
          <a:xfrm>
            <a:off x="987552" y="4732020"/>
            <a:ext cx="2651760" cy="109728"/>
          </a:xfrm>
          <a:prstGeom prst="rect">
            <a:avLst/>
          </a:prstGeom>
          <a:noFill/>
        </p:spPr>
        <p:txBody>
          <a:bodyPr wrap="square" lIns="0" tIns="0" rIns="0" bIns="0" rtlCol="0" anchor="ctr">
            <a:normAutofit/>
          </a:bodyPr>
          <a:lstStyle/>
          <a:p>
            <a:pPr marL="0" indent="0" algn="ctr">
              <a:buNone/>
            </a:pPr>
            <a:r>
              <a:rPr lang="en-US" sz="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前端实时大屏</a:t>
            </a:r>
            <a:endParaRPr lang="en-US" sz="880" dirty="0"/>
          </a:p>
        </p:txBody>
      </p:sp>
      <p:sp>
        <p:nvSpPr>
          <p:cNvPr id="30" name="Text 28"/>
          <p:cNvSpPr/>
          <p:nvPr/>
        </p:nvSpPr>
        <p:spPr>
          <a:xfrm>
            <a:off x="4160520" y="4709160"/>
            <a:ext cx="4023360" cy="164592"/>
          </a:xfrm>
          <a:prstGeom prst="rect">
            <a:avLst/>
          </a:prstGeom>
          <a:noFill/>
        </p:spPr>
        <p:txBody>
          <a:bodyPr wrap="square" lIns="0" tIns="0" rIns="0" bIns="0" rtlCol="0" anchor="ctr">
            <a:normAutofit/>
          </a:bodyPr>
          <a:lstStyle/>
          <a:p>
            <a:pPr marL="0" indent="0">
              <a:buNone/>
            </a:pPr>
            <a:r>
              <a:rPr lang="en-US" sz="90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周期刷新展示</a:t>
            </a:r>
            <a:endParaRPr lang="en-US" sz="900" dirty="0"/>
          </a:p>
        </p:txBody>
      </p:sp>
      <p:sp>
        <p:nvSpPr>
          <p:cNvPr id="31" name="Shape 29"/>
          <p:cNvSpPr/>
          <p:nvPr/>
        </p:nvSpPr>
        <p:spPr>
          <a:xfrm>
            <a:off x="8549640" y="1408176"/>
            <a:ext cx="73152" cy="73152"/>
          </a:xfrm>
          <a:prstGeom prst="ellipse">
            <a:avLst/>
          </a:prstGeom>
          <a:solidFill>
            <a:srgbClr val="1D7CF2"/>
          </a:solidFill>
          <a:ln w="12700">
            <a:solidFill>
              <a:srgbClr val="1D7CF2"/>
            </a:solidFill>
            <a:prstDash val="solid"/>
          </a:ln>
        </p:spPr>
      </p:sp>
      <p:sp>
        <p:nvSpPr>
          <p:cNvPr id="32" name="Text 30"/>
          <p:cNvSpPr/>
          <p:nvPr/>
        </p:nvSpPr>
        <p:spPr>
          <a:xfrm>
            <a:off x="8714232" y="1325880"/>
            <a:ext cx="2743200" cy="310896"/>
          </a:xfrm>
          <a:prstGeom prst="rect">
            <a:avLst/>
          </a:prstGeom>
          <a:noFill/>
        </p:spPr>
        <p:txBody>
          <a:bodyPr wrap="square" lIns="0" tIns="0" rIns="0" bIns="0" rtlCol="0" anchor="ctr">
            <a:normAutofit/>
          </a:bodyPr>
          <a:lstStyle/>
          <a:p>
            <a:pPr marL="0" indent="0">
              <a:buNone/>
            </a:pPr>
            <a:r>
              <a:rPr lang="en-US" sz="88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Producer 负责采集并标准化行情数据。</a:t>
            </a:r>
            <a:endParaRPr lang="en-US" sz="880" dirty="0"/>
          </a:p>
        </p:txBody>
      </p:sp>
      <p:sp>
        <p:nvSpPr>
          <p:cNvPr id="33" name="Shape 31"/>
          <p:cNvSpPr/>
          <p:nvPr/>
        </p:nvSpPr>
        <p:spPr>
          <a:xfrm>
            <a:off x="8549640" y="1929384"/>
            <a:ext cx="73152" cy="73152"/>
          </a:xfrm>
          <a:prstGeom prst="ellipse">
            <a:avLst/>
          </a:prstGeom>
          <a:solidFill>
            <a:srgbClr val="F59E0B"/>
          </a:solidFill>
          <a:ln w="12700">
            <a:solidFill>
              <a:srgbClr val="F59E0B"/>
            </a:solidFill>
            <a:prstDash val="solid"/>
          </a:ln>
        </p:spPr>
      </p:sp>
      <p:sp>
        <p:nvSpPr>
          <p:cNvPr id="34" name="Text 32"/>
          <p:cNvSpPr/>
          <p:nvPr/>
        </p:nvSpPr>
        <p:spPr>
          <a:xfrm>
            <a:off x="8714232" y="1847088"/>
            <a:ext cx="2743200" cy="310896"/>
          </a:xfrm>
          <a:prstGeom prst="rect">
            <a:avLst/>
          </a:prstGeom>
          <a:noFill/>
        </p:spPr>
        <p:txBody>
          <a:bodyPr wrap="square" lIns="0" tIns="0" rIns="0" bIns="0" rtlCol="0" anchor="ctr">
            <a:normAutofit/>
          </a:bodyPr>
          <a:lstStyle/>
          <a:p>
            <a:pPr marL="0" indent="0">
              <a:buNone/>
            </a:pPr>
            <a:r>
              <a:rPr lang="en-US" sz="88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Kafka 负责缓冲实时消息。</a:t>
            </a:r>
            <a:endParaRPr lang="en-US" sz="880" dirty="0"/>
          </a:p>
        </p:txBody>
      </p:sp>
      <p:sp>
        <p:nvSpPr>
          <p:cNvPr id="35" name="Shape 33"/>
          <p:cNvSpPr/>
          <p:nvPr/>
        </p:nvSpPr>
        <p:spPr>
          <a:xfrm>
            <a:off x="8549640" y="2450592"/>
            <a:ext cx="73152" cy="73152"/>
          </a:xfrm>
          <a:prstGeom prst="ellipse">
            <a:avLst/>
          </a:prstGeom>
          <a:solidFill>
            <a:srgbClr val="18A058"/>
          </a:solidFill>
          <a:ln w="12700">
            <a:solidFill>
              <a:srgbClr val="18A058"/>
            </a:solidFill>
            <a:prstDash val="solid"/>
          </a:ln>
        </p:spPr>
      </p:sp>
      <p:sp>
        <p:nvSpPr>
          <p:cNvPr id="36" name="Text 34"/>
          <p:cNvSpPr/>
          <p:nvPr/>
        </p:nvSpPr>
        <p:spPr>
          <a:xfrm>
            <a:off x="8714232" y="2368296"/>
            <a:ext cx="2743200" cy="310896"/>
          </a:xfrm>
          <a:prstGeom prst="rect">
            <a:avLst/>
          </a:prstGeom>
          <a:noFill/>
        </p:spPr>
        <p:txBody>
          <a:bodyPr wrap="square" lIns="0" tIns="0" rIns="0" bIns="0" rtlCol="0" anchor="ctr">
            <a:normAutofit/>
          </a:bodyPr>
          <a:lstStyle/>
          <a:p>
            <a:pPr marL="0" indent="0">
              <a:buNone/>
            </a:pPr>
            <a:r>
              <a:rPr lang="en-US" sz="88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负责实时解析、清洗、聚合、告警。</a:t>
            </a:r>
            <a:endParaRPr lang="en-US" sz="880" dirty="0"/>
          </a:p>
        </p:txBody>
      </p:sp>
      <p:sp>
        <p:nvSpPr>
          <p:cNvPr id="37" name="Shape 35"/>
          <p:cNvSpPr/>
          <p:nvPr/>
        </p:nvSpPr>
        <p:spPr>
          <a:xfrm>
            <a:off x="8549640" y="2971800"/>
            <a:ext cx="73152" cy="73152"/>
          </a:xfrm>
          <a:prstGeom prst="ellipse">
            <a:avLst/>
          </a:prstGeom>
          <a:solidFill>
            <a:srgbClr val="00A8FF"/>
          </a:solidFill>
          <a:ln w="12700">
            <a:solidFill>
              <a:srgbClr val="00A8FF"/>
            </a:solidFill>
            <a:prstDash val="solid"/>
          </a:ln>
        </p:spPr>
      </p:sp>
      <p:sp>
        <p:nvSpPr>
          <p:cNvPr id="38" name="Text 36"/>
          <p:cNvSpPr/>
          <p:nvPr/>
        </p:nvSpPr>
        <p:spPr>
          <a:xfrm>
            <a:off x="8714232" y="2889504"/>
            <a:ext cx="2743200" cy="310896"/>
          </a:xfrm>
          <a:prstGeom prst="rect">
            <a:avLst/>
          </a:prstGeom>
          <a:noFill/>
        </p:spPr>
        <p:txBody>
          <a:bodyPr wrap="square" lIns="0" tIns="0" rIns="0" bIns="0" rtlCol="0" anchor="ctr">
            <a:normAutofit/>
          </a:bodyPr>
          <a:lstStyle/>
          <a:p>
            <a:pPr marL="0" indent="0">
              <a:buNone/>
            </a:pPr>
            <a:r>
              <a:rPr lang="en-US" sz="88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MySQL 负责前端快速查询，HDFS 负责归档。</a:t>
            </a:r>
            <a:endParaRPr lang="en-US" sz="880" dirty="0"/>
          </a:p>
        </p:txBody>
      </p:sp>
      <p:sp>
        <p:nvSpPr>
          <p:cNvPr id="39" name="Shape 37"/>
          <p:cNvSpPr/>
          <p:nvPr/>
        </p:nvSpPr>
        <p:spPr>
          <a:xfrm>
            <a:off x="8549640" y="3493008"/>
            <a:ext cx="73152" cy="73152"/>
          </a:xfrm>
          <a:prstGeom prst="ellipse">
            <a:avLst/>
          </a:prstGeom>
          <a:solidFill>
            <a:srgbClr val="DC2626"/>
          </a:solidFill>
          <a:ln w="12700">
            <a:solidFill>
              <a:srgbClr val="DC2626"/>
            </a:solidFill>
            <a:prstDash val="solid"/>
          </a:ln>
        </p:spPr>
      </p:sp>
      <p:sp>
        <p:nvSpPr>
          <p:cNvPr id="40" name="Text 38"/>
          <p:cNvSpPr/>
          <p:nvPr/>
        </p:nvSpPr>
        <p:spPr>
          <a:xfrm>
            <a:off x="8714232" y="3410712"/>
            <a:ext cx="2743200" cy="310896"/>
          </a:xfrm>
          <a:prstGeom prst="rect">
            <a:avLst/>
          </a:prstGeom>
          <a:noFill/>
        </p:spPr>
        <p:txBody>
          <a:bodyPr wrap="square" lIns="0" tIns="0" rIns="0" bIns="0" rtlCol="0" anchor="ctr">
            <a:normAutofit/>
          </a:bodyPr>
          <a:lstStyle/>
          <a:p>
            <a:pPr marL="0" indent="0">
              <a:buNone/>
            </a:pPr>
            <a:r>
              <a:rPr lang="en-US" sz="88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前端每隔几秒刷新展示最新状态。</a:t>
            </a:r>
            <a:endParaRPr lang="en-US" sz="880" dirty="0"/>
          </a:p>
        </p:txBody>
      </p:sp>
      <p:sp>
        <p:nvSpPr>
          <p:cNvPr id="41" name="Text 39"/>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42" name="Text 40"/>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实时分析模块核心代码结构</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实时分析按采集、传输、计算、存储、展示分层实现</a:t>
            </a:r>
            <a:endParaRPr lang="en-US" sz="950" dirty="0"/>
          </a:p>
        </p:txBody>
      </p:sp>
      <p:sp>
        <p:nvSpPr>
          <p:cNvPr id="4" name="Shape 2"/>
          <p:cNvSpPr/>
          <p:nvPr/>
        </p:nvSpPr>
        <p:spPr>
          <a:xfrm>
            <a:off x="777240" y="1325880"/>
            <a:ext cx="10149840" cy="502920"/>
          </a:xfrm>
          <a:prstGeom prst="rect">
            <a:avLst/>
          </a:prstGeom>
          <a:solidFill>
            <a:srgbClr val="0B1F36"/>
          </a:solidFill>
          <a:ln w="12700">
            <a:solidFill>
              <a:srgbClr val="D7E0EA">
                <a:alpha val="0"/>
              </a:srgbClr>
            </a:solidFill>
            <a:prstDash val="solid"/>
          </a:ln>
        </p:spPr>
      </p:sp>
      <p:sp>
        <p:nvSpPr>
          <p:cNvPr id="5" name="Text 3"/>
          <p:cNvSpPr/>
          <p:nvPr/>
        </p:nvSpPr>
        <p:spPr>
          <a:xfrm>
            <a:off x="850392" y="1426464"/>
            <a:ext cx="4014216" cy="374904"/>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文件</a:t>
            </a:r>
            <a:endParaRPr lang="en-US" sz="860" dirty="0"/>
          </a:p>
        </p:txBody>
      </p:sp>
      <p:sp>
        <p:nvSpPr>
          <p:cNvPr id="6" name="Text 4"/>
          <p:cNvSpPr/>
          <p:nvPr/>
        </p:nvSpPr>
        <p:spPr>
          <a:xfrm>
            <a:off x="5010912" y="1426464"/>
            <a:ext cx="5843016" cy="374904"/>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作用</a:t>
            </a:r>
            <a:endParaRPr lang="en-US" sz="860" dirty="0"/>
          </a:p>
        </p:txBody>
      </p:sp>
      <p:sp>
        <p:nvSpPr>
          <p:cNvPr id="7" name="Shape 5"/>
          <p:cNvSpPr/>
          <p:nvPr/>
        </p:nvSpPr>
        <p:spPr>
          <a:xfrm>
            <a:off x="777240" y="1828800"/>
            <a:ext cx="10149840" cy="502920"/>
          </a:xfrm>
          <a:prstGeom prst="rect">
            <a:avLst/>
          </a:prstGeom>
          <a:solidFill>
            <a:srgbClr val="FFFFFF"/>
          </a:solidFill>
          <a:ln w="12700">
            <a:solidFill>
              <a:srgbClr val="D7E0EA">
                <a:alpha val="75000"/>
              </a:srgbClr>
            </a:solidFill>
            <a:prstDash val="solid"/>
          </a:ln>
        </p:spPr>
      </p:sp>
      <p:sp>
        <p:nvSpPr>
          <p:cNvPr id="8" name="Text 6"/>
          <p:cNvSpPr/>
          <p:nvPr/>
        </p:nvSpPr>
        <p:spPr>
          <a:xfrm>
            <a:off x="850392" y="192938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python/producer/stock_producer.py</a:t>
            </a:r>
            <a:endParaRPr lang="en-US" sz="810" dirty="0"/>
          </a:p>
        </p:txBody>
      </p:sp>
      <p:sp>
        <p:nvSpPr>
          <p:cNvPr id="9" name="Text 7"/>
          <p:cNvSpPr/>
          <p:nvPr/>
        </p:nvSpPr>
        <p:spPr>
          <a:xfrm>
            <a:off x="5010912" y="192938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实时采集行情并写入 Kafka</a:t>
            </a:r>
            <a:endParaRPr lang="en-US" sz="810" dirty="0"/>
          </a:p>
        </p:txBody>
      </p:sp>
      <p:sp>
        <p:nvSpPr>
          <p:cNvPr id="10" name="Shape 8"/>
          <p:cNvSpPr/>
          <p:nvPr/>
        </p:nvSpPr>
        <p:spPr>
          <a:xfrm>
            <a:off x="777240" y="2331720"/>
            <a:ext cx="10149840" cy="502920"/>
          </a:xfrm>
          <a:prstGeom prst="rect">
            <a:avLst/>
          </a:prstGeom>
          <a:solidFill>
            <a:srgbClr val="EEF5FC"/>
          </a:solidFill>
          <a:ln w="12700">
            <a:solidFill>
              <a:srgbClr val="D7E0EA">
                <a:alpha val="75000"/>
              </a:srgbClr>
            </a:solidFill>
            <a:prstDash val="solid"/>
          </a:ln>
        </p:spPr>
      </p:sp>
      <p:sp>
        <p:nvSpPr>
          <p:cNvPr id="11" name="Text 9"/>
          <p:cNvSpPr/>
          <p:nvPr/>
        </p:nvSpPr>
        <p:spPr>
          <a:xfrm>
            <a:off x="850392" y="243230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python/producer/stock_sources.py</a:t>
            </a:r>
            <a:endParaRPr lang="en-US" sz="810" dirty="0"/>
          </a:p>
        </p:txBody>
      </p:sp>
      <p:sp>
        <p:nvSpPr>
          <p:cNvPr id="12" name="Text 10"/>
          <p:cNvSpPr/>
          <p:nvPr/>
        </p:nvSpPr>
        <p:spPr>
          <a:xfrm>
            <a:off x="5010912" y="243230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封装不同行情源的抓取逻辑</a:t>
            </a:r>
            <a:endParaRPr lang="en-US" sz="810" dirty="0"/>
          </a:p>
        </p:txBody>
      </p:sp>
      <p:sp>
        <p:nvSpPr>
          <p:cNvPr id="13" name="Shape 11"/>
          <p:cNvSpPr/>
          <p:nvPr/>
        </p:nvSpPr>
        <p:spPr>
          <a:xfrm>
            <a:off x="777240" y="2834640"/>
            <a:ext cx="10149840" cy="502920"/>
          </a:xfrm>
          <a:prstGeom prst="rect">
            <a:avLst/>
          </a:prstGeom>
          <a:solidFill>
            <a:srgbClr val="FFFFFF"/>
          </a:solidFill>
          <a:ln w="12700">
            <a:solidFill>
              <a:srgbClr val="D7E0EA">
                <a:alpha val="75000"/>
              </a:srgbClr>
            </a:solidFill>
            <a:prstDash val="solid"/>
          </a:ln>
        </p:spPr>
      </p:sp>
      <p:sp>
        <p:nvSpPr>
          <p:cNvPr id="14" name="Text 12"/>
          <p:cNvSpPr/>
          <p:nvPr/>
        </p:nvSpPr>
        <p:spPr>
          <a:xfrm>
            <a:off x="850392" y="293522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python/common/stock_utils.py</a:t>
            </a:r>
            <a:endParaRPr lang="en-US" sz="810" dirty="0"/>
          </a:p>
        </p:txBody>
      </p:sp>
      <p:sp>
        <p:nvSpPr>
          <p:cNvPr id="15" name="Text 13"/>
          <p:cNvSpPr/>
          <p:nvPr/>
        </p:nvSpPr>
        <p:spPr>
          <a:xfrm>
            <a:off x="5010912" y="293522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行情数据校验与标准化工具</a:t>
            </a:r>
            <a:endParaRPr lang="en-US" sz="810" dirty="0"/>
          </a:p>
        </p:txBody>
      </p:sp>
      <p:sp>
        <p:nvSpPr>
          <p:cNvPr id="16" name="Shape 14"/>
          <p:cNvSpPr/>
          <p:nvPr/>
        </p:nvSpPr>
        <p:spPr>
          <a:xfrm>
            <a:off x="777240" y="3337560"/>
            <a:ext cx="10149840" cy="502920"/>
          </a:xfrm>
          <a:prstGeom prst="rect">
            <a:avLst/>
          </a:prstGeom>
          <a:solidFill>
            <a:srgbClr val="EEF5FC"/>
          </a:solidFill>
          <a:ln w="12700">
            <a:solidFill>
              <a:srgbClr val="D7E0EA">
                <a:alpha val="75000"/>
              </a:srgbClr>
            </a:solidFill>
            <a:prstDash val="solid"/>
          </a:ln>
        </p:spPr>
      </p:sp>
      <p:sp>
        <p:nvSpPr>
          <p:cNvPr id="17" name="Text 15"/>
          <p:cNvSpPr/>
          <p:nvPr/>
        </p:nvSpPr>
        <p:spPr>
          <a:xfrm>
            <a:off x="850392" y="343814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python/spark/stock_streaming_job.py</a:t>
            </a:r>
            <a:endParaRPr lang="en-US" sz="810" dirty="0"/>
          </a:p>
        </p:txBody>
      </p:sp>
      <p:sp>
        <p:nvSpPr>
          <p:cNvPr id="18" name="Text 16"/>
          <p:cNvSpPr/>
          <p:nvPr/>
        </p:nvSpPr>
        <p:spPr>
          <a:xfrm>
            <a:off x="5010912" y="343814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实时分析核心代码</a:t>
            </a:r>
            <a:endParaRPr lang="en-US" sz="810" dirty="0"/>
          </a:p>
        </p:txBody>
      </p:sp>
      <p:sp>
        <p:nvSpPr>
          <p:cNvPr id="19" name="Shape 17"/>
          <p:cNvSpPr/>
          <p:nvPr/>
        </p:nvSpPr>
        <p:spPr>
          <a:xfrm>
            <a:off x="777240" y="3840480"/>
            <a:ext cx="10149840" cy="502920"/>
          </a:xfrm>
          <a:prstGeom prst="rect">
            <a:avLst/>
          </a:prstGeom>
          <a:solidFill>
            <a:srgbClr val="FFFFFF"/>
          </a:solidFill>
          <a:ln w="12700">
            <a:solidFill>
              <a:srgbClr val="D7E0EA">
                <a:alpha val="75000"/>
              </a:srgbClr>
            </a:solidFill>
            <a:prstDash val="solid"/>
          </a:ln>
        </p:spPr>
      </p:sp>
      <p:sp>
        <p:nvSpPr>
          <p:cNvPr id="20" name="Text 18"/>
          <p:cNvSpPr/>
          <p:nvPr/>
        </p:nvSpPr>
        <p:spPr>
          <a:xfrm>
            <a:off x="850392" y="394106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java-backend/.../DashboardService.java</a:t>
            </a:r>
            <a:endParaRPr lang="en-US" sz="810" dirty="0"/>
          </a:p>
        </p:txBody>
      </p:sp>
      <p:sp>
        <p:nvSpPr>
          <p:cNvPr id="21" name="Text 19"/>
          <p:cNvSpPr/>
          <p:nvPr/>
        </p:nvSpPr>
        <p:spPr>
          <a:xfrm>
            <a:off x="5010912" y="394106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查询实时结果并提供前端接口</a:t>
            </a:r>
            <a:endParaRPr lang="en-US" sz="810" dirty="0"/>
          </a:p>
        </p:txBody>
      </p:sp>
      <p:sp>
        <p:nvSpPr>
          <p:cNvPr id="22" name="Shape 20"/>
          <p:cNvSpPr/>
          <p:nvPr/>
        </p:nvSpPr>
        <p:spPr>
          <a:xfrm>
            <a:off x="777240" y="4343400"/>
            <a:ext cx="10149840" cy="502920"/>
          </a:xfrm>
          <a:prstGeom prst="rect">
            <a:avLst/>
          </a:prstGeom>
          <a:solidFill>
            <a:srgbClr val="EEF5FC"/>
          </a:solidFill>
          <a:ln w="12700">
            <a:solidFill>
              <a:srgbClr val="D7E0EA">
                <a:alpha val="75000"/>
              </a:srgbClr>
            </a:solidFill>
            <a:prstDash val="solid"/>
          </a:ln>
        </p:spPr>
      </p:sp>
      <p:sp>
        <p:nvSpPr>
          <p:cNvPr id="23" name="Text 21"/>
          <p:cNvSpPr/>
          <p:nvPr/>
        </p:nvSpPr>
        <p:spPr>
          <a:xfrm>
            <a:off x="850392" y="4443984"/>
            <a:ext cx="40142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frontend/index.html / dash-pages.js</a:t>
            </a:r>
            <a:endParaRPr lang="en-US" sz="810" dirty="0"/>
          </a:p>
        </p:txBody>
      </p:sp>
      <p:sp>
        <p:nvSpPr>
          <p:cNvPr id="24" name="Text 22"/>
          <p:cNvSpPr/>
          <p:nvPr/>
        </p:nvSpPr>
        <p:spPr>
          <a:xfrm>
            <a:off x="5010912" y="4443984"/>
            <a:ext cx="5843016" cy="37490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展示实时行情、告警和系统状态</a:t>
            </a:r>
            <a:endParaRPr lang="en-US" sz="810" dirty="0"/>
          </a:p>
        </p:txBody>
      </p:sp>
      <p:sp>
        <p:nvSpPr>
          <p:cNvPr id="25" name="Shape 23"/>
          <p:cNvSpPr/>
          <p:nvPr/>
        </p:nvSpPr>
        <p:spPr>
          <a:xfrm>
            <a:off x="822960" y="5440680"/>
            <a:ext cx="9784080" cy="0"/>
          </a:xfrm>
          <a:prstGeom prst="line">
            <a:avLst/>
          </a:prstGeom>
          <a:noFill/>
          <a:ln w="25400">
            <a:solidFill>
              <a:srgbClr val="1D7CF2"/>
            </a:solidFill>
            <a:prstDash val="solid"/>
          </a:ln>
        </p:spPr>
      </p:sp>
      <p:sp>
        <p:nvSpPr>
          <p:cNvPr id="26" name="Text 24"/>
          <p:cNvSpPr/>
          <p:nvPr/>
        </p:nvSpPr>
        <p:spPr>
          <a:xfrm>
            <a:off x="822960" y="5605272"/>
            <a:ext cx="978408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实时分析不是写在一个文件里，而是通过分层代码完成完整链路。</a:t>
            </a:r>
            <a:endParaRPr lang="en-US" sz="1140" dirty="0"/>
          </a:p>
        </p:txBody>
      </p:sp>
      <p:sp>
        <p:nvSpPr>
          <p:cNvPr id="27" name="Text 25"/>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8" name="Text 26"/>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Producer 如何生成实时行情事件</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对应文件：python/producer/stock_producer.py</a:t>
            </a:r>
            <a:endParaRPr lang="en-US" sz="950" dirty="0"/>
          </a:p>
        </p:txBody>
      </p:sp>
      <p:sp>
        <p:nvSpPr>
          <p:cNvPr id="4" name="Shape 2"/>
          <p:cNvSpPr/>
          <p:nvPr/>
        </p:nvSpPr>
        <p:spPr>
          <a:xfrm>
            <a:off x="777240" y="1417320"/>
            <a:ext cx="73152" cy="73152"/>
          </a:xfrm>
          <a:prstGeom prst="ellipse">
            <a:avLst/>
          </a:prstGeom>
          <a:solidFill>
            <a:srgbClr val="1D7CF2"/>
          </a:solidFill>
          <a:ln w="12700">
            <a:solidFill>
              <a:srgbClr val="1D7CF2"/>
            </a:solidFill>
            <a:prstDash val="solid"/>
          </a:ln>
        </p:spPr>
      </p:sp>
      <p:sp>
        <p:nvSpPr>
          <p:cNvPr id="5" name="Text 3"/>
          <p:cNvSpPr/>
          <p:nvPr/>
        </p:nvSpPr>
        <p:spPr>
          <a:xfrm>
            <a:off x="941832" y="1335024"/>
            <a:ext cx="493776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从股票池读取监控股票。</a:t>
            </a:r>
            <a:endParaRPr lang="en-US" sz="1040" dirty="0"/>
          </a:p>
        </p:txBody>
      </p:sp>
      <p:sp>
        <p:nvSpPr>
          <p:cNvPr id="6" name="Shape 4"/>
          <p:cNvSpPr/>
          <p:nvPr/>
        </p:nvSpPr>
        <p:spPr>
          <a:xfrm>
            <a:off x="777240" y="1837944"/>
            <a:ext cx="73152" cy="73152"/>
          </a:xfrm>
          <a:prstGeom prst="ellipse">
            <a:avLst/>
          </a:prstGeom>
          <a:solidFill>
            <a:srgbClr val="1D7CF2"/>
          </a:solidFill>
          <a:ln w="12700">
            <a:solidFill>
              <a:srgbClr val="1D7CF2"/>
            </a:solidFill>
            <a:prstDash val="solid"/>
          </a:ln>
        </p:spPr>
      </p:sp>
      <p:sp>
        <p:nvSpPr>
          <p:cNvPr id="7" name="Text 5"/>
          <p:cNvSpPr/>
          <p:nvPr/>
        </p:nvSpPr>
        <p:spPr>
          <a:xfrm>
            <a:off x="941832" y="1755648"/>
            <a:ext cx="493776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使用多线程并发抓取行情。</a:t>
            </a:r>
            <a:endParaRPr lang="en-US" sz="1040" dirty="0"/>
          </a:p>
        </p:txBody>
      </p:sp>
      <p:sp>
        <p:nvSpPr>
          <p:cNvPr id="8" name="Shape 6"/>
          <p:cNvSpPr/>
          <p:nvPr/>
        </p:nvSpPr>
        <p:spPr>
          <a:xfrm>
            <a:off x="777240" y="2258568"/>
            <a:ext cx="73152" cy="73152"/>
          </a:xfrm>
          <a:prstGeom prst="ellipse">
            <a:avLst/>
          </a:prstGeom>
          <a:solidFill>
            <a:srgbClr val="1D7CF2"/>
          </a:solidFill>
          <a:ln w="12700">
            <a:solidFill>
              <a:srgbClr val="1D7CF2"/>
            </a:solidFill>
            <a:prstDash val="solid"/>
          </a:ln>
        </p:spPr>
      </p:sp>
      <p:sp>
        <p:nvSpPr>
          <p:cNvPr id="9" name="Text 7"/>
          <p:cNvSpPr/>
          <p:nvPr/>
        </p:nvSpPr>
        <p:spPr>
          <a:xfrm>
            <a:off x="941832" y="2176272"/>
            <a:ext cx="493776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调用多个行情源进行兜底。</a:t>
            </a:r>
            <a:endParaRPr lang="en-US" sz="1040" dirty="0"/>
          </a:p>
        </p:txBody>
      </p:sp>
      <p:sp>
        <p:nvSpPr>
          <p:cNvPr id="10" name="Shape 8"/>
          <p:cNvSpPr/>
          <p:nvPr/>
        </p:nvSpPr>
        <p:spPr>
          <a:xfrm>
            <a:off x="777240" y="2679192"/>
            <a:ext cx="73152" cy="73152"/>
          </a:xfrm>
          <a:prstGeom prst="ellipse">
            <a:avLst/>
          </a:prstGeom>
          <a:solidFill>
            <a:srgbClr val="1D7CF2"/>
          </a:solidFill>
          <a:ln w="12700">
            <a:solidFill>
              <a:srgbClr val="1D7CF2"/>
            </a:solidFill>
            <a:prstDash val="solid"/>
          </a:ln>
        </p:spPr>
      </p:sp>
      <p:sp>
        <p:nvSpPr>
          <p:cNvPr id="11" name="Text 9"/>
          <p:cNvSpPr/>
          <p:nvPr/>
        </p:nvSpPr>
        <p:spPr>
          <a:xfrm>
            <a:off x="941832" y="2596896"/>
            <a:ext cx="493776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使用 is_valid_tick 过滤无效数据。</a:t>
            </a:r>
            <a:endParaRPr lang="en-US" sz="1040" dirty="0"/>
          </a:p>
        </p:txBody>
      </p:sp>
      <p:sp>
        <p:nvSpPr>
          <p:cNvPr id="12" name="Shape 10"/>
          <p:cNvSpPr/>
          <p:nvPr/>
        </p:nvSpPr>
        <p:spPr>
          <a:xfrm>
            <a:off x="777240" y="3099816"/>
            <a:ext cx="73152" cy="73152"/>
          </a:xfrm>
          <a:prstGeom prst="ellipse">
            <a:avLst/>
          </a:prstGeom>
          <a:solidFill>
            <a:srgbClr val="1D7CF2"/>
          </a:solidFill>
          <a:ln w="12700">
            <a:solidFill>
              <a:srgbClr val="1D7CF2"/>
            </a:solidFill>
            <a:prstDash val="solid"/>
          </a:ln>
        </p:spPr>
      </p:sp>
      <p:sp>
        <p:nvSpPr>
          <p:cNvPr id="13" name="Text 11"/>
          <p:cNvSpPr/>
          <p:nvPr/>
        </p:nvSpPr>
        <p:spPr>
          <a:xfrm>
            <a:off x="941832" y="3017520"/>
            <a:ext cx="493776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将合法行情写入 Kafka。</a:t>
            </a:r>
            <a:endParaRPr lang="en-US" sz="1040" dirty="0"/>
          </a:p>
        </p:txBody>
      </p:sp>
      <p:sp>
        <p:nvSpPr>
          <p:cNvPr id="14" name="Shape 12"/>
          <p:cNvSpPr/>
          <p:nvPr/>
        </p:nvSpPr>
        <p:spPr>
          <a:xfrm>
            <a:off x="6035040" y="1325880"/>
            <a:ext cx="5166360" cy="2788920"/>
          </a:xfrm>
          <a:prstGeom prst="roundRect">
            <a:avLst>
              <a:gd name="adj" fmla="val 2623"/>
            </a:avLst>
          </a:prstGeom>
          <a:solidFill>
            <a:srgbClr val="0F172A"/>
          </a:solidFill>
          <a:ln w="12700">
            <a:solidFill>
              <a:srgbClr val="1E293B"/>
            </a:solidFill>
            <a:prstDash val="solid"/>
          </a:ln>
        </p:spPr>
      </p:sp>
      <p:sp>
        <p:nvSpPr>
          <p:cNvPr id="15" name="Text 13"/>
          <p:cNvSpPr/>
          <p:nvPr/>
        </p:nvSpPr>
        <p:spPr>
          <a:xfrm>
            <a:off x="6181344" y="1472184"/>
            <a:ext cx="4873752" cy="2532888"/>
          </a:xfrm>
          <a:prstGeom prst="rect">
            <a:avLst/>
          </a:prstGeom>
          <a:noFill/>
        </p:spPr>
        <p:txBody>
          <a:bodyPr wrap="square" lIns="0" tIns="0" rIns="0" bIns="0" rtlCol="0" anchor="ctr">
            <a:normAutofit/>
          </a:bodyPr>
          <a:lstStyle/>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quotes = [quote for quote in fetch_quotes() if is_valid_tick(quote)]</a:t>
            </a:r>
            <a:endParaRPr lang="en-US" sz="800" dirty="0"/>
          </a:p>
          <a:p>
            <a:pPr marL="0" indent="0">
              <a:buNone/>
            </a:pP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for quote in quotes:</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    producer.send(</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        settings.kafka_topic,</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        key=quote['symbol'],</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        value=quote</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    )</a:t>
            </a:r>
            <a:endParaRPr lang="en-US" sz="800" dirty="0"/>
          </a:p>
          <a:p>
            <a:pPr marL="0" indent="0">
              <a:buNone/>
            </a:pPr>
            <a:r>
              <a:rPr lang="en-US" sz="800" dirty="0">
                <a:solidFill>
                  <a:srgbClr val="D8EAFE"/>
                </a:solidFill>
                <a:latin typeface="Consolas" panose="020B0609020204030204" pitchFamily="34" charset="0"/>
                <a:ea typeface="Consolas" panose="020B0609020204030204" pitchFamily="34" charset="-122"/>
                <a:cs typeface="Consolas" panose="020B0609020204030204" pitchFamily="34" charset="-120"/>
              </a:rPr>
              <a:t>producer.flush()</a:t>
            </a:r>
            <a:endParaRPr lang="en-US" sz="800" dirty="0"/>
          </a:p>
        </p:txBody>
      </p:sp>
      <p:sp>
        <p:nvSpPr>
          <p:cNvPr id="16" name="Shape 14"/>
          <p:cNvSpPr/>
          <p:nvPr/>
        </p:nvSpPr>
        <p:spPr>
          <a:xfrm>
            <a:off x="822960" y="4041648"/>
            <a:ext cx="6035040" cy="347472"/>
          </a:xfrm>
          <a:prstGeom prst="rect">
            <a:avLst/>
          </a:prstGeom>
          <a:solidFill>
            <a:srgbClr val="0B1F36"/>
          </a:solidFill>
          <a:ln w="12700">
            <a:solidFill>
              <a:srgbClr val="D7E0EA">
                <a:alpha val="0"/>
              </a:srgbClr>
            </a:solidFill>
            <a:prstDash val="solid"/>
          </a:ln>
        </p:spPr>
      </p:sp>
      <p:sp>
        <p:nvSpPr>
          <p:cNvPr id="17" name="Text 15"/>
          <p:cNvSpPr/>
          <p:nvPr/>
        </p:nvSpPr>
        <p:spPr>
          <a:xfrm>
            <a:off x="896112" y="4142232"/>
            <a:ext cx="2139696" cy="219456"/>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函数/参数</a:t>
            </a:r>
            <a:endParaRPr lang="en-US" sz="860" dirty="0"/>
          </a:p>
        </p:txBody>
      </p:sp>
      <p:sp>
        <p:nvSpPr>
          <p:cNvPr id="18" name="Text 16"/>
          <p:cNvSpPr/>
          <p:nvPr/>
        </p:nvSpPr>
        <p:spPr>
          <a:xfrm>
            <a:off x="3182112" y="4142232"/>
            <a:ext cx="3602736" cy="219456"/>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说明</a:t>
            </a:r>
            <a:endParaRPr lang="en-US" sz="860" dirty="0"/>
          </a:p>
        </p:txBody>
      </p:sp>
      <p:sp>
        <p:nvSpPr>
          <p:cNvPr id="19" name="Shape 17"/>
          <p:cNvSpPr/>
          <p:nvPr/>
        </p:nvSpPr>
        <p:spPr>
          <a:xfrm>
            <a:off x="822960" y="4389120"/>
            <a:ext cx="6035040" cy="347472"/>
          </a:xfrm>
          <a:prstGeom prst="rect">
            <a:avLst/>
          </a:prstGeom>
          <a:solidFill>
            <a:srgbClr val="FFFFFF"/>
          </a:solidFill>
          <a:ln w="12700">
            <a:solidFill>
              <a:srgbClr val="D7E0EA">
                <a:alpha val="75000"/>
              </a:srgbClr>
            </a:solidFill>
            <a:prstDash val="solid"/>
          </a:ln>
        </p:spPr>
      </p:sp>
      <p:sp>
        <p:nvSpPr>
          <p:cNvPr id="20" name="Text 18"/>
          <p:cNvSpPr/>
          <p:nvPr/>
        </p:nvSpPr>
        <p:spPr>
          <a:xfrm>
            <a:off x="896112" y="4489704"/>
            <a:ext cx="213969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fetch_quotes()</a:t>
            </a:r>
            <a:endParaRPr lang="en-US" sz="810" dirty="0"/>
          </a:p>
        </p:txBody>
      </p:sp>
      <p:sp>
        <p:nvSpPr>
          <p:cNvPr id="21" name="Text 19"/>
          <p:cNvSpPr/>
          <p:nvPr/>
        </p:nvSpPr>
        <p:spPr>
          <a:xfrm>
            <a:off x="3182112" y="4489704"/>
            <a:ext cx="360273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采集一轮股票行情</a:t>
            </a:r>
            <a:endParaRPr lang="en-US" sz="810" dirty="0"/>
          </a:p>
        </p:txBody>
      </p:sp>
      <p:sp>
        <p:nvSpPr>
          <p:cNvPr id="22" name="Shape 20"/>
          <p:cNvSpPr/>
          <p:nvPr/>
        </p:nvSpPr>
        <p:spPr>
          <a:xfrm>
            <a:off x="822960" y="4736592"/>
            <a:ext cx="6035040" cy="347472"/>
          </a:xfrm>
          <a:prstGeom prst="rect">
            <a:avLst/>
          </a:prstGeom>
          <a:solidFill>
            <a:srgbClr val="EEF5FC"/>
          </a:solidFill>
          <a:ln w="12700">
            <a:solidFill>
              <a:srgbClr val="D7E0EA">
                <a:alpha val="75000"/>
              </a:srgbClr>
            </a:solidFill>
            <a:prstDash val="solid"/>
          </a:ln>
        </p:spPr>
      </p:sp>
      <p:sp>
        <p:nvSpPr>
          <p:cNvPr id="23" name="Text 21"/>
          <p:cNvSpPr/>
          <p:nvPr/>
        </p:nvSpPr>
        <p:spPr>
          <a:xfrm>
            <a:off x="896112" y="4837176"/>
            <a:ext cx="213969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is_valid_tick()</a:t>
            </a:r>
            <a:endParaRPr lang="en-US" sz="810" dirty="0"/>
          </a:p>
        </p:txBody>
      </p:sp>
      <p:sp>
        <p:nvSpPr>
          <p:cNvPr id="24" name="Text 22"/>
          <p:cNvSpPr/>
          <p:nvPr/>
        </p:nvSpPr>
        <p:spPr>
          <a:xfrm>
            <a:off x="3182112" y="4837176"/>
            <a:ext cx="360273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过滤价格、成交量异常数据</a:t>
            </a:r>
            <a:endParaRPr lang="en-US" sz="810" dirty="0"/>
          </a:p>
        </p:txBody>
      </p:sp>
      <p:sp>
        <p:nvSpPr>
          <p:cNvPr id="25" name="Shape 23"/>
          <p:cNvSpPr/>
          <p:nvPr/>
        </p:nvSpPr>
        <p:spPr>
          <a:xfrm>
            <a:off x="822960" y="5084064"/>
            <a:ext cx="6035040" cy="347472"/>
          </a:xfrm>
          <a:prstGeom prst="rect">
            <a:avLst/>
          </a:prstGeom>
          <a:solidFill>
            <a:srgbClr val="FFFFFF"/>
          </a:solidFill>
          <a:ln w="12700">
            <a:solidFill>
              <a:srgbClr val="D7E0EA">
                <a:alpha val="75000"/>
              </a:srgbClr>
            </a:solidFill>
            <a:prstDash val="solid"/>
          </a:ln>
        </p:spPr>
      </p:sp>
      <p:sp>
        <p:nvSpPr>
          <p:cNvPr id="26" name="Text 24"/>
          <p:cNvSpPr/>
          <p:nvPr/>
        </p:nvSpPr>
        <p:spPr>
          <a:xfrm>
            <a:off x="896112" y="5184648"/>
            <a:ext cx="213969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producer.send()</a:t>
            </a:r>
            <a:endParaRPr lang="en-US" sz="810" dirty="0"/>
          </a:p>
        </p:txBody>
      </p:sp>
      <p:sp>
        <p:nvSpPr>
          <p:cNvPr id="27" name="Text 25"/>
          <p:cNvSpPr/>
          <p:nvPr/>
        </p:nvSpPr>
        <p:spPr>
          <a:xfrm>
            <a:off x="3182112" y="5184648"/>
            <a:ext cx="360273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发送到 Kafka topic</a:t>
            </a:r>
            <a:endParaRPr lang="en-US" sz="810" dirty="0"/>
          </a:p>
        </p:txBody>
      </p:sp>
      <p:sp>
        <p:nvSpPr>
          <p:cNvPr id="28" name="Shape 26"/>
          <p:cNvSpPr/>
          <p:nvPr/>
        </p:nvSpPr>
        <p:spPr>
          <a:xfrm>
            <a:off x="822960" y="5431536"/>
            <a:ext cx="6035040" cy="347472"/>
          </a:xfrm>
          <a:prstGeom prst="rect">
            <a:avLst/>
          </a:prstGeom>
          <a:solidFill>
            <a:srgbClr val="EEF5FC"/>
          </a:solidFill>
          <a:ln w="12700">
            <a:solidFill>
              <a:srgbClr val="D7E0EA">
                <a:alpha val="75000"/>
              </a:srgbClr>
            </a:solidFill>
            <a:prstDash val="solid"/>
          </a:ln>
        </p:spPr>
      </p:sp>
      <p:sp>
        <p:nvSpPr>
          <p:cNvPr id="29" name="Text 27"/>
          <p:cNvSpPr/>
          <p:nvPr/>
        </p:nvSpPr>
        <p:spPr>
          <a:xfrm>
            <a:off x="896112" y="5532120"/>
            <a:ext cx="213969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key=symbol</a:t>
            </a:r>
            <a:endParaRPr lang="en-US" sz="810" dirty="0"/>
          </a:p>
        </p:txBody>
      </p:sp>
      <p:sp>
        <p:nvSpPr>
          <p:cNvPr id="30" name="Text 28"/>
          <p:cNvSpPr/>
          <p:nvPr/>
        </p:nvSpPr>
        <p:spPr>
          <a:xfrm>
            <a:off x="3182112" y="5532120"/>
            <a:ext cx="3602736" cy="219456"/>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用股票代码作为消息 key，便于追踪</a:t>
            </a:r>
            <a:endParaRPr lang="en-US" sz="810" dirty="0"/>
          </a:p>
        </p:txBody>
      </p:sp>
      <p:sp>
        <p:nvSpPr>
          <p:cNvPr id="31" name="Text 29"/>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32" name="Text 30"/>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为什么中间要使用 Kafka</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Kafka 作为实时数据缓冲层，解耦采集端和计算端</a:t>
            </a:r>
            <a:endParaRPr lang="en-US" sz="950" dirty="0"/>
          </a:p>
        </p:txBody>
      </p:sp>
      <p:sp>
        <p:nvSpPr>
          <p:cNvPr id="4" name="Shape 2"/>
          <p:cNvSpPr/>
          <p:nvPr/>
        </p:nvSpPr>
        <p:spPr>
          <a:xfrm>
            <a:off x="822960" y="1499616"/>
            <a:ext cx="73152" cy="73152"/>
          </a:xfrm>
          <a:prstGeom prst="ellipse">
            <a:avLst/>
          </a:prstGeom>
          <a:solidFill>
            <a:srgbClr val="1D7CF2"/>
          </a:solidFill>
          <a:ln w="12700">
            <a:solidFill>
              <a:srgbClr val="1D7CF2"/>
            </a:solidFill>
            <a:prstDash val="solid"/>
          </a:ln>
        </p:spPr>
      </p:sp>
      <p:sp>
        <p:nvSpPr>
          <p:cNvPr id="5" name="Text 3"/>
          <p:cNvSpPr/>
          <p:nvPr/>
        </p:nvSpPr>
        <p:spPr>
          <a:xfrm>
            <a:off x="987552" y="1417320"/>
            <a:ext cx="5669280" cy="310896"/>
          </a:xfrm>
          <a:prstGeom prst="rect">
            <a:avLst/>
          </a:prstGeom>
          <a:noFill/>
        </p:spPr>
        <p:txBody>
          <a:bodyPr wrap="square" lIns="0" tIns="0" rIns="0" bIns="0" rtlCol="0" anchor="ctr">
            <a:normAutofit/>
          </a:bodyPr>
          <a:lstStyle/>
          <a:p>
            <a:pPr marL="0" indent="0">
              <a:buNone/>
            </a:pPr>
            <a:r>
              <a:rPr lang="en-US" sz="10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Producer 只负责写消息，不直接操作数据库和复杂分析逻辑。</a:t>
            </a:r>
            <a:endParaRPr lang="en-US" sz="1040" dirty="0"/>
          </a:p>
        </p:txBody>
      </p:sp>
      <p:sp>
        <p:nvSpPr>
          <p:cNvPr id="6" name="Shape 4"/>
          <p:cNvSpPr/>
          <p:nvPr/>
        </p:nvSpPr>
        <p:spPr>
          <a:xfrm>
            <a:off x="822960" y="2029968"/>
            <a:ext cx="73152" cy="73152"/>
          </a:xfrm>
          <a:prstGeom prst="ellipse">
            <a:avLst/>
          </a:prstGeom>
          <a:solidFill>
            <a:srgbClr val="1D7CF2"/>
          </a:solidFill>
          <a:ln w="12700">
            <a:solidFill>
              <a:srgbClr val="1D7CF2"/>
            </a:solidFill>
            <a:prstDash val="solid"/>
          </a:ln>
        </p:spPr>
      </p:sp>
      <p:sp>
        <p:nvSpPr>
          <p:cNvPr id="7" name="Text 5"/>
          <p:cNvSpPr/>
          <p:nvPr/>
        </p:nvSpPr>
        <p:spPr>
          <a:xfrm>
            <a:off x="987552" y="1947672"/>
            <a:ext cx="566928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可以持续消费 Kafka 中的行情事件。</a:t>
            </a:r>
            <a:endParaRPr lang="en-US" sz="1040" dirty="0"/>
          </a:p>
        </p:txBody>
      </p:sp>
      <p:sp>
        <p:nvSpPr>
          <p:cNvPr id="8" name="Shape 6"/>
          <p:cNvSpPr/>
          <p:nvPr/>
        </p:nvSpPr>
        <p:spPr>
          <a:xfrm>
            <a:off x="822960" y="2560320"/>
            <a:ext cx="73152" cy="73152"/>
          </a:xfrm>
          <a:prstGeom prst="ellipse">
            <a:avLst/>
          </a:prstGeom>
          <a:solidFill>
            <a:srgbClr val="1D7CF2"/>
          </a:solidFill>
          <a:ln w="12700">
            <a:solidFill>
              <a:srgbClr val="1D7CF2"/>
            </a:solidFill>
            <a:prstDash val="solid"/>
          </a:ln>
        </p:spPr>
      </p:sp>
      <p:sp>
        <p:nvSpPr>
          <p:cNvPr id="9" name="Text 7"/>
          <p:cNvSpPr/>
          <p:nvPr/>
        </p:nvSpPr>
        <p:spPr>
          <a:xfrm>
            <a:off x="987552" y="2478024"/>
            <a:ext cx="566928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采集速度和计算速度不完全一致时，Kafka 起到削峰和缓冲作用。</a:t>
            </a:r>
            <a:endParaRPr lang="en-US" sz="1040" dirty="0"/>
          </a:p>
        </p:txBody>
      </p:sp>
      <p:sp>
        <p:nvSpPr>
          <p:cNvPr id="10" name="Shape 8"/>
          <p:cNvSpPr/>
          <p:nvPr/>
        </p:nvSpPr>
        <p:spPr>
          <a:xfrm>
            <a:off x="822960" y="3090672"/>
            <a:ext cx="73152" cy="73152"/>
          </a:xfrm>
          <a:prstGeom prst="ellipse">
            <a:avLst/>
          </a:prstGeom>
          <a:solidFill>
            <a:srgbClr val="1D7CF2"/>
          </a:solidFill>
          <a:ln w="12700">
            <a:solidFill>
              <a:srgbClr val="1D7CF2"/>
            </a:solidFill>
            <a:prstDash val="solid"/>
          </a:ln>
        </p:spPr>
      </p:sp>
      <p:sp>
        <p:nvSpPr>
          <p:cNvPr id="11" name="Text 9"/>
          <p:cNvSpPr/>
          <p:nvPr/>
        </p:nvSpPr>
        <p:spPr>
          <a:xfrm>
            <a:off x="987552" y="3008376"/>
            <a:ext cx="566928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实时行情被转换为持续流动的消息，后续计算更稳定。</a:t>
            </a:r>
            <a:endParaRPr lang="en-US" sz="1040" dirty="0"/>
          </a:p>
        </p:txBody>
      </p:sp>
      <p:sp>
        <p:nvSpPr>
          <p:cNvPr id="12" name="Shape 10"/>
          <p:cNvSpPr/>
          <p:nvPr/>
        </p:nvSpPr>
        <p:spPr>
          <a:xfrm>
            <a:off x="6949440" y="1463040"/>
            <a:ext cx="4023360" cy="914400"/>
          </a:xfrm>
          <a:prstGeom prst="roundRect">
            <a:avLst>
              <a:gd name="adj" fmla="val 8000"/>
            </a:avLst>
          </a:prstGeom>
          <a:solidFill>
            <a:srgbClr val="0F172A"/>
          </a:solidFill>
          <a:ln w="12700">
            <a:solidFill>
              <a:srgbClr val="1E293B"/>
            </a:solidFill>
            <a:prstDash val="solid"/>
          </a:ln>
        </p:spPr>
      </p:sp>
      <p:sp>
        <p:nvSpPr>
          <p:cNvPr id="13" name="Text 11"/>
          <p:cNvSpPr/>
          <p:nvPr/>
        </p:nvSpPr>
        <p:spPr>
          <a:xfrm>
            <a:off x="7095744" y="1609344"/>
            <a:ext cx="3730752" cy="658368"/>
          </a:xfrm>
          <a:prstGeom prst="rect">
            <a:avLst/>
          </a:prstGeom>
          <a:noFill/>
        </p:spPr>
        <p:txBody>
          <a:bodyPr wrap="square" lIns="0" tIns="0" rIns="0" bIns="0" rtlCol="0" anchor="ctr">
            <a:normAutofit/>
          </a:bodyPr>
          <a:lstStyle/>
          <a:p>
            <a:pPr marL="0" indent="0">
              <a:buNone/>
            </a:pPr>
            <a:r>
              <a:rPr lang="en-US" sz="1050" dirty="0">
                <a:solidFill>
                  <a:srgbClr val="D8EAFE"/>
                </a:solidFill>
                <a:latin typeface="Consolas" panose="020B0609020204030204" pitchFamily="34" charset="0"/>
                <a:ea typeface="Consolas" panose="020B0609020204030204" pitchFamily="34" charset="-122"/>
                <a:cs typeface="Consolas" panose="020B0609020204030204" pitchFamily="34" charset="-120"/>
              </a:rPr>
              <a:t>KAFKA_BOOTSTRAP_SERVERS=127.0.0.1:9092</a:t>
            </a:r>
            <a:endParaRPr lang="en-US" sz="1050" dirty="0"/>
          </a:p>
          <a:p>
            <a:pPr marL="0" indent="0">
              <a:buNone/>
            </a:pPr>
            <a:r>
              <a:rPr lang="en-US" sz="1050" dirty="0">
                <a:solidFill>
                  <a:srgbClr val="D8EAFE"/>
                </a:solidFill>
                <a:latin typeface="Consolas" panose="020B0609020204030204" pitchFamily="34" charset="0"/>
                <a:ea typeface="Consolas" panose="020B0609020204030204" pitchFamily="34" charset="-122"/>
                <a:cs typeface="Consolas" panose="020B0609020204030204" pitchFamily="34" charset="-120"/>
              </a:rPr>
              <a:t>KAFKA_TOPIC=stock_realtime_topic</a:t>
            </a:r>
            <a:endParaRPr lang="en-US" sz="1050" dirty="0"/>
          </a:p>
        </p:txBody>
      </p:sp>
      <p:sp>
        <p:nvSpPr>
          <p:cNvPr id="14" name="Shape 12"/>
          <p:cNvSpPr/>
          <p:nvPr/>
        </p:nvSpPr>
        <p:spPr>
          <a:xfrm>
            <a:off x="6949440" y="3200400"/>
            <a:ext cx="3383280" cy="0"/>
          </a:xfrm>
          <a:prstGeom prst="line">
            <a:avLst/>
          </a:prstGeom>
          <a:noFill/>
          <a:ln w="38100">
            <a:solidFill>
              <a:srgbClr val="F59E0B"/>
            </a:solidFill>
            <a:prstDash val="solid"/>
          </a:ln>
        </p:spPr>
      </p:sp>
      <p:sp>
        <p:nvSpPr>
          <p:cNvPr id="15" name="Text 13"/>
          <p:cNvSpPr/>
          <p:nvPr/>
        </p:nvSpPr>
        <p:spPr>
          <a:xfrm>
            <a:off x="6949440" y="3547872"/>
            <a:ext cx="1188720" cy="182880"/>
          </a:xfrm>
          <a:prstGeom prst="rect">
            <a:avLst/>
          </a:prstGeom>
          <a:noFill/>
        </p:spPr>
        <p:txBody>
          <a:bodyPr wrap="square" lIns="0" tIns="0" rIns="0" bIns="0" rtlCol="0" anchor="ctr"/>
          <a:lstStyle/>
          <a:p>
            <a:pPr marL="0" indent="0">
              <a:buNone/>
            </a:pPr>
            <a:r>
              <a:rPr lang="en-US" sz="930" b="1" dirty="0">
                <a:solidFill>
                  <a:srgbClr val="F59E0B"/>
                </a:solidFill>
                <a:latin typeface="微软雅黑" panose="020B0503020204020204" pitchFamily="34" charset="-122"/>
                <a:ea typeface="微软雅黑" panose="020B0503020204020204" pitchFamily="34" charset="-122"/>
                <a:cs typeface="微软雅黑" panose="020B0503020204020204" pitchFamily="34" charset="-120"/>
              </a:rPr>
              <a:t>讲解重点</a:t>
            </a:r>
            <a:endParaRPr lang="en-US" sz="930" dirty="0"/>
          </a:p>
        </p:txBody>
      </p:sp>
      <p:sp>
        <p:nvSpPr>
          <p:cNvPr id="16" name="Text 14"/>
          <p:cNvSpPr/>
          <p:nvPr/>
        </p:nvSpPr>
        <p:spPr>
          <a:xfrm>
            <a:off x="6949440" y="3886200"/>
            <a:ext cx="3840480" cy="658368"/>
          </a:xfrm>
          <a:prstGeom prst="rect">
            <a:avLst/>
          </a:prstGeom>
          <a:noFill/>
        </p:spPr>
        <p:txBody>
          <a:bodyPr wrap="square" lIns="0" tIns="0" rIns="0" bIns="0" rtlCol="0" anchor="ctr">
            <a:normAutofit/>
          </a:bodyPr>
          <a:lstStyle/>
          <a:p>
            <a:pPr marL="0" indent="0">
              <a:buNone/>
            </a:pPr>
            <a:r>
              <a:rPr lang="en-US" sz="123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Kafka 的作用是把实时行情变成持续流动的消息，让后面的 Spark 可以稳定消费。</a:t>
            </a:r>
            <a:endParaRPr lang="en-US" sz="1230" dirty="0"/>
          </a:p>
        </p:txBody>
      </p:sp>
      <p:sp>
        <p:nvSpPr>
          <p:cNvPr id="17" name="Text 15"/>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18" name="Text 16"/>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如何读取实时行情流</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对应文件：python/spark/stock_streaming_job.py</a:t>
            </a:r>
            <a:endParaRPr lang="en-US" sz="950" dirty="0"/>
          </a:p>
        </p:txBody>
      </p:sp>
      <p:sp>
        <p:nvSpPr>
          <p:cNvPr id="4" name="Shape 2"/>
          <p:cNvSpPr/>
          <p:nvPr/>
        </p:nvSpPr>
        <p:spPr>
          <a:xfrm>
            <a:off x="777240" y="1298448"/>
            <a:ext cx="5623560" cy="3246120"/>
          </a:xfrm>
          <a:prstGeom prst="roundRect">
            <a:avLst>
              <a:gd name="adj" fmla="val 2254"/>
            </a:avLst>
          </a:prstGeom>
          <a:solidFill>
            <a:srgbClr val="0F172A"/>
          </a:solidFill>
          <a:ln w="12700">
            <a:solidFill>
              <a:srgbClr val="1E293B"/>
            </a:solidFill>
            <a:prstDash val="solid"/>
          </a:ln>
        </p:spPr>
      </p:sp>
      <p:sp>
        <p:nvSpPr>
          <p:cNvPr id="5" name="Text 3"/>
          <p:cNvSpPr/>
          <p:nvPr/>
        </p:nvSpPr>
        <p:spPr>
          <a:xfrm>
            <a:off x="923544" y="1444752"/>
            <a:ext cx="5330952" cy="2990088"/>
          </a:xfrm>
          <a:prstGeom prst="rect">
            <a:avLst/>
          </a:prstGeom>
          <a:noFill/>
        </p:spPr>
        <p:txBody>
          <a:bodyPr wrap="square" lIns="0" tIns="0" rIns="0" bIns="0" rtlCol="0" anchor="ctr">
            <a:normAutofit/>
          </a:bodyPr>
          <a:lstStyle/>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raw = (</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spark.readStream.format('kafka')</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.option('kafka.bootstrap.servers', settings.kafka_bootstrap_servers)</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.option('subscribe', settings.kafka_topic)</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.option('startingOffsets', 'latest')</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.option('failOnDataLoss', 'false')</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    .load()</a:t>
            </a:r>
            <a:endParaRPr lang="en-US" sz="810" dirty="0"/>
          </a:p>
          <a:p>
            <a:pPr marL="0" indent="0">
              <a:buNone/>
            </a:pPr>
            <a:r>
              <a:rPr lang="en-US" sz="81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810" dirty="0"/>
          </a:p>
        </p:txBody>
      </p:sp>
      <p:sp>
        <p:nvSpPr>
          <p:cNvPr id="6" name="Shape 4"/>
          <p:cNvSpPr/>
          <p:nvPr/>
        </p:nvSpPr>
        <p:spPr>
          <a:xfrm>
            <a:off x="6766560" y="1499616"/>
            <a:ext cx="73152" cy="73152"/>
          </a:xfrm>
          <a:prstGeom prst="ellipse">
            <a:avLst/>
          </a:prstGeom>
          <a:solidFill>
            <a:srgbClr val="1D7CF2"/>
          </a:solidFill>
          <a:ln w="12700">
            <a:solidFill>
              <a:srgbClr val="1D7CF2"/>
            </a:solidFill>
            <a:prstDash val="solid"/>
          </a:ln>
        </p:spPr>
      </p:sp>
      <p:sp>
        <p:nvSpPr>
          <p:cNvPr id="7" name="Text 5"/>
          <p:cNvSpPr/>
          <p:nvPr/>
        </p:nvSpPr>
        <p:spPr>
          <a:xfrm>
            <a:off x="6931152" y="1417320"/>
            <a:ext cx="4114800" cy="310896"/>
          </a:xfrm>
          <a:prstGeom prst="rect">
            <a:avLst/>
          </a:prstGeom>
          <a:noFill/>
        </p:spPr>
        <p:txBody>
          <a:bodyPr wrap="square" lIns="0" tIns="0" rIns="0" bIns="0" rtlCol="0" anchor="ctr">
            <a:normAutofit/>
          </a:bodyPr>
          <a:lstStyle/>
          <a:p>
            <a:pPr marL="0" indent="0">
              <a:buNone/>
            </a:pPr>
            <a:r>
              <a:rPr lang="en-US" sz="9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readStream 表示持续读取数据流。</a:t>
            </a:r>
            <a:endParaRPr lang="en-US" sz="940" dirty="0"/>
          </a:p>
        </p:txBody>
      </p:sp>
      <p:sp>
        <p:nvSpPr>
          <p:cNvPr id="8" name="Shape 6"/>
          <p:cNvSpPr/>
          <p:nvPr/>
        </p:nvSpPr>
        <p:spPr>
          <a:xfrm>
            <a:off x="6766560" y="1975104"/>
            <a:ext cx="73152" cy="73152"/>
          </a:xfrm>
          <a:prstGeom prst="ellipse">
            <a:avLst/>
          </a:prstGeom>
          <a:solidFill>
            <a:srgbClr val="1D7CF2"/>
          </a:solidFill>
          <a:ln w="12700">
            <a:solidFill>
              <a:srgbClr val="1D7CF2"/>
            </a:solidFill>
            <a:prstDash val="solid"/>
          </a:ln>
        </p:spPr>
      </p:sp>
      <p:sp>
        <p:nvSpPr>
          <p:cNvPr id="9" name="Text 7"/>
          <p:cNvSpPr/>
          <p:nvPr/>
        </p:nvSpPr>
        <p:spPr>
          <a:xfrm>
            <a:off x="6931152" y="1892808"/>
            <a:ext cx="4114800" cy="310896"/>
          </a:xfrm>
          <a:prstGeom prst="rect">
            <a:avLst/>
          </a:prstGeom>
          <a:noFill/>
        </p:spPr>
        <p:txBody>
          <a:bodyPr wrap="square" lIns="0" tIns="0" rIns="0" bIns="0" rtlCol="0" anchor="ctr">
            <a:normAutofit/>
          </a:bodyPr>
          <a:lstStyle/>
          <a:p>
            <a:pPr marL="0" indent="0">
              <a:buNone/>
            </a:pPr>
            <a:r>
              <a:rPr lang="en-US" sz="9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format('kafka') 表示数据来源是 Kafka。</a:t>
            </a:r>
            <a:endParaRPr lang="en-US" sz="940" dirty="0"/>
          </a:p>
        </p:txBody>
      </p:sp>
      <p:sp>
        <p:nvSpPr>
          <p:cNvPr id="10" name="Shape 8"/>
          <p:cNvSpPr/>
          <p:nvPr/>
        </p:nvSpPr>
        <p:spPr>
          <a:xfrm>
            <a:off x="6766560" y="2450592"/>
            <a:ext cx="73152" cy="73152"/>
          </a:xfrm>
          <a:prstGeom prst="ellipse">
            <a:avLst/>
          </a:prstGeom>
          <a:solidFill>
            <a:srgbClr val="1D7CF2"/>
          </a:solidFill>
          <a:ln w="12700">
            <a:solidFill>
              <a:srgbClr val="1D7CF2"/>
            </a:solidFill>
            <a:prstDash val="solid"/>
          </a:ln>
        </p:spPr>
      </p:sp>
      <p:sp>
        <p:nvSpPr>
          <p:cNvPr id="11" name="Text 9"/>
          <p:cNvSpPr/>
          <p:nvPr/>
        </p:nvSpPr>
        <p:spPr>
          <a:xfrm>
            <a:off x="6931152" y="2368296"/>
            <a:ext cx="4114800" cy="310896"/>
          </a:xfrm>
          <a:prstGeom prst="rect">
            <a:avLst/>
          </a:prstGeom>
          <a:noFill/>
        </p:spPr>
        <p:txBody>
          <a:bodyPr wrap="square" lIns="0" tIns="0" rIns="0" bIns="0" rtlCol="0" anchor="ctr">
            <a:normAutofit/>
          </a:bodyPr>
          <a:lstStyle/>
          <a:p>
            <a:pPr marL="0" indent="0">
              <a:buNone/>
            </a:pPr>
            <a:r>
              <a:rPr lang="en-US" sz="9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subscribe 指定消费哪个 topic。</a:t>
            </a:r>
            <a:endParaRPr lang="en-US" sz="940" dirty="0"/>
          </a:p>
        </p:txBody>
      </p:sp>
      <p:sp>
        <p:nvSpPr>
          <p:cNvPr id="12" name="Shape 10"/>
          <p:cNvSpPr/>
          <p:nvPr/>
        </p:nvSpPr>
        <p:spPr>
          <a:xfrm>
            <a:off x="6766560" y="2926080"/>
            <a:ext cx="73152" cy="73152"/>
          </a:xfrm>
          <a:prstGeom prst="ellipse">
            <a:avLst/>
          </a:prstGeom>
          <a:solidFill>
            <a:srgbClr val="1D7CF2"/>
          </a:solidFill>
          <a:ln w="12700">
            <a:solidFill>
              <a:srgbClr val="1D7CF2"/>
            </a:solidFill>
            <a:prstDash val="solid"/>
          </a:ln>
        </p:spPr>
      </p:sp>
      <p:sp>
        <p:nvSpPr>
          <p:cNvPr id="13" name="Text 11"/>
          <p:cNvSpPr/>
          <p:nvPr/>
        </p:nvSpPr>
        <p:spPr>
          <a:xfrm>
            <a:off x="6931152" y="2843784"/>
            <a:ext cx="4114800" cy="310896"/>
          </a:xfrm>
          <a:prstGeom prst="rect">
            <a:avLst/>
          </a:prstGeom>
          <a:noFill/>
        </p:spPr>
        <p:txBody>
          <a:bodyPr wrap="square" lIns="0" tIns="0" rIns="0" bIns="0" rtlCol="0" anchor="ctr">
            <a:normAutofit/>
          </a:bodyPr>
          <a:lstStyle/>
          <a:p>
            <a:pPr marL="0" indent="0">
              <a:buNone/>
            </a:pPr>
            <a:r>
              <a:rPr lang="en-US" sz="9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startingOffsets='latest' 适合实时演示。</a:t>
            </a:r>
            <a:endParaRPr lang="en-US" sz="940" dirty="0"/>
          </a:p>
        </p:txBody>
      </p:sp>
      <p:sp>
        <p:nvSpPr>
          <p:cNvPr id="14" name="Shape 12"/>
          <p:cNvSpPr/>
          <p:nvPr/>
        </p:nvSpPr>
        <p:spPr>
          <a:xfrm>
            <a:off x="6766560" y="3401568"/>
            <a:ext cx="73152" cy="73152"/>
          </a:xfrm>
          <a:prstGeom prst="ellipse">
            <a:avLst/>
          </a:prstGeom>
          <a:solidFill>
            <a:srgbClr val="1D7CF2"/>
          </a:solidFill>
          <a:ln w="12700">
            <a:solidFill>
              <a:srgbClr val="1D7CF2"/>
            </a:solidFill>
            <a:prstDash val="solid"/>
          </a:ln>
        </p:spPr>
      </p:sp>
      <p:sp>
        <p:nvSpPr>
          <p:cNvPr id="15" name="Text 13"/>
          <p:cNvSpPr/>
          <p:nvPr/>
        </p:nvSpPr>
        <p:spPr>
          <a:xfrm>
            <a:off x="6931152" y="3319272"/>
            <a:ext cx="4114800" cy="310896"/>
          </a:xfrm>
          <a:prstGeom prst="rect">
            <a:avLst/>
          </a:prstGeom>
          <a:noFill/>
        </p:spPr>
        <p:txBody>
          <a:bodyPr wrap="square" lIns="0" tIns="0" rIns="0" bIns="0" rtlCol="0" anchor="ctr">
            <a:normAutofit/>
          </a:bodyPr>
          <a:lstStyle/>
          <a:p>
            <a:pPr marL="0" indent="0">
              <a:buNone/>
            </a:pPr>
            <a:r>
              <a:rPr lang="en-US" sz="9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failOnDataLoss=false 增强容错性。</a:t>
            </a:r>
            <a:endParaRPr lang="en-US" sz="940" dirty="0"/>
          </a:p>
        </p:txBody>
      </p:sp>
      <p:sp>
        <p:nvSpPr>
          <p:cNvPr id="16" name="Shape 14"/>
          <p:cNvSpPr/>
          <p:nvPr/>
        </p:nvSpPr>
        <p:spPr>
          <a:xfrm>
            <a:off x="822960" y="5257800"/>
            <a:ext cx="9784080" cy="0"/>
          </a:xfrm>
          <a:prstGeom prst="line">
            <a:avLst/>
          </a:prstGeom>
          <a:noFill/>
          <a:ln w="25400">
            <a:solidFill>
              <a:srgbClr val="18A058"/>
            </a:solidFill>
            <a:prstDash val="solid"/>
          </a:ln>
        </p:spPr>
      </p:sp>
      <p:sp>
        <p:nvSpPr>
          <p:cNvPr id="17" name="Text 15"/>
          <p:cNvSpPr/>
          <p:nvPr/>
        </p:nvSpPr>
        <p:spPr>
          <a:xfrm>
            <a:off x="822960" y="5422392"/>
            <a:ext cx="978408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读取的是一条持续流，不是一次性静态文件。</a:t>
            </a:r>
            <a:endParaRPr lang="en-US" sz="1140" dirty="0"/>
          </a:p>
        </p:txBody>
      </p:sp>
      <p:sp>
        <p:nvSpPr>
          <p:cNvPr id="18" name="Text 16"/>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19" name="Text 17"/>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Kafka 消息如何变成结构化行情表</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JSON 解析与字段标准化</a:t>
            </a:r>
            <a:endParaRPr lang="en-US" sz="950" dirty="0"/>
          </a:p>
        </p:txBody>
      </p:sp>
      <p:sp>
        <p:nvSpPr>
          <p:cNvPr id="4" name="Shape 2"/>
          <p:cNvSpPr/>
          <p:nvPr/>
        </p:nvSpPr>
        <p:spPr>
          <a:xfrm>
            <a:off x="777240" y="1234440"/>
            <a:ext cx="5669280" cy="3749040"/>
          </a:xfrm>
          <a:prstGeom prst="roundRect">
            <a:avLst>
              <a:gd name="adj" fmla="val 1951"/>
            </a:avLst>
          </a:prstGeom>
          <a:solidFill>
            <a:srgbClr val="0F172A"/>
          </a:solidFill>
          <a:ln w="12700">
            <a:solidFill>
              <a:srgbClr val="1E293B"/>
            </a:solidFill>
            <a:prstDash val="solid"/>
          </a:ln>
        </p:spPr>
      </p:sp>
      <p:sp>
        <p:nvSpPr>
          <p:cNvPr id="5" name="Text 3"/>
          <p:cNvSpPr/>
          <p:nvPr/>
        </p:nvSpPr>
        <p:spPr>
          <a:xfrm>
            <a:off x="923544" y="1380744"/>
            <a:ext cx="5376672" cy="3493008"/>
          </a:xfrm>
          <a:prstGeom prst="rect">
            <a:avLst/>
          </a:prstGeom>
          <a:noFill/>
        </p:spPr>
        <p:txBody>
          <a:bodyPr wrap="square" lIns="0" tIns="0" rIns="0" bIns="0" rtlCol="0" anchor="ctr">
            <a:normAutofit/>
          </a:bodyPr>
          <a:lstStyle/>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parsed = raw.select(</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F.from_json(</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F.col('value').cast('string'),</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event_schema()</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).alias('data')</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).select('data.*')</a:t>
            </a:r>
            <a:endParaRPr lang="en-US" sz="740" dirty="0"/>
          </a:p>
          <a:p>
            <a:pPr marL="0" indent="0">
              <a:buNone/>
            </a:pP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parsed = parsed.withColumn(</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'event_time',</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    F.to_timestamp('event_time', 'yyyy-MM-dd HH:mm:ss')</a:t>
            </a:r>
            <a:endParaRPr lang="en-US" sz="740" dirty="0"/>
          </a:p>
          <a:p>
            <a:pPr marL="0" indent="0">
              <a:buNone/>
            </a:pPr>
            <a:r>
              <a:rPr lang="en-US" sz="74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740" dirty="0"/>
          </a:p>
        </p:txBody>
      </p:sp>
      <p:sp>
        <p:nvSpPr>
          <p:cNvPr id="6" name="Shape 4"/>
          <p:cNvSpPr/>
          <p:nvPr/>
        </p:nvSpPr>
        <p:spPr>
          <a:xfrm>
            <a:off x="6766560" y="1408176"/>
            <a:ext cx="73152" cy="73152"/>
          </a:xfrm>
          <a:prstGeom prst="ellipse">
            <a:avLst/>
          </a:prstGeom>
          <a:solidFill>
            <a:srgbClr val="1D7CF2"/>
          </a:solidFill>
          <a:ln w="12700">
            <a:solidFill>
              <a:srgbClr val="1D7CF2"/>
            </a:solidFill>
            <a:prstDash val="solid"/>
          </a:ln>
        </p:spPr>
      </p:sp>
      <p:sp>
        <p:nvSpPr>
          <p:cNvPr id="7" name="Text 5"/>
          <p:cNvSpPr/>
          <p:nvPr/>
        </p:nvSpPr>
        <p:spPr>
          <a:xfrm>
            <a:off x="6931152" y="1325880"/>
            <a:ext cx="402336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Kafka 中的 value 是 JSON 字符串。</a:t>
            </a:r>
            <a:endParaRPr lang="en-US" sz="920" dirty="0"/>
          </a:p>
        </p:txBody>
      </p:sp>
      <p:sp>
        <p:nvSpPr>
          <p:cNvPr id="8" name="Shape 6"/>
          <p:cNvSpPr/>
          <p:nvPr/>
        </p:nvSpPr>
        <p:spPr>
          <a:xfrm>
            <a:off x="6766560" y="1865376"/>
            <a:ext cx="73152" cy="73152"/>
          </a:xfrm>
          <a:prstGeom prst="ellipse">
            <a:avLst/>
          </a:prstGeom>
          <a:solidFill>
            <a:srgbClr val="1D7CF2"/>
          </a:solidFill>
          <a:ln w="12700">
            <a:solidFill>
              <a:srgbClr val="1D7CF2"/>
            </a:solidFill>
            <a:prstDash val="solid"/>
          </a:ln>
        </p:spPr>
      </p:sp>
      <p:sp>
        <p:nvSpPr>
          <p:cNvPr id="9" name="Text 7"/>
          <p:cNvSpPr/>
          <p:nvPr/>
        </p:nvSpPr>
        <p:spPr>
          <a:xfrm>
            <a:off x="6931152" y="1783080"/>
            <a:ext cx="402336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event_schema() 定义字段结构。</a:t>
            </a:r>
            <a:endParaRPr lang="en-US" sz="920" dirty="0"/>
          </a:p>
        </p:txBody>
      </p:sp>
      <p:sp>
        <p:nvSpPr>
          <p:cNvPr id="10" name="Shape 8"/>
          <p:cNvSpPr/>
          <p:nvPr/>
        </p:nvSpPr>
        <p:spPr>
          <a:xfrm>
            <a:off x="6766560" y="2322576"/>
            <a:ext cx="73152" cy="73152"/>
          </a:xfrm>
          <a:prstGeom prst="ellipse">
            <a:avLst/>
          </a:prstGeom>
          <a:solidFill>
            <a:srgbClr val="1D7CF2"/>
          </a:solidFill>
          <a:ln w="12700">
            <a:solidFill>
              <a:srgbClr val="1D7CF2"/>
            </a:solidFill>
            <a:prstDash val="solid"/>
          </a:ln>
        </p:spPr>
      </p:sp>
      <p:sp>
        <p:nvSpPr>
          <p:cNvPr id="11" name="Text 9"/>
          <p:cNvSpPr/>
          <p:nvPr/>
        </p:nvSpPr>
        <p:spPr>
          <a:xfrm>
            <a:off x="6931152" y="2240280"/>
            <a:ext cx="402336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from_json() 将 JSON 转成 Spark DataFrame。</a:t>
            </a:r>
            <a:endParaRPr lang="en-US" sz="920" dirty="0"/>
          </a:p>
        </p:txBody>
      </p:sp>
      <p:sp>
        <p:nvSpPr>
          <p:cNvPr id="12" name="Shape 10"/>
          <p:cNvSpPr/>
          <p:nvPr/>
        </p:nvSpPr>
        <p:spPr>
          <a:xfrm>
            <a:off x="6766560" y="2779776"/>
            <a:ext cx="73152" cy="73152"/>
          </a:xfrm>
          <a:prstGeom prst="ellipse">
            <a:avLst/>
          </a:prstGeom>
          <a:solidFill>
            <a:srgbClr val="1D7CF2"/>
          </a:solidFill>
          <a:ln w="12700">
            <a:solidFill>
              <a:srgbClr val="1D7CF2"/>
            </a:solidFill>
            <a:prstDash val="solid"/>
          </a:ln>
        </p:spPr>
      </p:sp>
      <p:sp>
        <p:nvSpPr>
          <p:cNvPr id="13" name="Text 11"/>
          <p:cNvSpPr/>
          <p:nvPr/>
        </p:nvSpPr>
        <p:spPr>
          <a:xfrm>
            <a:off x="6931152" y="2697480"/>
            <a:ext cx="402336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event_time 转为时间类型，用于窗口统计和排序。</a:t>
            </a:r>
            <a:endParaRPr lang="en-US" sz="920" dirty="0"/>
          </a:p>
        </p:txBody>
      </p:sp>
      <p:sp>
        <p:nvSpPr>
          <p:cNvPr id="14" name="Text 12"/>
          <p:cNvSpPr/>
          <p:nvPr/>
        </p:nvSpPr>
        <p:spPr>
          <a:xfrm>
            <a:off x="6784975" y="3822065"/>
            <a:ext cx="3977640" cy="838200"/>
          </a:xfrm>
          <a:prstGeom prst="rect">
            <a:avLst/>
          </a:prstGeom>
          <a:noFill/>
        </p:spPr>
        <p:txBody>
          <a:bodyPr wrap="square" lIns="0" tIns="0" rIns="0" bIns="0" rtlCol="0" anchor="ctr">
            <a:normAutofit/>
          </a:bodyPr>
          <a:lstStyle/>
          <a:p>
            <a:pPr marL="0" indent="0">
              <a:buNone/>
            </a:pPr>
            <a:r>
              <a:rPr lang="en-US" sz="820" b="1" dirty="0">
                <a:solidFill>
                  <a:srgbClr val="1D7CF2"/>
                </a:solidFill>
                <a:latin typeface="Consolas" panose="020B0609020204030204" pitchFamily="34" charset="0"/>
                <a:ea typeface="Consolas" panose="020B0609020204030204" pitchFamily="34" charset="-122"/>
                <a:cs typeface="Consolas" panose="020B0609020204030204" pitchFamily="34" charset="-120"/>
              </a:rPr>
              <a:t>字段：symbol / company_name / market / last_price / change_pct / volume / turnover / event_time / source</a:t>
            </a:r>
            <a:endParaRPr lang="en-US" sz="820" dirty="0"/>
          </a:p>
        </p:txBody>
      </p:sp>
      <p:sp>
        <p:nvSpPr>
          <p:cNvPr id="15" name="Text 13"/>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16" name="Text 14"/>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进入实时分析前的数据清洗</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实时系统最怕脏数据直接进入分析，因此 Spark 入口先做基础质量过滤</a:t>
            </a:r>
            <a:endParaRPr lang="en-US" sz="950" dirty="0"/>
          </a:p>
        </p:txBody>
      </p:sp>
      <p:sp>
        <p:nvSpPr>
          <p:cNvPr id="4" name="Shape 2"/>
          <p:cNvSpPr/>
          <p:nvPr/>
        </p:nvSpPr>
        <p:spPr>
          <a:xfrm>
            <a:off x="777240" y="1234440"/>
            <a:ext cx="5760720" cy="3611880"/>
          </a:xfrm>
          <a:prstGeom prst="roundRect">
            <a:avLst>
              <a:gd name="adj" fmla="val 2025"/>
            </a:avLst>
          </a:prstGeom>
          <a:solidFill>
            <a:srgbClr val="0F172A"/>
          </a:solidFill>
          <a:ln w="12700">
            <a:solidFill>
              <a:srgbClr val="1E293B"/>
            </a:solidFill>
            <a:prstDash val="solid"/>
          </a:ln>
        </p:spPr>
      </p:sp>
      <p:sp>
        <p:nvSpPr>
          <p:cNvPr id="5" name="Text 3"/>
          <p:cNvSpPr/>
          <p:nvPr/>
        </p:nvSpPr>
        <p:spPr>
          <a:xfrm>
            <a:off x="923544" y="1380744"/>
            <a:ext cx="5468112" cy="3355848"/>
          </a:xfrm>
          <a:prstGeom prst="rect">
            <a:avLst/>
          </a:prstGeom>
          <a:noFill/>
        </p:spPr>
        <p:txBody>
          <a:bodyPr wrap="square" lIns="0" tIns="0" rIns="0" bIns="0" rtlCol="0" anchor="ctr">
            <a:normAutofit/>
          </a:bodyPr>
          <a:lstStyle/>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return parsed.filter(</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(F.col('last_price') &gt; 0)</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&amp; (F.col('volume') &gt; 0)</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&amp; (</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(market.isin('SH', 'SZ', 'BJ')</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&amp; (F.abs(F.col('change_pct')) &lt; 11.0))</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 ((market == 'HK')</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&amp; (F.abs(F.col('change_pct')) &lt; 50.0))</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    )</a:t>
            </a:r>
            <a:endParaRPr lang="en-US" sz="760" dirty="0"/>
          </a:p>
          <a:p>
            <a:pPr marL="0" indent="0">
              <a:buNone/>
            </a:pPr>
            <a:r>
              <a:rPr lang="en-US" sz="76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760" dirty="0"/>
          </a:p>
        </p:txBody>
      </p:sp>
      <p:sp>
        <p:nvSpPr>
          <p:cNvPr id="6" name="Shape 4"/>
          <p:cNvSpPr/>
          <p:nvPr/>
        </p:nvSpPr>
        <p:spPr>
          <a:xfrm>
            <a:off x="6903720" y="1417320"/>
            <a:ext cx="4480560" cy="475488"/>
          </a:xfrm>
          <a:prstGeom prst="rect">
            <a:avLst/>
          </a:prstGeom>
          <a:solidFill>
            <a:srgbClr val="0B1F36"/>
          </a:solidFill>
          <a:ln w="12700">
            <a:solidFill>
              <a:srgbClr val="D7E0EA">
                <a:alpha val="0"/>
              </a:srgbClr>
            </a:solidFill>
            <a:prstDash val="solid"/>
          </a:ln>
        </p:spPr>
      </p:sp>
      <p:sp>
        <p:nvSpPr>
          <p:cNvPr id="7" name="Text 5"/>
          <p:cNvSpPr/>
          <p:nvPr/>
        </p:nvSpPr>
        <p:spPr>
          <a:xfrm>
            <a:off x="6976872" y="1517904"/>
            <a:ext cx="1682496" cy="34747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规则</a:t>
            </a:r>
            <a:endParaRPr lang="en-US" sz="860" dirty="0"/>
          </a:p>
        </p:txBody>
      </p:sp>
      <p:sp>
        <p:nvSpPr>
          <p:cNvPr id="8" name="Text 6"/>
          <p:cNvSpPr/>
          <p:nvPr/>
        </p:nvSpPr>
        <p:spPr>
          <a:xfrm>
            <a:off x="8805672" y="1517904"/>
            <a:ext cx="2505456" cy="34747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作用</a:t>
            </a:r>
            <a:endParaRPr lang="en-US" sz="860" dirty="0"/>
          </a:p>
        </p:txBody>
      </p:sp>
      <p:sp>
        <p:nvSpPr>
          <p:cNvPr id="9" name="Shape 7"/>
          <p:cNvSpPr/>
          <p:nvPr/>
        </p:nvSpPr>
        <p:spPr>
          <a:xfrm>
            <a:off x="6903720" y="1892808"/>
            <a:ext cx="4480560" cy="475488"/>
          </a:xfrm>
          <a:prstGeom prst="rect">
            <a:avLst/>
          </a:prstGeom>
          <a:solidFill>
            <a:srgbClr val="FFFFFF"/>
          </a:solidFill>
          <a:ln w="12700">
            <a:solidFill>
              <a:srgbClr val="D7E0EA">
                <a:alpha val="75000"/>
              </a:srgbClr>
            </a:solidFill>
            <a:prstDash val="solid"/>
          </a:ln>
        </p:spPr>
      </p:sp>
      <p:sp>
        <p:nvSpPr>
          <p:cNvPr id="10" name="Text 8"/>
          <p:cNvSpPr/>
          <p:nvPr/>
        </p:nvSpPr>
        <p:spPr>
          <a:xfrm>
            <a:off x="6976872" y="1993392"/>
            <a:ext cx="16824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last_price &gt; 0</a:t>
            </a:r>
            <a:endParaRPr lang="en-US" sz="810" dirty="0"/>
          </a:p>
        </p:txBody>
      </p:sp>
      <p:sp>
        <p:nvSpPr>
          <p:cNvPr id="11" name="Text 9"/>
          <p:cNvSpPr/>
          <p:nvPr/>
        </p:nvSpPr>
        <p:spPr>
          <a:xfrm>
            <a:off x="8805672" y="1993392"/>
            <a:ext cx="250545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过滤价格异常数据</a:t>
            </a:r>
            <a:endParaRPr lang="en-US" sz="810" dirty="0"/>
          </a:p>
        </p:txBody>
      </p:sp>
      <p:sp>
        <p:nvSpPr>
          <p:cNvPr id="12" name="Shape 10"/>
          <p:cNvSpPr/>
          <p:nvPr/>
        </p:nvSpPr>
        <p:spPr>
          <a:xfrm>
            <a:off x="6903720" y="2368296"/>
            <a:ext cx="4480560" cy="475488"/>
          </a:xfrm>
          <a:prstGeom prst="rect">
            <a:avLst/>
          </a:prstGeom>
          <a:solidFill>
            <a:srgbClr val="EEF5FC"/>
          </a:solidFill>
          <a:ln w="12700">
            <a:solidFill>
              <a:srgbClr val="D7E0EA">
                <a:alpha val="75000"/>
              </a:srgbClr>
            </a:solidFill>
            <a:prstDash val="solid"/>
          </a:ln>
        </p:spPr>
      </p:sp>
      <p:sp>
        <p:nvSpPr>
          <p:cNvPr id="13" name="Text 11"/>
          <p:cNvSpPr/>
          <p:nvPr/>
        </p:nvSpPr>
        <p:spPr>
          <a:xfrm>
            <a:off x="6976872" y="2468880"/>
            <a:ext cx="16824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volume &gt; 0</a:t>
            </a:r>
            <a:endParaRPr lang="en-US" sz="810" dirty="0"/>
          </a:p>
        </p:txBody>
      </p:sp>
      <p:sp>
        <p:nvSpPr>
          <p:cNvPr id="14" name="Text 12"/>
          <p:cNvSpPr/>
          <p:nvPr/>
        </p:nvSpPr>
        <p:spPr>
          <a:xfrm>
            <a:off x="8805672" y="2468880"/>
            <a:ext cx="250545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过滤无成交量数据</a:t>
            </a:r>
            <a:endParaRPr lang="en-US" sz="810" dirty="0"/>
          </a:p>
        </p:txBody>
      </p:sp>
      <p:sp>
        <p:nvSpPr>
          <p:cNvPr id="15" name="Shape 13"/>
          <p:cNvSpPr/>
          <p:nvPr/>
        </p:nvSpPr>
        <p:spPr>
          <a:xfrm>
            <a:off x="6903720" y="2843784"/>
            <a:ext cx="4480560" cy="475488"/>
          </a:xfrm>
          <a:prstGeom prst="rect">
            <a:avLst/>
          </a:prstGeom>
          <a:solidFill>
            <a:srgbClr val="FFFFFF"/>
          </a:solidFill>
          <a:ln w="12700">
            <a:solidFill>
              <a:srgbClr val="D7E0EA">
                <a:alpha val="75000"/>
              </a:srgbClr>
            </a:solidFill>
            <a:prstDash val="solid"/>
          </a:ln>
        </p:spPr>
      </p:sp>
      <p:sp>
        <p:nvSpPr>
          <p:cNvPr id="16" name="Text 14"/>
          <p:cNvSpPr/>
          <p:nvPr/>
        </p:nvSpPr>
        <p:spPr>
          <a:xfrm>
            <a:off x="6976872" y="2944368"/>
            <a:ext cx="16824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A 股 &lt; 11%</a:t>
            </a:r>
            <a:endParaRPr lang="en-US" sz="810" dirty="0"/>
          </a:p>
        </p:txBody>
      </p:sp>
      <p:sp>
        <p:nvSpPr>
          <p:cNvPr id="17" name="Text 15"/>
          <p:cNvSpPr/>
          <p:nvPr/>
        </p:nvSpPr>
        <p:spPr>
          <a:xfrm>
            <a:off x="8805672" y="2944368"/>
            <a:ext cx="250545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A 股涨跌幅限制更严格</a:t>
            </a:r>
            <a:endParaRPr lang="en-US" sz="810" dirty="0"/>
          </a:p>
        </p:txBody>
      </p:sp>
      <p:sp>
        <p:nvSpPr>
          <p:cNvPr id="18" name="Shape 16"/>
          <p:cNvSpPr/>
          <p:nvPr/>
        </p:nvSpPr>
        <p:spPr>
          <a:xfrm>
            <a:off x="6903720" y="3319272"/>
            <a:ext cx="4480560" cy="475488"/>
          </a:xfrm>
          <a:prstGeom prst="rect">
            <a:avLst/>
          </a:prstGeom>
          <a:solidFill>
            <a:srgbClr val="EEF5FC"/>
          </a:solidFill>
          <a:ln w="12700">
            <a:solidFill>
              <a:srgbClr val="D7E0EA">
                <a:alpha val="75000"/>
              </a:srgbClr>
            </a:solidFill>
            <a:prstDash val="solid"/>
          </a:ln>
        </p:spPr>
      </p:sp>
      <p:sp>
        <p:nvSpPr>
          <p:cNvPr id="19" name="Text 17"/>
          <p:cNvSpPr/>
          <p:nvPr/>
        </p:nvSpPr>
        <p:spPr>
          <a:xfrm>
            <a:off x="6976872" y="3419856"/>
            <a:ext cx="16824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港股 &lt; 50%</a:t>
            </a:r>
            <a:endParaRPr lang="en-US" sz="810" dirty="0"/>
          </a:p>
        </p:txBody>
      </p:sp>
      <p:sp>
        <p:nvSpPr>
          <p:cNvPr id="20" name="Text 18"/>
          <p:cNvSpPr/>
          <p:nvPr/>
        </p:nvSpPr>
        <p:spPr>
          <a:xfrm>
            <a:off x="8805672" y="3419856"/>
            <a:ext cx="250545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港股允许更大波动范围</a:t>
            </a:r>
            <a:endParaRPr lang="en-US" sz="810" dirty="0"/>
          </a:p>
        </p:txBody>
      </p:sp>
      <p:sp>
        <p:nvSpPr>
          <p:cNvPr id="21" name="Shape 19"/>
          <p:cNvSpPr/>
          <p:nvPr/>
        </p:nvSpPr>
        <p:spPr>
          <a:xfrm>
            <a:off x="6903720" y="4800600"/>
            <a:ext cx="4206240" cy="0"/>
          </a:xfrm>
          <a:prstGeom prst="line">
            <a:avLst/>
          </a:prstGeom>
          <a:noFill/>
          <a:ln w="25400">
            <a:solidFill>
              <a:srgbClr val="F59E0B"/>
            </a:solidFill>
            <a:prstDash val="solid"/>
          </a:ln>
        </p:spPr>
      </p:sp>
      <p:sp>
        <p:nvSpPr>
          <p:cNvPr id="22" name="Text 20"/>
          <p:cNvSpPr/>
          <p:nvPr/>
        </p:nvSpPr>
        <p:spPr>
          <a:xfrm>
            <a:off x="6903720" y="4965192"/>
            <a:ext cx="420624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这样可以防止错误行情污染实时统计和告警结果。</a:t>
            </a:r>
            <a:endParaRPr lang="en-US" sz="1140" dirty="0"/>
          </a:p>
        </p:txBody>
      </p:sp>
      <p:sp>
        <p:nvSpPr>
          <p:cNvPr id="23" name="Text 21"/>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4" name="Text 22"/>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09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使用 foreachBatch 处理每个实时批次</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Structured Streaming 将实时流切成微批统一处理</a:t>
            </a:r>
            <a:endParaRPr lang="en-US" sz="950" dirty="0"/>
          </a:p>
        </p:txBody>
      </p:sp>
      <p:sp>
        <p:nvSpPr>
          <p:cNvPr id="4" name="Shape 2"/>
          <p:cNvSpPr/>
          <p:nvPr/>
        </p:nvSpPr>
        <p:spPr>
          <a:xfrm>
            <a:off x="822960" y="1325880"/>
            <a:ext cx="5257800" cy="2057400"/>
          </a:xfrm>
          <a:prstGeom prst="roundRect">
            <a:avLst>
              <a:gd name="adj" fmla="val 3556"/>
            </a:avLst>
          </a:prstGeom>
          <a:solidFill>
            <a:srgbClr val="0F172A"/>
          </a:solidFill>
          <a:ln w="12700">
            <a:solidFill>
              <a:srgbClr val="1E293B"/>
            </a:solidFill>
            <a:prstDash val="solid"/>
          </a:ln>
        </p:spPr>
      </p:sp>
      <p:sp>
        <p:nvSpPr>
          <p:cNvPr id="5" name="Text 3"/>
          <p:cNvSpPr/>
          <p:nvPr/>
        </p:nvSpPr>
        <p:spPr>
          <a:xfrm>
            <a:off x="969264" y="1472184"/>
            <a:ext cx="4965192" cy="1801368"/>
          </a:xfrm>
          <a:prstGeom prst="rect">
            <a:avLst/>
          </a:prstGeom>
          <a:noFill/>
        </p:spPr>
        <p:txBody>
          <a:bodyPr wrap="square" lIns="0" tIns="0" rIns="0" bIns="0" rtlCol="0" anchor="ctr">
            <a:normAutofit/>
          </a:bodyPr>
          <a:lstStyle/>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query = (</a:t>
            </a:r>
            <a:endParaRPr lang="en-US" sz="950" dirty="0"/>
          </a:p>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    stream_df.writeStream.outputMode('append')</a:t>
            </a:r>
            <a:endParaRPr lang="en-US" sz="950" dirty="0"/>
          </a:p>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    .foreachBatch(write_batch)</a:t>
            </a:r>
            <a:endParaRPr lang="en-US" sz="950" dirty="0"/>
          </a:p>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    .option('checkpointLocation', settings.hdfs_checkpoint_path)</a:t>
            </a:r>
            <a:endParaRPr lang="en-US" sz="950" dirty="0"/>
          </a:p>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    .start()</a:t>
            </a:r>
            <a:endParaRPr lang="en-US" sz="950" dirty="0"/>
          </a:p>
          <a:p>
            <a:pPr marL="0" indent="0">
              <a:buNone/>
            </a:pPr>
            <a:r>
              <a:rPr lang="en-US" sz="95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950" dirty="0"/>
          </a:p>
        </p:txBody>
      </p:sp>
      <p:sp>
        <p:nvSpPr>
          <p:cNvPr id="6" name="Shape 4"/>
          <p:cNvSpPr/>
          <p:nvPr/>
        </p:nvSpPr>
        <p:spPr>
          <a:xfrm>
            <a:off x="6400800" y="1499616"/>
            <a:ext cx="73152" cy="73152"/>
          </a:xfrm>
          <a:prstGeom prst="ellipse">
            <a:avLst/>
          </a:prstGeom>
          <a:solidFill>
            <a:srgbClr val="1D7CF2"/>
          </a:solidFill>
          <a:ln w="12700">
            <a:solidFill>
              <a:srgbClr val="1D7CF2"/>
            </a:solidFill>
            <a:prstDash val="solid"/>
          </a:ln>
        </p:spPr>
      </p:sp>
      <p:sp>
        <p:nvSpPr>
          <p:cNvPr id="7" name="Text 5"/>
          <p:cNvSpPr/>
          <p:nvPr/>
        </p:nvSpPr>
        <p:spPr>
          <a:xfrm>
            <a:off x="6565392" y="1417320"/>
            <a:ext cx="438912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Structured Streaming 会把实时流切成一个个微批。</a:t>
            </a:r>
            <a:endParaRPr lang="en-US" sz="1040" dirty="0"/>
          </a:p>
        </p:txBody>
      </p:sp>
      <p:sp>
        <p:nvSpPr>
          <p:cNvPr id="8" name="Shape 6"/>
          <p:cNvSpPr/>
          <p:nvPr/>
        </p:nvSpPr>
        <p:spPr>
          <a:xfrm>
            <a:off x="6400800" y="1984248"/>
            <a:ext cx="73152" cy="73152"/>
          </a:xfrm>
          <a:prstGeom prst="ellipse">
            <a:avLst/>
          </a:prstGeom>
          <a:solidFill>
            <a:srgbClr val="1D7CF2"/>
          </a:solidFill>
          <a:ln w="12700">
            <a:solidFill>
              <a:srgbClr val="1D7CF2"/>
            </a:solidFill>
            <a:prstDash val="solid"/>
          </a:ln>
        </p:spPr>
      </p:sp>
      <p:sp>
        <p:nvSpPr>
          <p:cNvPr id="9" name="Text 7"/>
          <p:cNvSpPr/>
          <p:nvPr/>
        </p:nvSpPr>
        <p:spPr>
          <a:xfrm>
            <a:off x="6565392" y="1901952"/>
            <a:ext cx="438912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每个微批调用 write_batch() 处理。</a:t>
            </a:r>
            <a:endParaRPr lang="en-US" sz="1040" dirty="0"/>
          </a:p>
        </p:txBody>
      </p:sp>
      <p:sp>
        <p:nvSpPr>
          <p:cNvPr id="10" name="Shape 8"/>
          <p:cNvSpPr/>
          <p:nvPr/>
        </p:nvSpPr>
        <p:spPr>
          <a:xfrm>
            <a:off x="6400800" y="2468880"/>
            <a:ext cx="73152" cy="73152"/>
          </a:xfrm>
          <a:prstGeom prst="ellipse">
            <a:avLst/>
          </a:prstGeom>
          <a:solidFill>
            <a:srgbClr val="1D7CF2"/>
          </a:solidFill>
          <a:ln w="12700">
            <a:solidFill>
              <a:srgbClr val="1D7CF2"/>
            </a:solidFill>
            <a:prstDash val="solid"/>
          </a:ln>
        </p:spPr>
      </p:sp>
      <p:sp>
        <p:nvSpPr>
          <p:cNvPr id="11" name="Text 9"/>
          <p:cNvSpPr/>
          <p:nvPr/>
        </p:nvSpPr>
        <p:spPr>
          <a:xfrm>
            <a:off x="6565392" y="2386584"/>
            <a:ext cx="438912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checkpointLocation 用于保存流式计算状态，支持恢复。</a:t>
            </a:r>
            <a:endParaRPr lang="en-US" sz="1040" dirty="0"/>
          </a:p>
        </p:txBody>
      </p:sp>
      <p:sp>
        <p:nvSpPr>
          <p:cNvPr id="12" name="Shape 10"/>
          <p:cNvSpPr/>
          <p:nvPr/>
        </p:nvSpPr>
        <p:spPr>
          <a:xfrm>
            <a:off x="6400800" y="2953512"/>
            <a:ext cx="73152" cy="73152"/>
          </a:xfrm>
          <a:prstGeom prst="ellipse">
            <a:avLst/>
          </a:prstGeom>
          <a:solidFill>
            <a:srgbClr val="1D7CF2"/>
          </a:solidFill>
          <a:ln w="12700">
            <a:solidFill>
              <a:srgbClr val="1D7CF2"/>
            </a:solidFill>
            <a:prstDash val="solid"/>
          </a:ln>
        </p:spPr>
      </p:sp>
      <p:sp>
        <p:nvSpPr>
          <p:cNvPr id="13" name="Text 11"/>
          <p:cNvSpPr/>
          <p:nvPr/>
        </p:nvSpPr>
        <p:spPr>
          <a:xfrm>
            <a:off x="6565392" y="2871216"/>
            <a:ext cx="4389120" cy="310896"/>
          </a:xfrm>
          <a:prstGeom prst="rect">
            <a:avLst/>
          </a:prstGeom>
          <a:noFill/>
        </p:spPr>
        <p:txBody>
          <a:bodyPr wrap="square" lIns="0" tIns="0" rIns="0" bIns="0" rtlCol="0" anchor="ctr">
            <a:normAutofit/>
          </a:bodyPr>
          <a:lstStyle/>
          <a:p>
            <a:pPr marL="0" indent="0">
              <a:buNone/>
            </a:pPr>
            <a:r>
              <a:rPr lang="en-US" sz="104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outputMode('append') 表示追加写入。</a:t>
            </a:r>
            <a:endParaRPr lang="en-US" sz="1040" dirty="0"/>
          </a:p>
        </p:txBody>
      </p:sp>
      <p:sp>
        <p:nvSpPr>
          <p:cNvPr id="14" name="Shape 12"/>
          <p:cNvSpPr/>
          <p:nvPr/>
        </p:nvSpPr>
        <p:spPr>
          <a:xfrm>
            <a:off x="822960" y="4937760"/>
            <a:ext cx="9966960" cy="0"/>
          </a:xfrm>
          <a:prstGeom prst="line">
            <a:avLst/>
          </a:prstGeom>
          <a:noFill/>
          <a:ln w="25400">
            <a:solidFill>
              <a:srgbClr val="18A058"/>
            </a:solidFill>
            <a:prstDash val="solid"/>
          </a:ln>
        </p:spPr>
      </p:sp>
      <p:sp>
        <p:nvSpPr>
          <p:cNvPr id="15" name="Text 13"/>
          <p:cNvSpPr/>
          <p:nvPr/>
        </p:nvSpPr>
        <p:spPr>
          <a:xfrm>
            <a:off x="822960" y="5102352"/>
            <a:ext cx="996696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本项目不是一条数据单独处理，而是按微批统一完成聚合、告警和写库。</a:t>
            </a:r>
            <a:endParaRPr lang="en-US" sz="1140" dirty="0"/>
          </a:p>
        </p:txBody>
      </p:sp>
      <p:sp>
        <p:nvSpPr>
          <p:cNvPr id="16" name="Text 14"/>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17" name="Text 15"/>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10</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一个微批中完成哪些实时分析任务</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write_batch 同时负责去重、归档、聚合、告警和写库</a:t>
            </a:r>
            <a:endParaRPr lang="en-US" sz="950" dirty="0"/>
          </a:p>
        </p:txBody>
      </p:sp>
      <p:sp>
        <p:nvSpPr>
          <p:cNvPr id="4" name="Shape 2"/>
          <p:cNvSpPr/>
          <p:nvPr/>
        </p:nvSpPr>
        <p:spPr>
          <a:xfrm>
            <a:off x="777240" y="1161288"/>
            <a:ext cx="5989320" cy="4114800"/>
          </a:xfrm>
          <a:prstGeom prst="roundRect">
            <a:avLst>
              <a:gd name="adj" fmla="val 1778"/>
            </a:avLst>
          </a:prstGeom>
          <a:solidFill>
            <a:srgbClr val="0F172A"/>
          </a:solidFill>
          <a:ln w="12700">
            <a:solidFill>
              <a:srgbClr val="1E293B"/>
            </a:solidFill>
            <a:prstDash val="solid"/>
          </a:ln>
        </p:spPr>
      </p:sp>
      <p:sp>
        <p:nvSpPr>
          <p:cNvPr id="5" name="Text 3"/>
          <p:cNvSpPr/>
          <p:nvPr/>
        </p:nvSpPr>
        <p:spPr>
          <a:xfrm>
            <a:off x="923544" y="1307592"/>
            <a:ext cx="5696712" cy="3858768"/>
          </a:xfrm>
          <a:prstGeom prst="rect">
            <a:avLst/>
          </a:prstGeom>
          <a:noFill/>
        </p:spPr>
        <p:txBody>
          <a:bodyPr wrap="square" lIns="0" tIns="0" rIns="0" bIns="0" rtlCol="0" anchor="ctr">
            <a:normAutofit/>
          </a:bodyPr>
          <a:lstStyle/>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raw_batch = batch_df.dropDuplicates(['event_id'])</a:t>
            </a:r>
            <a:endParaRPr lang="en-US" sz="720" dirty="0"/>
          </a:p>
          <a:p>
            <a:pPr marL="0" indent="0">
              <a:buNone/>
            </a:pP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raw_batch.write.mode('append').parquet(</a:t>
            </a: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    f'{settings.hdfs_output_path.rstrip('/')}/quotes'</a:t>
            </a: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720" dirty="0"/>
          </a:p>
          <a:p>
            <a:pPr marL="0" indent="0">
              <a:buNone/>
            </a:pP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write_dashboard_aggregates(raw_batch, batch_id)</a:t>
            </a: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changed_batch = keep_changed_quotes(raw_batch)</a:t>
            </a: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write_jdbc(build_alerts(changed_batch), 'alert_events')</a:t>
            </a:r>
            <a:endParaRPr lang="en-US" sz="720" dirty="0"/>
          </a:p>
          <a:p>
            <a:pPr marL="0" indent="0">
              <a:buNone/>
            </a:pPr>
            <a:r>
              <a:rPr lang="en-US" sz="720" dirty="0">
                <a:solidFill>
                  <a:srgbClr val="D8EAFE"/>
                </a:solidFill>
                <a:latin typeface="Consolas" panose="020B0609020204030204" pitchFamily="34" charset="0"/>
                <a:ea typeface="Consolas" panose="020B0609020204030204" pitchFamily="34" charset="-122"/>
                <a:cs typeface="Consolas" panose="020B0609020204030204" pitchFamily="34" charset="-120"/>
              </a:rPr>
              <a:t>write_jdbc(latest_quotes, 'price_ticks')</a:t>
            </a:r>
            <a:endParaRPr lang="en-US" sz="720" dirty="0"/>
          </a:p>
        </p:txBody>
      </p:sp>
      <p:sp>
        <p:nvSpPr>
          <p:cNvPr id="6" name="Shape 4"/>
          <p:cNvSpPr/>
          <p:nvPr/>
        </p:nvSpPr>
        <p:spPr>
          <a:xfrm>
            <a:off x="7086600" y="1408176"/>
            <a:ext cx="73152" cy="73152"/>
          </a:xfrm>
          <a:prstGeom prst="ellipse">
            <a:avLst/>
          </a:prstGeom>
          <a:solidFill>
            <a:srgbClr val="1D7CF2"/>
          </a:solidFill>
          <a:ln w="12700">
            <a:solidFill>
              <a:srgbClr val="1D7CF2"/>
            </a:solidFill>
            <a:prstDash val="solid"/>
          </a:ln>
        </p:spPr>
      </p:sp>
      <p:sp>
        <p:nvSpPr>
          <p:cNvPr id="7" name="Text 5"/>
          <p:cNvSpPr/>
          <p:nvPr/>
        </p:nvSpPr>
        <p:spPr>
          <a:xfrm>
            <a:off x="7251192" y="1325880"/>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按 event_id 去重</a:t>
            </a:r>
            <a:endParaRPr lang="en-US" sz="920" dirty="0"/>
          </a:p>
        </p:txBody>
      </p:sp>
      <p:sp>
        <p:nvSpPr>
          <p:cNvPr id="8" name="Shape 6"/>
          <p:cNvSpPr/>
          <p:nvPr/>
        </p:nvSpPr>
        <p:spPr>
          <a:xfrm>
            <a:off x="7086600" y="1856232"/>
            <a:ext cx="73152" cy="73152"/>
          </a:xfrm>
          <a:prstGeom prst="ellipse">
            <a:avLst/>
          </a:prstGeom>
          <a:solidFill>
            <a:srgbClr val="1D7CF2"/>
          </a:solidFill>
          <a:ln w="12700">
            <a:solidFill>
              <a:srgbClr val="1D7CF2"/>
            </a:solidFill>
            <a:prstDash val="solid"/>
          </a:ln>
        </p:spPr>
      </p:sp>
      <p:sp>
        <p:nvSpPr>
          <p:cNvPr id="9" name="Text 7"/>
          <p:cNvSpPr/>
          <p:nvPr/>
        </p:nvSpPr>
        <p:spPr>
          <a:xfrm>
            <a:off x="7251192" y="1773936"/>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原始行情归档到 HDFS</a:t>
            </a:r>
            <a:endParaRPr lang="en-US" sz="920" dirty="0"/>
          </a:p>
        </p:txBody>
      </p:sp>
      <p:sp>
        <p:nvSpPr>
          <p:cNvPr id="10" name="Shape 8"/>
          <p:cNvSpPr/>
          <p:nvPr/>
        </p:nvSpPr>
        <p:spPr>
          <a:xfrm>
            <a:off x="7086600" y="2304288"/>
            <a:ext cx="73152" cy="73152"/>
          </a:xfrm>
          <a:prstGeom prst="ellipse">
            <a:avLst/>
          </a:prstGeom>
          <a:solidFill>
            <a:srgbClr val="18A058"/>
          </a:solidFill>
          <a:ln w="12700">
            <a:solidFill>
              <a:srgbClr val="18A058"/>
            </a:solidFill>
            <a:prstDash val="solid"/>
          </a:ln>
        </p:spPr>
      </p:sp>
      <p:sp>
        <p:nvSpPr>
          <p:cNvPr id="11" name="Text 9"/>
          <p:cNvSpPr/>
          <p:nvPr/>
        </p:nvSpPr>
        <p:spPr>
          <a:xfrm>
            <a:off x="7251192" y="2221992"/>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生成看板聚合指标</a:t>
            </a:r>
            <a:endParaRPr lang="en-US" sz="920" dirty="0"/>
          </a:p>
        </p:txBody>
      </p:sp>
      <p:sp>
        <p:nvSpPr>
          <p:cNvPr id="12" name="Shape 10"/>
          <p:cNvSpPr/>
          <p:nvPr/>
        </p:nvSpPr>
        <p:spPr>
          <a:xfrm>
            <a:off x="7086600" y="2752344"/>
            <a:ext cx="73152" cy="73152"/>
          </a:xfrm>
          <a:prstGeom prst="ellipse">
            <a:avLst/>
          </a:prstGeom>
          <a:solidFill>
            <a:srgbClr val="18A058"/>
          </a:solidFill>
          <a:ln w="12700">
            <a:solidFill>
              <a:srgbClr val="18A058"/>
            </a:solidFill>
            <a:prstDash val="solid"/>
          </a:ln>
        </p:spPr>
      </p:sp>
      <p:sp>
        <p:nvSpPr>
          <p:cNvPr id="13" name="Text 11"/>
          <p:cNvSpPr/>
          <p:nvPr/>
        </p:nvSpPr>
        <p:spPr>
          <a:xfrm>
            <a:off x="7251192" y="2670048"/>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过滤重复行情快照</a:t>
            </a:r>
            <a:endParaRPr lang="en-US" sz="920" dirty="0"/>
          </a:p>
        </p:txBody>
      </p:sp>
      <p:sp>
        <p:nvSpPr>
          <p:cNvPr id="14" name="Shape 12"/>
          <p:cNvSpPr/>
          <p:nvPr/>
        </p:nvSpPr>
        <p:spPr>
          <a:xfrm>
            <a:off x="7086600" y="3200400"/>
            <a:ext cx="73152" cy="73152"/>
          </a:xfrm>
          <a:prstGeom prst="ellipse">
            <a:avLst/>
          </a:prstGeom>
          <a:solidFill>
            <a:srgbClr val="DC2626"/>
          </a:solidFill>
          <a:ln w="12700">
            <a:solidFill>
              <a:srgbClr val="DC2626"/>
            </a:solidFill>
            <a:prstDash val="solid"/>
          </a:ln>
        </p:spPr>
      </p:sp>
      <p:sp>
        <p:nvSpPr>
          <p:cNvPr id="15" name="Text 13"/>
          <p:cNvSpPr/>
          <p:nvPr/>
        </p:nvSpPr>
        <p:spPr>
          <a:xfrm>
            <a:off x="7251192" y="3118104"/>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生成告警事件</a:t>
            </a:r>
            <a:endParaRPr lang="en-US" sz="920" dirty="0"/>
          </a:p>
        </p:txBody>
      </p:sp>
      <p:sp>
        <p:nvSpPr>
          <p:cNvPr id="16" name="Shape 14"/>
          <p:cNvSpPr/>
          <p:nvPr/>
        </p:nvSpPr>
        <p:spPr>
          <a:xfrm>
            <a:off x="7086600" y="3648456"/>
            <a:ext cx="73152" cy="73152"/>
          </a:xfrm>
          <a:prstGeom prst="ellipse">
            <a:avLst/>
          </a:prstGeom>
          <a:solidFill>
            <a:srgbClr val="DC2626"/>
          </a:solidFill>
          <a:ln w="12700">
            <a:solidFill>
              <a:srgbClr val="DC2626"/>
            </a:solidFill>
            <a:prstDash val="solid"/>
          </a:ln>
        </p:spPr>
      </p:sp>
      <p:sp>
        <p:nvSpPr>
          <p:cNvPr id="17" name="Text 15"/>
          <p:cNvSpPr/>
          <p:nvPr/>
        </p:nvSpPr>
        <p:spPr>
          <a:xfrm>
            <a:off x="7251192" y="3566160"/>
            <a:ext cx="3840480" cy="310896"/>
          </a:xfrm>
          <a:prstGeom prst="rect">
            <a:avLst/>
          </a:prstGeom>
          <a:noFill/>
        </p:spPr>
        <p:txBody>
          <a:bodyPr wrap="square" lIns="0" tIns="0" rIns="0" bIns="0" rtlCol="0" anchor="ctr">
            <a:normAutofit/>
          </a:bodyPr>
          <a:lstStyle/>
          <a:p>
            <a:pPr marL="0" indent="0">
              <a:buNone/>
            </a:pPr>
            <a:r>
              <a:rPr lang="en-US" sz="92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写入 MySQL 明细表</a:t>
            </a:r>
            <a:endParaRPr lang="en-US" sz="920" dirty="0"/>
          </a:p>
        </p:txBody>
      </p:sp>
      <p:sp>
        <p:nvSpPr>
          <p:cNvPr id="18" name="Shape 16"/>
          <p:cNvSpPr/>
          <p:nvPr/>
        </p:nvSpPr>
        <p:spPr>
          <a:xfrm>
            <a:off x="7086600" y="4800600"/>
            <a:ext cx="4023360" cy="0"/>
          </a:xfrm>
          <a:prstGeom prst="line">
            <a:avLst/>
          </a:prstGeom>
          <a:noFill/>
          <a:ln w="25400">
            <a:solidFill>
              <a:srgbClr val="DC2626"/>
            </a:solidFill>
            <a:prstDash val="solid"/>
          </a:ln>
        </p:spPr>
      </p:sp>
      <p:sp>
        <p:nvSpPr>
          <p:cNvPr id="19" name="Text 17"/>
          <p:cNvSpPr/>
          <p:nvPr/>
        </p:nvSpPr>
        <p:spPr>
          <a:xfrm>
            <a:off x="7086600" y="4965192"/>
            <a:ext cx="402336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一个微批不只是写原始数据，还同时生成前端展示需要的统计结果和风险告警。</a:t>
            </a:r>
            <a:endParaRPr lang="en-US" sz="1140" dirty="0"/>
          </a:p>
        </p:txBody>
      </p:sp>
      <p:sp>
        <p:nvSpPr>
          <p:cNvPr id="20" name="Text 18"/>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1" name="Text 19"/>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计算了哪些实时分析指标</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对应函数：write_dashboard_aggregates(raw_batch, batch_id)</a:t>
            </a:r>
            <a:endParaRPr lang="en-US" sz="950" dirty="0"/>
          </a:p>
        </p:txBody>
      </p:sp>
      <p:sp>
        <p:nvSpPr>
          <p:cNvPr id="4" name="Shape 2"/>
          <p:cNvSpPr/>
          <p:nvPr/>
        </p:nvSpPr>
        <p:spPr>
          <a:xfrm>
            <a:off x="777240" y="1325880"/>
            <a:ext cx="9464040" cy="566928"/>
          </a:xfrm>
          <a:prstGeom prst="rect">
            <a:avLst/>
          </a:prstGeom>
          <a:solidFill>
            <a:srgbClr val="0B1F36"/>
          </a:solidFill>
          <a:ln w="12700">
            <a:solidFill>
              <a:srgbClr val="D7E0EA">
                <a:alpha val="0"/>
              </a:srgbClr>
            </a:solidFill>
            <a:prstDash val="solid"/>
          </a:ln>
        </p:spPr>
      </p:sp>
      <p:sp>
        <p:nvSpPr>
          <p:cNvPr id="5" name="Text 3"/>
          <p:cNvSpPr/>
          <p:nvPr/>
        </p:nvSpPr>
        <p:spPr>
          <a:xfrm>
            <a:off x="850392" y="1426464"/>
            <a:ext cx="2368296" cy="43891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表名</a:t>
            </a:r>
            <a:endParaRPr lang="en-US" sz="860" dirty="0"/>
          </a:p>
        </p:txBody>
      </p:sp>
      <p:sp>
        <p:nvSpPr>
          <p:cNvPr id="6" name="Text 4"/>
          <p:cNvSpPr/>
          <p:nvPr/>
        </p:nvSpPr>
        <p:spPr>
          <a:xfrm>
            <a:off x="3364992" y="1426464"/>
            <a:ext cx="3328416" cy="43891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内容</a:t>
            </a:r>
            <a:endParaRPr lang="en-US" sz="860" dirty="0"/>
          </a:p>
        </p:txBody>
      </p:sp>
      <p:sp>
        <p:nvSpPr>
          <p:cNvPr id="7" name="Text 5"/>
          <p:cNvSpPr/>
          <p:nvPr/>
        </p:nvSpPr>
        <p:spPr>
          <a:xfrm>
            <a:off x="6839712" y="1426464"/>
            <a:ext cx="3328416" cy="43891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前端用途</a:t>
            </a:r>
            <a:endParaRPr lang="en-US" sz="860" dirty="0"/>
          </a:p>
        </p:txBody>
      </p:sp>
      <p:sp>
        <p:nvSpPr>
          <p:cNvPr id="8" name="Shape 6"/>
          <p:cNvSpPr/>
          <p:nvPr/>
        </p:nvSpPr>
        <p:spPr>
          <a:xfrm>
            <a:off x="777240" y="1892808"/>
            <a:ext cx="9464040" cy="566928"/>
          </a:xfrm>
          <a:prstGeom prst="rect">
            <a:avLst/>
          </a:prstGeom>
          <a:solidFill>
            <a:srgbClr val="FFFFFF"/>
          </a:solidFill>
          <a:ln w="12700">
            <a:solidFill>
              <a:srgbClr val="D7E0EA">
                <a:alpha val="75000"/>
              </a:srgbClr>
            </a:solidFill>
            <a:prstDash val="solid"/>
          </a:ln>
        </p:spPr>
      </p:sp>
      <p:sp>
        <p:nvSpPr>
          <p:cNvPr id="9" name="Text 7"/>
          <p:cNvSpPr/>
          <p:nvPr/>
        </p:nvSpPr>
        <p:spPr>
          <a:xfrm>
            <a:off x="850392" y="1993392"/>
            <a:ext cx="236829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metric_snapshots</a:t>
            </a:r>
            <a:endParaRPr lang="en-US" sz="810" dirty="0"/>
          </a:p>
        </p:txBody>
      </p:sp>
      <p:sp>
        <p:nvSpPr>
          <p:cNvPr id="10" name="Text 8"/>
          <p:cNvSpPr/>
          <p:nvPr/>
        </p:nvSpPr>
        <p:spPr>
          <a:xfrm>
            <a:off x="3364992" y="1993392"/>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分钟级市场快照</a:t>
            </a:r>
            <a:endParaRPr lang="en-US" sz="810" dirty="0"/>
          </a:p>
        </p:txBody>
      </p:sp>
      <p:sp>
        <p:nvSpPr>
          <p:cNvPr id="11" name="Text 9"/>
          <p:cNvSpPr/>
          <p:nvPr/>
        </p:nvSpPr>
        <p:spPr>
          <a:xfrm>
            <a:off x="6839712" y="1993392"/>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首页趋势、流量状态</a:t>
            </a:r>
            <a:endParaRPr lang="en-US" sz="810" dirty="0"/>
          </a:p>
        </p:txBody>
      </p:sp>
      <p:sp>
        <p:nvSpPr>
          <p:cNvPr id="12" name="Shape 10"/>
          <p:cNvSpPr/>
          <p:nvPr/>
        </p:nvSpPr>
        <p:spPr>
          <a:xfrm>
            <a:off x="777240" y="2459736"/>
            <a:ext cx="9464040" cy="566928"/>
          </a:xfrm>
          <a:prstGeom prst="rect">
            <a:avLst/>
          </a:prstGeom>
          <a:solidFill>
            <a:srgbClr val="EEF5FC"/>
          </a:solidFill>
          <a:ln w="12700">
            <a:solidFill>
              <a:srgbClr val="D7E0EA">
                <a:alpha val="75000"/>
              </a:srgbClr>
            </a:solidFill>
            <a:prstDash val="solid"/>
          </a:ln>
        </p:spPr>
      </p:sp>
      <p:sp>
        <p:nvSpPr>
          <p:cNvPr id="13" name="Text 11"/>
          <p:cNvSpPr/>
          <p:nvPr/>
        </p:nvSpPr>
        <p:spPr>
          <a:xfrm>
            <a:off x="850392" y="2560320"/>
            <a:ext cx="236829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symbol_stats</a:t>
            </a:r>
            <a:endParaRPr lang="en-US" sz="810" dirty="0"/>
          </a:p>
        </p:txBody>
      </p:sp>
      <p:sp>
        <p:nvSpPr>
          <p:cNvPr id="14" name="Text 12"/>
          <p:cNvSpPr/>
          <p:nvPr/>
        </p:nvSpPr>
        <p:spPr>
          <a:xfrm>
            <a:off x="3364992" y="2560320"/>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个股聚合统计</a:t>
            </a:r>
            <a:endParaRPr lang="en-US" sz="810" dirty="0"/>
          </a:p>
        </p:txBody>
      </p:sp>
      <p:sp>
        <p:nvSpPr>
          <p:cNvPr id="15" name="Text 13"/>
          <p:cNvSpPr/>
          <p:nvPr/>
        </p:nvSpPr>
        <p:spPr>
          <a:xfrm>
            <a:off x="6839712" y="2560320"/>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个股排行、关注列表</a:t>
            </a:r>
            <a:endParaRPr lang="en-US" sz="810" dirty="0"/>
          </a:p>
        </p:txBody>
      </p:sp>
      <p:sp>
        <p:nvSpPr>
          <p:cNvPr id="16" name="Shape 14"/>
          <p:cNvSpPr/>
          <p:nvPr/>
        </p:nvSpPr>
        <p:spPr>
          <a:xfrm>
            <a:off x="777240" y="3026664"/>
            <a:ext cx="9464040" cy="566928"/>
          </a:xfrm>
          <a:prstGeom prst="rect">
            <a:avLst/>
          </a:prstGeom>
          <a:solidFill>
            <a:srgbClr val="FFFFFF"/>
          </a:solidFill>
          <a:ln w="12700">
            <a:solidFill>
              <a:srgbClr val="D7E0EA">
                <a:alpha val="75000"/>
              </a:srgbClr>
            </a:solidFill>
            <a:prstDash val="solid"/>
          </a:ln>
        </p:spPr>
      </p:sp>
      <p:sp>
        <p:nvSpPr>
          <p:cNvPr id="17" name="Text 15"/>
          <p:cNvSpPr/>
          <p:nvPr/>
        </p:nvSpPr>
        <p:spPr>
          <a:xfrm>
            <a:off x="850392" y="3127248"/>
            <a:ext cx="236829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sector_stats</a:t>
            </a:r>
            <a:endParaRPr lang="en-US" sz="810" dirty="0"/>
          </a:p>
        </p:txBody>
      </p:sp>
      <p:sp>
        <p:nvSpPr>
          <p:cNvPr id="18" name="Text 16"/>
          <p:cNvSpPr/>
          <p:nvPr/>
        </p:nvSpPr>
        <p:spPr>
          <a:xfrm>
            <a:off x="3364992" y="3127248"/>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行业统计</a:t>
            </a:r>
            <a:endParaRPr lang="en-US" sz="810" dirty="0"/>
          </a:p>
        </p:txBody>
      </p:sp>
      <p:sp>
        <p:nvSpPr>
          <p:cNvPr id="19" name="Text 17"/>
          <p:cNvSpPr/>
          <p:nvPr/>
        </p:nvSpPr>
        <p:spPr>
          <a:xfrm>
            <a:off x="6839712" y="3127248"/>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行业热力图</a:t>
            </a:r>
            <a:endParaRPr lang="en-US" sz="810" dirty="0"/>
          </a:p>
        </p:txBody>
      </p:sp>
      <p:sp>
        <p:nvSpPr>
          <p:cNvPr id="20" name="Shape 18"/>
          <p:cNvSpPr/>
          <p:nvPr/>
        </p:nvSpPr>
        <p:spPr>
          <a:xfrm>
            <a:off x="777240" y="3593592"/>
            <a:ext cx="9464040" cy="566928"/>
          </a:xfrm>
          <a:prstGeom prst="rect">
            <a:avLst/>
          </a:prstGeom>
          <a:solidFill>
            <a:srgbClr val="EEF5FC"/>
          </a:solidFill>
          <a:ln w="12700">
            <a:solidFill>
              <a:srgbClr val="D7E0EA">
                <a:alpha val="75000"/>
              </a:srgbClr>
            </a:solidFill>
            <a:prstDash val="solid"/>
          </a:ln>
        </p:spPr>
      </p:sp>
      <p:sp>
        <p:nvSpPr>
          <p:cNvPr id="21" name="Text 19"/>
          <p:cNvSpPr/>
          <p:nvPr/>
        </p:nvSpPr>
        <p:spPr>
          <a:xfrm>
            <a:off x="850392" y="3694176"/>
            <a:ext cx="236829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category_stats</a:t>
            </a:r>
            <a:endParaRPr lang="en-US" sz="810" dirty="0"/>
          </a:p>
        </p:txBody>
      </p:sp>
      <p:sp>
        <p:nvSpPr>
          <p:cNvPr id="22" name="Text 20"/>
          <p:cNvSpPr/>
          <p:nvPr/>
        </p:nvSpPr>
        <p:spPr>
          <a:xfrm>
            <a:off x="3364992" y="3694176"/>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分类统计</a:t>
            </a:r>
            <a:endParaRPr lang="en-US" sz="810" dirty="0"/>
          </a:p>
        </p:txBody>
      </p:sp>
      <p:sp>
        <p:nvSpPr>
          <p:cNvPr id="23" name="Text 21"/>
          <p:cNvSpPr/>
          <p:nvPr/>
        </p:nvSpPr>
        <p:spPr>
          <a:xfrm>
            <a:off x="6839712" y="3694176"/>
            <a:ext cx="3328416" cy="43891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市场结构分析</a:t>
            </a:r>
            <a:endParaRPr lang="en-US" sz="810" dirty="0"/>
          </a:p>
        </p:txBody>
      </p:sp>
      <p:sp>
        <p:nvSpPr>
          <p:cNvPr id="24" name="Shape 22"/>
          <p:cNvSpPr/>
          <p:nvPr/>
        </p:nvSpPr>
        <p:spPr>
          <a:xfrm>
            <a:off x="868680" y="4370832"/>
            <a:ext cx="1920240" cy="292608"/>
          </a:xfrm>
          <a:prstGeom prst="roundRect">
            <a:avLst>
              <a:gd name="adj" fmla="val 12500"/>
            </a:avLst>
          </a:prstGeom>
          <a:solidFill>
            <a:srgbClr val="E8F2FF"/>
          </a:solidFill>
          <a:ln w="12700">
            <a:solidFill>
              <a:srgbClr val="D7E0EA"/>
            </a:solidFill>
            <a:prstDash val="solid"/>
          </a:ln>
        </p:spPr>
      </p:sp>
      <p:sp>
        <p:nvSpPr>
          <p:cNvPr id="25" name="Text 23"/>
          <p:cNvSpPr/>
          <p:nvPr/>
        </p:nvSpPr>
        <p:spPr>
          <a:xfrm>
            <a:off x="941832" y="445770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股票数量</a:t>
            </a:r>
            <a:endParaRPr lang="en-US" sz="780" dirty="0"/>
          </a:p>
        </p:txBody>
      </p:sp>
      <p:sp>
        <p:nvSpPr>
          <p:cNvPr id="26" name="Shape 24"/>
          <p:cNvSpPr/>
          <p:nvPr/>
        </p:nvSpPr>
        <p:spPr>
          <a:xfrm>
            <a:off x="3246120" y="4370832"/>
            <a:ext cx="1920240" cy="292608"/>
          </a:xfrm>
          <a:prstGeom prst="roundRect">
            <a:avLst>
              <a:gd name="adj" fmla="val 12500"/>
            </a:avLst>
          </a:prstGeom>
          <a:solidFill>
            <a:srgbClr val="E9F8F0"/>
          </a:solidFill>
          <a:ln w="12700">
            <a:solidFill>
              <a:srgbClr val="D7E0EA"/>
            </a:solidFill>
            <a:prstDash val="solid"/>
          </a:ln>
        </p:spPr>
      </p:sp>
      <p:sp>
        <p:nvSpPr>
          <p:cNvPr id="27" name="Text 25"/>
          <p:cNvSpPr/>
          <p:nvPr/>
        </p:nvSpPr>
        <p:spPr>
          <a:xfrm>
            <a:off x="3319272" y="445770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平均价格</a:t>
            </a:r>
            <a:endParaRPr lang="en-US" sz="780" dirty="0"/>
          </a:p>
        </p:txBody>
      </p:sp>
      <p:sp>
        <p:nvSpPr>
          <p:cNvPr id="28" name="Shape 26"/>
          <p:cNvSpPr/>
          <p:nvPr/>
        </p:nvSpPr>
        <p:spPr>
          <a:xfrm>
            <a:off x="5623560" y="4370832"/>
            <a:ext cx="1920240" cy="292608"/>
          </a:xfrm>
          <a:prstGeom prst="roundRect">
            <a:avLst>
              <a:gd name="adj" fmla="val 12500"/>
            </a:avLst>
          </a:prstGeom>
          <a:solidFill>
            <a:srgbClr val="E8F2FF"/>
          </a:solidFill>
          <a:ln w="12700">
            <a:solidFill>
              <a:srgbClr val="D7E0EA"/>
            </a:solidFill>
            <a:prstDash val="solid"/>
          </a:ln>
        </p:spPr>
      </p:sp>
      <p:sp>
        <p:nvSpPr>
          <p:cNvPr id="29" name="Text 27"/>
          <p:cNvSpPr/>
          <p:nvPr/>
        </p:nvSpPr>
        <p:spPr>
          <a:xfrm>
            <a:off x="5696712" y="445770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平均涨跌幅</a:t>
            </a:r>
            <a:endParaRPr lang="en-US" sz="780" dirty="0"/>
          </a:p>
        </p:txBody>
      </p:sp>
      <p:sp>
        <p:nvSpPr>
          <p:cNvPr id="30" name="Shape 28"/>
          <p:cNvSpPr/>
          <p:nvPr/>
        </p:nvSpPr>
        <p:spPr>
          <a:xfrm>
            <a:off x="8001000" y="4370832"/>
            <a:ext cx="1920240" cy="292608"/>
          </a:xfrm>
          <a:prstGeom prst="roundRect">
            <a:avLst>
              <a:gd name="adj" fmla="val 12500"/>
            </a:avLst>
          </a:prstGeom>
          <a:solidFill>
            <a:srgbClr val="E9F8F0"/>
          </a:solidFill>
          <a:ln w="12700">
            <a:solidFill>
              <a:srgbClr val="D7E0EA"/>
            </a:solidFill>
            <a:prstDash val="solid"/>
          </a:ln>
        </p:spPr>
      </p:sp>
      <p:sp>
        <p:nvSpPr>
          <p:cNvPr id="31" name="Text 29"/>
          <p:cNvSpPr/>
          <p:nvPr/>
        </p:nvSpPr>
        <p:spPr>
          <a:xfrm>
            <a:off x="8074152" y="445770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总成交量</a:t>
            </a:r>
            <a:endParaRPr lang="en-US" sz="780" dirty="0"/>
          </a:p>
        </p:txBody>
      </p:sp>
      <p:sp>
        <p:nvSpPr>
          <p:cNvPr id="32" name="Shape 30"/>
          <p:cNvSpPr/>
          <p:nvPr/>
        </p:nvSpPr>
        <p:spPr>
          <a:xfrm>
            <a:off x="868680" y="4873752"/>
            <a:ext cx="1920240" cy="292608"/>
          </a:xfrm>
          <a:prstGeom prst="roundRect">
            <a:avLst>
              <a:gd name="adj" fmla="val 12500"/>
            </a:avLst>
          </a:prstGeom>
          <a:solidFill>
            <a:srgbClr val="E8F2FF"/>
          </a:solidFill>
          <a:ln w="12700">
            <a:solidFill>
              <a:srgbClr val="D7E0EA"/>
            </a:solidFill>
            <a:prstDash val="solid"/>
          </a:ln>
        </p:spPr>
      </p:sp>
      <p:sp>
        <p:nvSpPr>
          <p:cNvPr id="33" name="Text 31"/>
          <p:cNvSpPr/>
          <p:nvPr/>
        </p:nvSpPr>
        <p:spPr>
          <a:xfrm>
            <a:off x="941832" y="496062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总成交额</a:t>
            </a:r>
            <a:endParaRPr lang="en-US" sz="780" dirty="0"/>
          </a:p>
        </p:txBody>
      </p:sp>
      <p:sp>
        <p:nvSpPr>
          <p:cNvPr id="34" name="Shape 32"/>
          <p:cNvSpPr/>
          <p:nvPr/>
        </p:nvSpPr>
        <p:spPr>
          <a:xfrm>
            <a:off x="3246120" y="4873752"/>
            <a:ext cx="1920240" cy="292608"/>
          </a:xfrm>
          <a:prstGeom prst="roundRect">
            <a:avLst>
              <a:gd name="adj" fmla="val 12500"/>
            </a:avLst>
          </a:prstGeom>
          <a:solidFill>
            <a:srgbClr val="E9F8F0"/>
          </a:solidFill>
          <a:ln w="12700">
            <a:solidFill>
              <a:srgbClr val="D7E0EA"/>
            </a:solidFill>
            <a:prstDash val="solid"/>
          </a:ln>
        </p:spPr>
      </p:sp>
      <p:sp>
        <p:nvSpPr>
          <p:cNvPr id="35" name="Text 33"/>
          <p:cNvSpPr/>
          <p:nvPr/>
        </p:nvSpPr>
        <p:spPr>
          <a:xfrm>
            <a:off x="3319272" y="496062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行业平均涨跌幅</a:t>
            </a:r>
            <a:endParaRPr lang="en-US" sz="780" dirty="0"/>
          </a:p>
        </p:txBody>
      </p:sp>
      <p:sp>
        <p:nvSpPr>
          <p:cNvPr id="36" name="Shape 34"/>
          <p:cNvSpPr/>
          <p:nvPr/>
        </p:nvSpPr>
        <p:spPr>
          <a:xfrm>
            <a:off x="5623560" y="4873752"/>
            <a:ext cx="1920240" cy="292608"/>
          </a:xfrm>
          <a:prstGeom prst="roundRect">
            <a:avLst>
              <a:gd name="adj" fmla="val 12500"/>
            </a:avLst>
          </a:prstGeom>
          <a:solidFill>
            <a:srgbClr val="E8F2FF"/>
          </a:solidFill>
          <a:ln w="12700">
            <a:solidFill>
              <a:srgbClr val="D7E0EA"/>
            </a:solidFill>
            <a:prstDash val="solid"/>
          </a:ln>
        </p:spPr>
      </p:sp>
      <p:sp>
        <p:nvSpPr>
          <p:cNvPr id="37" name="Text 35"/>
          <p:cNvSpPr/>
          <p:nvPr/>
        </p:nvSpPr>
        <p:spPr>
          <a:xfrm>
            <a:off x="5696712" y="4960620"/>
            <a:ext cx="1783080" cy="91440"/>
          </a:xfrm>
          <a:prstGeom prst="rect">
            <a:avLst/>
          </a:prstGeom>
          <a:noFill/>
        </p:spPr>
        <p:txBody>
          <a:bodyPr wrap="square" lIns="0" tIns="0" rIns="0" bIns="0" rtlCol="0" anchor="ctr">
            <a:normAutofit/>
          </a:bodyPr>
          <a:lstStyle/>
          <a:p>
            <a:pPr marL="0" indent="0" algn="ctr">
              <a:buNone/>
            </a:pPr>
            <a:r>
              <a:rPr lang="en-US" sz="78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行业成交额</a:t>
            </a:r>
            <a:endParaRPr lang="en-US" sz="780" dirty="0"/>
          </a:p>
        </p:txBody>
      </p:sp>
      <p:sp>
        <p:nvSpPr>
          <p:cNvPr id="38" name="Text 36"/>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39" name="Text 37"/>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实时风险告警如何生成</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对应函数：build_alerts(changed_batch)</a:t>
            </a:r>
            <a:endParaRPr lang="en-US" sz="950" dirty="0"/>
          </a:p>
        </p:txBody>
      </p:sp>
      <p:sp>
        <p:nvSpPr>
          <p:cNvPr id="4" name="Text 2"/>
          <p:cNvSpPr/>
          <p:nvPr/>
        </p:nvSpPr>
        <p:spPr>
          <a:xfrm>
            <a:off x="822960" y="1353312"/>
            <a:ext cx="2194560" cy="228600"/>
          </a:xfrm>
          <a:prstGeom prst="rect">
            <a:avLst/>
          </a:prstGeom>
          <a:noFill/>
        </p:spPr>
        <p:txBody>
          <a:bodyPr wrap="square" lIns="0" tIns="0" rIns="0" bIns="0" rtlCol="0" anchor="ctr"/>
          <a:lstStyle/>
          <a:p>
            <a:pPr marL="0" indent="0">
              <a:buNone/>
            </a:pPr>
            <a:r>
              <a:rPr lang="en-US" sz="1220" b="1" dirty="0">
                <a:solidFill>
                  <a:srgbClr val="1D7CF2"/>
                </a:solidFill>
                <a:latin typeface="微软雅黑" panose="020B0503020204020204" pitchFamily="34" charset="-122"/>
                <a:ea typeface="微软雅黑" panose="020B0503020204020204" pitchFamily="34" charset="-122"/>
                <a:cs typeface="微软雅黑" panose="020B0503020204020204" pitchFamily="34" charset="-120"/>
              </a:rPr>
              <a:t>规则一：价格波动告警</a:t>
            </a:r>
            <a:endParaRPr lang="en-US" sz="1220" dirty="0"/>
          </a:p>
        </p:txBody>
      </p:sp>
      <p:sp>
        <p:nvSpPr>
          <p:cNvPr id="5" name="Shape 3"/>
          <p:cNvSpPr/>
          <p:nvPr/>
        </p:nvSpPr>
        <p:spPr>
          <a:xfrm>
            <a:off x="822960" y="1783080"/>
            <a:ext cx="4572000" cy="1325880"/>
          </a:xfrm>
          <a:prstGeom prst="roundRect">
            <a:avLst>
              <a:gd name="adj" fmla="val 5517"/>
            </a:avLst>
          </a:prstGeom>
          <a:solidFill>
            <a:srgbClr val="0F172A"/>
          </a:solidFill>
          <a:ln w="12700">
            <a:solidFill>
              <a:srgbClr val="1E293B"/>
            </a:solidFill>
            <a:prstDash val="solid"/>
          </a:ln>
        </p:spPr>
      </p:sp>
      <p:sp>
        <p:nvSpPr>
          <p:cNvPr id="6" name="Text 4"/>
          <p:cNvSpPr/>
          <p:nvPr/>
        </p:nvSpPr>
        <p:spPr>
          <a:xfrm>
            <a:off x="969264" y="1929384"/>
            <a:ext cx="4279392" cy="1069848"/>
          </a:xfrm>
          <a:prstGeom prst="rect">
            <a:avLst/>
          </a:prstGeom>
          <a:noFill/>
        </p:spPr>
        <p:txBody>
          <a:bodyPr wrap="square" lIns="0" tIns="0" rIns="0" bIns="0" rtlCol="0" anchor="ctr">
            <a:normAutofit/>
          </a:bodyPr>
          <a:lstStyle/>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price_alert_threshold = greatest(</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    2.0,</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    avg_abs_change_pct * 2.5</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7" name="Text 5"/>
          <p:cNvSpPr/>
          <p:nvPr/>
        </p:nvSpPr>
        <p:spPr>
          <a:xfrm>
            <a:off x="822960" y="3493008"/>
            <a:ext cx="2377440" cy="228600"/>
          </a:xfrm>
          <a:prstGeom prst="rect">
            <a:avLst/>
          </a:prstGeom>
          <a:noFill/>
        </p:spPr>
        <p:txBody>
          <a:bodyPr wrap="square" lIns="0" tIns="0" rIns="0" bIns="0" rtlCol="0" anchor="ctr"/>
          <a:lstStyle/>
          <a:p>
            <a:pPr marL="0" indent="0">
              <a:buNone/>
            </a:pPr>
            <a:r>
              <a:rPr lang="en-US" sz="1220" b="1" dirty="0">
                <a:solidFill>
                  <a:srgbClr val="18A058"/>
                </a:solidFill>
                <a:latin typeface="微软雅黑" panose="020B0503020204020204" pitchFamily="34" charset="-122"/>
                <a:ea typeface="微软雅黑" panose="020B0503020204020204" pitchFamily="34" charset="-122"/>
                <a:cs typeface="微软雅黑" panose="020B0503020204020204" pitchFamily="34" charset="-120"/>
              </a:rPr>
              <a:t>规则二：成交量异动告警</a:t>
            </a:r>
            <a:endParaRPr lang="en-US" sz="1220" dirty="0"/>
          </a:p>
        </p:txBody>
      </p:sp>
      <p:sp>
        <p:nvSpPr>
          <p:cNvPr id="8" name="Shape 6"/>
          <p:cNvSpPr/>
          <p:nvPr/>
        </p:nvSpPr>
        <p:spPr>
          <a:xfrm>
            <a:off x="822960" y="3913632"/>
            <a:ext cx="4572000" cy="1325880"/>
          </a:xfrm>
          <a:prstGeom prst="roundRect">
            <a:avLst>
              <a:gd name="adj" fmla="val 5517"/>
            </a:avLst>
          </a:prstGeom>
          <a:solidFill>
            <a:srgbClr val="0F172A"/>
          </a:solidFill>
          <a:ln w="12700">
            <a:solidFill>
              <a:srgbClr val="1E293B"/>
            </a:solidFill>
            <a:prstDash val="solid"/>
          </a:ln>
        </p:spPr>
      </p:sp>
      <p:sp>
        <p:nvSpPr>
          <p:cNvPr id="9" name="Text 7"/>
          <p:cNvSpPr/>
          <p:nvPr/>
        </p:nvSpPr>
        <p:spPr>
          <a:xfrm>
            <a:off x="969264" y="4059936"/>
            <a:ext cx="4279392" cy="1069848"/>
          </a:xfrm>
          <a:prstGeom prst="rect">
            <a:avLst/>
          </a:prstGeom>
          <a:noFill/>
        </p:spPr>
        <p:txBody>
          <a:bodyPr wrap="square" lIns="0" tIns="0" rIns="0" bIns="0" rtlCol="0" anchor="ctr">
            <a:normAutofit/>
          </a:bodyPr>
          <a:lstStyle/>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volume_alert_threshold = greatest(</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    volume_min_threshold,</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    avg_volume * 2.0</a:t>
            </a:r>
            <a:endParaRPr lang="en-US" sz="1000" dirty="0"/>
          </a:p>
          <a:p>
            <a:pPr marL="0" indent="0">
              <a:buNone/>
            </a:pPr>
            <a:r>
              <a:rPr lang="en-US" sz="1000" dirty="0">
                <a:solidFill>
                  <a:srgbClr val="D8EAFE"/>
                </a:solidFill>
                <a:latin typeface="Consolas" panose="020B0609020204030204" pitchFamily="34" charset="0"/>
                <a:ea typeface="Consolas" panose="020B0609020204030204" pitchFamily="34" charset="-122"/>
                <a:cs typeface="Consolas" panose="020B0609020204030204" pitchFamily="34" charset="-120"/>
              </a:rPr>
              <a:t>)</a:t>
            </a:r>
            <a:endParaRPr lang="en-US" sz="1000" dirty="0"/>
          </a:p>
        </p:txBody>
      </p:sp>
      <p:sp>
        <p:nvSpPr>
          <p:cNvPr id="10" name="Shape 8"/>
          <p:cNvSpPr/>
          <p:nvPr/>
        </p:nvSpPr>
        <p:spPr>
          <a:xfrm>
            <a:off x="5989320" y="1563624"/>
            <a:ext cx="73152" cy="73152"/>
          </a:xfrm>
          <a:prstGeom prst="ellipse">
            <a:avLst/>
          </a:prstGeom>
          <a:solidFill>
            <a:srgbClr val="1D7CF2"/>
          </a:solidFill>
          <a:ln w="12700">
            <a:solidFill>
              <a:srgbClr val="1D7CF2"/>
            </a:solidFill>
            <a:prstDash val="solid"/>
          </a:ln>
        </p:spPr>
      </p:sp>
      <p:sp>
        <p:nvSpPr>
          <p:cNvPr id="11" name="Text 9"/>
          <p:cNvSpPr/>
          <p:nvPr/>
        </p:nvSpPr>
        <p:spPr>
          <a:xfrm>
            <a:off x="6153912" y="1481328"/>
            <a:ext cx="4572000" cy="310896"/>
          </a:xfrm>
          <a:prstGeom prst="rect">
            <a:avLst/>
          </a:prstGeom>
          <a:noFill/>
        </p:spPr>
        <p:txBody>
          <a:bodyPr wrap="square" lIns="0" tIns="0" rIns="0" bIns="0" rtlCol="0" anchor="ctr">
            <a:normAutofit/>
          </a:bodyPr>
          <a:lstStyle/>
          <a:p>
            <a:pPr marL="0" indent="0">
              <a:buNone/>
            </a:pPr>
            <a:r>
              <a:rPr lang="en-US" sz="9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读取最近一天历史行情作为动态基线。</a:t>
            </a:r>
            <a:endParaRPr lang="en-US" sz="960" dirty="0"/>
          </a:p>
        </p:txBody>
      </p:sp>
      <p:sp>
        <p:nvSpPr>
          <p:cNvPr id="12" name="Shape 10"/>
          <p:cNvSpPr/>
          <p:nvPr/>
        </p:nvSpPr>
        <p:spPr>
          <a:xfrm>
            <a:off x="5989320" y="2048256"/>
            <a:ext cx="73152" cy="73152"/>
          </a:xfrm>
          <a:prstGeom prst="ellipse">
            <a:avLst/>
          </a:prstGeom>
          <a:solidFill>
            <a:srgbClr val="1D7CF2"/>
          </a:solidFill>
          <a:ln w="12700">
            <a:solidFill>
              <a:srgbClr val="1D7CF2"/>
            </a:solidFill>
            <a:prstDash val="solid"/>
          </a:ln>
        </p:spPr>
      </p:sp>
      <p:sp>
        <p:nvSpPr>
          <p:cNvPr id="13" name="Text 11"/>
          <p:cNvSpPr/>
          <p:nvPr/>
        </p:nvSpPr>
        <p:spPr>
          <a:xfrm>
            <a:off x="6153912" y="1965960"/>
            <a:ext cx="4572000" cy="310896"/>
          </a:xfrm>
          <a:prstGeom prst="rect">
            <a:avLst/>
          </a:prstGeom>
          <a:noFill/>
        </p:spPr>
        <p:txBody>
          <a:bodyPr wrap="square" lIns="0" tIns="0" rIns="0" bIns="0" rtlCol="0" anchor="ctr">
            <a:normAutofit/>
          </a:bodyPr>
          <a:lstStyle/>
          <a:p>
            <a:pPr marL="0" indent="0">
              <a:buNone/>
            </a:pPr>
            <a:r>
              <a:rPr lang="en-US" sz="9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当前涨跌幅超过历史平均波动，触发价格波动告警。</a:t>
            </a:r>
            <a:endParaRPr lang="en-US" sz="960" dirty="0"/>
          </a:p>
        </p:txBody>
      </p:sp>
      <p:sp>
        <p:nvSpPr>
          <p:cNvPr id="14" name="Shape 12"/>
          <p:cNvSpPr/>
          <p:nvPr/>
        </p:nvSpPr>
        <p:spPr>
          <a:xfrm>
            <a:off x="5989320" y="2532888"/>
            <a:ext cx="73152" cy="73152"/>
          </a:xfrm>
          <a:prstGeom prst="ellipse">
            <a:avLst/>
          </a:prstGeom>
          <a:solidFill>
            <a:srgbClr val="1D7CF2"/>
          </a:solidFill>
          <a:ln w="12700">
            <a:solidFill>
              <a:srgbClr val="1D7CF2"/>
            </a:solidFill>
            <a:prstDash val="solid"/>
          </a:ln>
        </p:spPr>
      </p:sp>
      <p:sp>
        <p:nvSpPr>
          <p:cNvPr id="15" name="Text 13"/>
          <p:cNvSpPr/>
          <p:nvPr/>
        </p:nvSpPr>
        <p:spPr>
          <a:xfrm>
            <a:off x="6153912" y="2450592"/>
            <a:ext cx="4572000" cy="310896"/>
          </a:xfrm>
          <a:prstGeom prst="rect">
            <a:avLst/>
          </a:prstGeom>
          <a:noFill/>
        </p:spPr>
        <p:txBody>
          <a:bodyPr wrap="square" lIns="0" tIns="0" rIns="0" bIns="0" rtlCol="0" anchor="ctr">
            <a:normAutofit/>
          </a:bodyPr>
          <a:lstStyle/>
          <a:p>
            <a:pPr marL="0" indent="0">
              <a:buNone/>
            </a:pPr>
            <a:r>
              <a:rPr lang="en-US" sz="9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当前成交量超过历史平均成交量，触发成交量异动告警。</a:t>
            </a:r>
            <a:endParaRPr lang="en-US" sz="960" dirty="0"/>
          </a:p>
        </p:txBody>
      </p:sp>
      <p:sp>
        <p:nvSpPr>
          <p:cNvPr id="16" name="Shape 14"/>
          <p:cNvSpPr/>
          <p:nvPr/>
        </p:nvSpPr>
        <p:spPr>
          <a:xfrm>
            <a:off x="5989320" y="3017520"/>
            <a:ext cx="73152" cy="73152"/>
          </a:xfrm>
          <a:prstGeom prst="ellipse">
            <a:avLst/>
          </a:prstGeom>
          <a:solidFill>
            <a:srgbClr val="1D7CF2"/>
          </a:solidFill>
          <a:ln w="12700">
            <a:solidFill>
              <a:srgbClr val="1D7CF2"/>
            </a:solidFill>
            <a:prstDash val="solid"/>
          </a:ln>
        </p:spPr>
      </p:sp>
      <p:sp>
        <p:nvSpPr>
          <p:cNvPr id="17" name="Text 15"/>
          <p:cNvSpPr/>
          <p:nvPr/>
        </p:nvSpPr>
        <p:spPr>
          <a:xfrm>
            <a:off x="6153912" y="2935224"/>
            <a:ext cx="4572000" cy="310896"/>
          </a:xfrm>
          <a:prstGeom prst="rect">
            <a:avLst/>
          </a:prstGeom>
          <a:noFill/>
        </p:spPr>
        <p:txBody>
          <a:bodyPr wrap="square" lIns="0" tIns="0" rIns="0" bIns="0" rtlCol="0" anchor="ctr">
            <a:normAutofit/>
          </a:bodyPr>
          <a:lstStyle/>
          <a:p>
            <a:pPr marL="0" indent="0">
              <a:buNone/>
            </a:pPr>
            <a:r>
              <a:rPr lang="en-US" sz="9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告警等级分为 MEDIUM 和 HIGH。</a:t>
            </a:r>
            <a:endParaRPr lang="en-US" sz="960" dirty="0"/>
          </a:p>
        </p:txBody>
      </p:sp>
      <p:sp>
        <p:nvSpPr>
          <p:cNvPr id="18" name="Shape 16"/>
          <p:cNvSpPr/>
          <p:nvPr/>
        </p:nvSpPr>
        <p:spPr>
          <a:xfrm>
            <a:off x="5989320" y="4251960"/>
            <a:ext cx="4389120" cy="0"/>
          </a:xfrm>
          <a:prstGeom prst="line">
            <a:avLst/>
          </a:prstGeom>
          <a:noFill/>
          <a:ln w="25400">
            <a:solidFill>
              <a:srgbClr val="F59E0B"/>
            </a:solidFill>
            <a:prstDash val="solid"/>
          </a:ln>
        </p:spPr>
      </p:sp>
      <p:sp>
        <p:nvSpPr>
          <p:cNvPr id="19" name="Text 17"/>
          <p:cNvSpPr/>
          <p:nvPr/>
        </p:nvSpPr>
        <p:spPr>
          <a:xfrm>
            <a:off x="5989320" y="4416552"/>
            <a:ext cx="438912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告警不是简单写死固定值，而是结合历史基线动态判断当前行情是否异常。</a:t>
            </a:r>
            <a:endParaRPr lang="en-US" sz="1140" dirty="0"/>
          </a:p>
        </p:txBody>
      </p:sp>
      <p:sp>
        <p:nvSpPr>
          <p:cNvPr id="20" name="Text 18"/>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1" name="Text 19"/>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实时分析结果如何落库</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MySQL 用于快速查询，HDFS 用于离线归档</a:t>
            </a:r>
            <a:endParaRPr lang="en-US" sz="950" dirty="0"/>
          </a:p>
        </p:txBody>
      </p:sp>
      <p:sp>
        <p:nvSpPr>
          <p:cNvPr id="4" name="Shape 2"/>
          <p:cNvSpPr/>
          <p:nvPr/>
        </p:nvSpPr>
        <p:spPr>
          <a:xfrm>
            <a:off x="777240" y="1234440"/>
            <a:ext cx="8869680" cy="457200"/>
          </a:xfrm>
          <a:prstGeom prst="rect">
            <a:avLst/>
          </a:prstGeom>
          <a:solidFill>
            <a:srgbClr val="0B1F36"/>
          </a:solidFill>
          <a:ln w="12700">
            <a:solidFill>
              <a:srgbClr val="D7E0EA">
                <a:alpha val="0"/>
              </a:srgbClr>
            </a:solidFill>
            <a:prstDash val="solid"/>
          </a:ln>
        </p:spPr>
      </p:sp>
      <p:sp>
        <p:nvSpPr>
          <p:cNvPr id="5" name="Text 3"/>
          <p:cNvSpPr/>
          <p:nvPr/>
        </p:nvSpPr>
        <p:spPr>
          <a:xfrm>
            <a:off x="850392" y="1335024"/>
            <a:ext cx="2688336" cy="329184"/>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表名</a:t>
            </a:r>
            <a:endParaRPr lang="en-US" sz="860" dirty="0"/>
          </a:p>
        </p:txBody>
      </p:sp>
      <p:sp>
        <p:nvSpPr>
          <p:cNvPr id="6" name="Text 4"/>
          <p:cNvSpPr/>
          <p:nvPr/>
        </p:nvSpPr>
        <p:spPr>
          <a:xfrm>
            <a:off x="3685032" y="1335024"/>
            <a:ext cx="5888736" cy="329184"/>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作用</a:t>
            </a:r>
            <a:endParaRPr lang="en-US" sz="860" dirty="0"/>
          </a:p>
        </p:txBody>
      </p:sp>
      <p:sp>
        <p:nvSpPr>
          <p:cNvPr id="7" name="Shape 5"/>
          <p:cNvSpPr/>
          <p:nvPr/>
        </p:nvSpPr>
        <p:spPr>
          <a:xfrm>
            <a:off x="777240" y="1691640"/>
            <a:ext cx="8869680" cy="457200"/>
          </a:xfrm>
          <a:prstGeom prst="rect">
            <a:avLst/>
          </a:prstGeom>
          <a:solidFill>
            <a:srgbClr val="FFFFFF"/>
          </a:solidFill>
          <a:ln w="12700">
            <a:solidFill>
              <a:srgbClr val="D7E0EA">
                <a:alpha val="75000"/>
              </a:srgbClr>
            </a:solidFill>
            <a:prstDash val="solid"/>
          </a:ln>
        </p:spPr>
      </p:sp>
      <p:sp>
        <p:nvSpPr>
          <p:cNvPr id="8" name="Text 6"/>
          <p:cNvSpPr/>
          <p:nvPr/>
        </p:nvSpPr>
        <p:spPr>
          <a:xfrm>
            <a:off x="850392" y="17922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price_ticks</a:t>
            </a:r>
            <a:endParaRPr lang="en-US" sz="810" dirty="0"/>
          </a:p>
        </p:txBody>
      </p:sp>
      <p:sp>
        <p:nvSpPr>
          <p:cNvPr id="9" name="Text 7"/>
          <p:cNvSpPr/>
          <p:nvPr/>
        </p:nvSpPr>
        <p:spPr>
          <a:xfrm>
            <a:off x="3685032" y="17922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保存去重后的实时行情明细</a:t>
            </a:r>
            <a:endParaRPr lang="en-US" sz="810" dirty="0"/>
          </a:p>
        </p:txBody>
      </p:sp>
      <p:sp>
        <p:nvSpPr>
          <p:cNvPr id="10" name="Shape 8"/>
          <p:cNvSpPr/>
          <p:nvPr/>
        </p:nvSpPr>
        <p:spPr>
          <a:xfrm>
            <a:off x="777240" y="2148840"/>
            <a:ext cx="8869680" cy="457200"/>
          </a:xfrm>
          <a:prstGeom prst="rect">
            <a:avLst/>
          </a:prstGeom>
          <a:solidFill>
            <a:srgbClr val="EEF5FC"/>
          </a:solidFill>
          <a:ln w="12700">
            <a:solidFill>
              <a:srgbClr val="D7E0EA">
                <a:alpha val="75000"/>
              </a:srgbClr>
            </a:solidFill>
            <a:prstDash val="solid"/>
          </a:ln>
        </p:spPr>
      </p:sp>
      <p:sp>
        <p:nvSpPr>
          <p:cNvPr id="11" name="Text 9"/>
          <p:cNvSpPr/>
          <p:nvPr/>
        </p:nvSpPr>
        <p:spPr>
          <a:xfrm>
            <a:off x="850392" y="22494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metric_snapshots</a:t>
            </a:r>
            <a:endParaRPr lang="en-US" sz="810" dirty="0"/>
          </a:p>
        </p:txBody>
      </p:sp>
      <p:sp>
        <p:nvSpPr>
          <p:cNvPr id="12" name="Text 10"/>
          <p:cNvSpPr/>
          <p:nvPr/>
        </p:nvSpPr>
        <p:spPr>
          <a:xfrm>
            <a:off x="3685032" y="22494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保存分钟级市场快照</a:t>
            </a:r>
            <a:endParaRPr lang="en-US" sz="810" dirty="0"/>
          </a:p>
        </p:txBody>
      </p:sp>
      <p:sp>
        <p:nvSpPr>
          <p:cNvPr id="13" name="Shape 11"/>
          <p:cNvSpPr/>
          <p:nvPr/>
        </p:nvSpPr>
        <p:spPr>
          <a:xfrm>
            <a:off x="777240" y="2606040"/>
            <a:ext cx="8869680" cy="457200"/>
          </a:xfrm>
          <a:prstGeom prst="rect">
            <a:avLst/>
          </a:prstGeom>
          <a:solidFill>
            <a:srgbClr val="FFFFFF"/>
          </a:solidFill>
          <a:ln w="12700">
            <a:solidFill>
              <a:srgbClr val="D7E0EA">
                <a:alpha val="75000"/>
              </a:srgbClr>
            </a:solidFill>
            <a:prstDash val="solid"/>
          </a:ln>
        </p:spPr>
      </p:sp>
      <p:sp>
        <p:nvSpPr>
          <p:cNvPr id="14" name="Text 12"/>
          <p:cNvSpPr/>
          <p:nvPr/>
        </p:nvSpPr>
        <p:spPr>
          <a:xfrm>
            <a:off x="850392" y="27066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symbol_stats</a:t>
            </a:r>
            <a:endParaRPr lang="en-US" sz="810" dirty="0"/>
          </a:p>
        </p:txBody>
      </p:sp>
      <p:sp>
        <p:nvSpPr>
          <p:cNvPr id="15" name="Text 13"/>
          <p:cNvSpPr/>
          <p:nvPr/>
        </p:nvSpPr>
        <p:spPr>
          <a:xfrm>
            <a:off x="3685032" y="27066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保存个股聚合指标</a:t>
            </a:r>
            <a:endParaRPr lang="en-US" sz="810" dirty="0"/>
          </a:p>
        </p:txBody>
      </p:sp>
      <p:sp>
        <p:nvSpPr>
          <p:cNvPr id="16" name="Shape 14"/>
          <p:cNvSpPr/>
          <p:nvPr/>
        </p:nvSpPr>
        <p:spPr>
          <a:xfrm>
            <a:off x="777240" y="3063240"/>
            <a:ext cx="8869680" cy="457200"/>
          </a:xfrm>
          <a:prstGeom prst="rect">
            <a:avLst/>
          </a:prstGeom>
          <a:solidFill>
            <a:srgbClr val="EEF5FC"/>
          </a:solidFill>
          <a:ln w="12700">
            <a:solidFill>
              <a:srgbClr val="D7E0EA">
                <a:alpha val="75000"/>
              </a:srgbClr>
            </a:solidFill>
            <a:prstDash val="solid"/>
          </a:ln>
        </p:spPr>
      </p:sp>
      <p:sp>
        <p:nvSpPr>
          <p:cNvPr id="17" name="Text 15"/>
          <p:cNvSpPr/>
          <p:nvPr/>
        </p:nvSpPr>
        <p:spPr>
          <a:xfrm>
            <a:off x="850392" y="31638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sector_stats</a:t>
            </a:r>
            <a:endParaRPr lang="en-US" sz="810" dirty="0"/>
          </a:p>
        </p:txBody>
      </p:sp>
      <p:sp>
        <p:nvSpPr>
          <p:cNvPr id="18" name="Text 16"/>
          <p:cNvSpPr/>
          <p:nvPr/>
        </p:nvSpPr>
        <p:spPr>
          <a:xfrm>
            <a:off x="3685032" y="31638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保存行业统计</a:t>
            </a:r>
            <a:endParaRPr lang="en-US" sz="810" dirty="0"/>
          </a:p>
        </p:txBody>
      </p:sp>
      <p:sp>
        <p:nvSpPr>
          <p:cNvPr id="19" name="Shape 17"/>
          <p:cNvSpPr/>
          <p:nvPr/>
        </p:nvSpPr>
        <p:spPr>
          <a:xfrm>
            <a:off x="777240" y="3520440"/>
            <a:ext cx="8869680" cy="457200"/>
          </a:xfrm>
          <a:prstGeom prst="rect">
            <a:avLst/>
          </a:prstGeom>
          <a:solidFill>
            <a:srgbClr val="FFFFFF"/>
          </a:solidFill>
          <a:ln w="12700">
            <a:solidFill>
              <a:srgbClr val="D7E0EA">
                <a:alpha val="75000"/>
              </a:srgbClr>
            </a:solidFill>
            <a:prstDash val="solid"/>
          </a:ln>
        </p:spPr>
      </p:sp>
      <p:sp>
        <p:nvSpPr>
          <p:cNvPr id="20" name="Text 18"/>
          <p:cNvSpPr/>
          <p:nvPr/>
        </p:nvSpPr>
        <p:spPr>
          <a:xfrm>
            <a:off x="850392" y="36210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category_stats</a:t>
            </a:r>
            <a:endParaRPr lang="en-US" sz="810" dirty="0"/>
          </a:p>
        </p:txBody>
      </p:sp>
      <p:sp>
        <p:nvSpPr>
          <p:cNvPr id="21" name="Text 19"/>
          <p:cNvSpPr/>
          <p:nvPr/>
        </p:nvSpPr>
        <p:spPr>
          <a:xfrm>
            <a:off x="3685032" y="36210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保存市场分类统计</a:t>
            </a:r>
            <a:endParaRPr lang="en-US" sz="810" dirty="0"/>
          </a:p>
        </p:txBody>
      </p:sp>
      <p:sp>
        <p:nvSpPr>
          <p:cNvPr id="22" name="Shape 20"/>
          <p:cNvSpPr/>
          <p:nvPr/>
        </p:nvSpPr>
        <p:spPr>
          <a:xfrm>
            <a:off x="777240" y="3977640"/>
            <a:ext cx="8869680" cy="457200"/>
          </a:xfrm>
          <a:prstGeom prst="rect">
            <a:avLst/>
          </a:prstGeom>
          <a:solidFill>
            <a:srgbClr val="EEF5FC"/>
          </a:solidFill>
          <a:ln w="12700">
            <a:solidFill>
              <a:srgbClr val="D7E0EA">
                <a:alpha val="75000"/>
              </a:srgbClr>
            </a:solidFill>
            <a:prstDash val="solid"/>
          </a:ln>
        </p:spPr>
      </p:sp>
      <p:sp>
        <p:nvSpPr>
          <p:cNvPr id="23" name="Text 21"/>
          <p:cNvSpPr/>
          <p:nvPr/>
        </p:nvSpPr>
        <p:spPr>
          <a:xfrm>
            <a:off x="850392" y="40782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alert_events</a:t>
            </a:r>
            <a:endParaRPr lang="en-US" sz="810" dirty="0"/>
          </a:p>
        </p:txBody>
      </p:sp>
      <p:sp>
        <p:nvSpPr>
          <p:cNvPr id="24" name="Text 22"/>
          <p:cNvSpPr/>
          <p:nvPr/>
        </p:nvSpPr>
        <p:spPr>
          <a:xfrm>
            <a:off x="3685032" y="40782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保存实时风险告警</a:t>
            </a:r>
            <a:endParaRPr lang="en-US" sz="810" dirty="0"/>
          </a:p>
        </p:txBody>
      </p:sp>
      <p:sp>
        <p:nvSpPr>
          <p:cNvPr id="25" name="Shape 23"/>
          <p:cNvSpPr/>
          <p:nvPr/>
        </p:nvSpPr>
        <p:spPr>
          <a:xfrm>
            <a:off x="777240" y="4434840"/>
            <a:ext cx="8869680" cy="457200"/>
          </a:xfrm>
          <a:prstGeom prst="rect">
            <a:avLst/>
          </a:prstGeom>
          <a:solidFill>
            <a:srgbClr val="FFFFFF"/>
          </a:solidFill>
          <a:ln w="12700">
            <a:solidFill>
              <a:srgbClr val="D7E0EA">
                <a:alpha val="75000"/>
              </a:srgbClr>
            </a:solidFill>
            <a:prstDash val="solid"/>
          </a:ln>
        </p:spPr>
      </p:sp>
      <p:sp>
        <p:nvSpPr>
          <p:cNvPr id="26" name="Text 24"/>
          <p:cNvSpPr/>
          <p:nvPr/>
        </p:nvSpPr>
        <p:spPr>
          <a:xfrm>
            <a:off x="850392" y="4535424"/>
            <a:ext cx="26883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HDFS parquet</a:t>
            </a:r>
            <a:endParaRPr lang="en-US" sz="810" dirty="0"/>
          </a:p>
        </p:txBody>
      </p:sp>
      <p:sp>
        <p:nvSpPr>
          <p:cNvPr id="27" name="Text 25"/>
          <p:cNvSpPr/>
          <p:nvPr/>
        </p:nvSpPr>
        <p:spPr>
          <a:xfrm>
            <a:off x="3685032" y="4535424"/>
            <a:ext cx="5888736" cy="329184"/>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保存原始行情归档</a:t>
            </a:r>
            <a:endParaRPr lang="en-US" sz="810" dirty="0"/>
          </a:p>
        </p:txBody>
      </p:sp>
      <p:sp>
        <p:nvSpPr>
          <p:cNvPr id="28" name="Shape 26"/>
          <p:cNvSpPr/>
          <p:nvPr/>
        </p:nvSpPr>
        <p:spPr>
          <a:xfrm>
            <a:off x="868680" y="5184648"/>
            <a:ext cx="73152" cy="73152"/>
          </a:xfrm>
          <a:prstGeom prst="ellipse">
            <a:avLst/>
          </a:prstGeom>
          <a:solidFill>
            <a:srgbClr val="1D7CF2"/>
          </a:solidFill>
          <a:ln w="12700">
            <a:solidFill>
              <a:srgbClr val="1D7CF2"/>
            </a:solidFill>
            <a:prstDash val="solid"/>
          </a:ln>
        </p:spPr>
      </p:sp>
      <p:sp>
        <p:nvSpPr>
          <p:cNvPr id="29" name="Text 27"/>
          <p:cNvSpPr/>
          <p:nvPr/>
        </p:nvSpPr>
        <p:spPr>
          <a:xfrm>
            <a:off x="1033272" y="5102352"/>
            <a:ext cx="4114800" cy="310896"/>
          </a:xfrm>
          <a:prstGeom prst="rect">
            <a:avLst/>
          </a:prstGeom>
          <a:noFill/>
        </p:spPr>
        <p:txBody>
          <a:bodyPr wrap="square" lIns="0" tIns="0" rIns="0" bIns="0" rtlCol="0" anchor="ctr">
            <a:normAutofit/>
          </a:bodyPr>
          <a:lstStyle/>
          <a:p>
            <a:pPr marL="0" indent="0">
              <a:buNone/>
            </a:pPr>
            <a:r>
              <a:rPr lang="en-US" sz="10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MySQL 面向前端快速查询。</a:t>
            </a:r>
            <a:endParaRPr lang="en-US" sz="1040" dirty="0"/>
          </a:p>
        </p:txBody>
      </p:sp>
      <p:sp>
        <p:nvSpPr>
          <p:cNvPr id="30" name="Shape 28"/>
          <p:cNvSpPr/>
          <p:nvPr/>
        </p:nvSpPr>
        <p:spPr>
          <a:xfrm>
            <a:off x="868680" y="5641848"/>
            <a:ext cx="73152" cy="73152"/>
          </a:xfrm>
          <a:prstGeom prst="ellipse">
            <a:avLst/>
          </a:prstGeom>
          <a:solidFill>
            <a:srgbClr val="18A058"/>
          </a:solidFill>
          <a:ln w="12700">
            <a:solidFill>
              <a:srgbClr val="18A058"/>
            </a:solidFill>
            <a:prstDash val="solid"/>
          </a:ln>
        </p:spPr>
      </p:sp>
      <p:sp>
        <p:nvSpPr>
          <p:cNvPr id="31" name="Text 29"/>
          <p:cNvSpPr/>
          <p:nvPr/>
        </p:nvSpPr>
        <p:spPr>
          <a:xfrm>
            <a:off x="1033272" y="5559552"/>
            <a:ext cx="4114800" cy="310896"/>
          </a:xfrm>
          <a:prstGeom prst="rect">
            <a:avLst/>
          </a:prstGeom>
          <a:noFill/>
        </p:spPr>
        <p:txBody>
          <a:bodyPr wrap="square" lIns="0" tIns="0" rIns="0" bIns="0" rtlCol="0" anchor="ctr">
            <a:normAutofit/>
          </a:bodyPr>
          <a:lstStyle/>
          <a:p>
            <a:pPr marL="0" indent="0">
              <a:buNone/>
            </a:pPr>
            <a:r>
              <a:rPr lang="en-US" sz="10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HDFS 面向后续离线分析和归档。</a:t>
            </a:r>
            <a:endParaRPr lang="en-US" sz="1040" dirty="0"/>
          </a:p>
        </p:txBody>
      </p:sp>
      <p:sp>
        <p:nvSpPr>
          <p:cNvPr id="32" name="Shape 30"/>
          <p:cNvSpPr/>
          <p:nvPr/>
        </p:nvSpPr>
        <p:spPr>
          <a:xfrm>
            <a:off x="6035040" y="5404104"/>
            <a:ext cx="73152" cy="73152"/>
          </a:xfrm>
          <a:prstGeom prst="ellipse">
            <a:avLst/>
          </a:prstGeom>
          <a:solidFill>
            <a:srgbClr val="F59E0B"/>
          </a:solidFill>
          <a:ln w="12700">
            <a:solidFill>
              <a:srgbClr val="F59E0B"/>
            </a:solidFill>
            <a:prstDash val="solid"/>
          </a:ln>
        </p:spPr>
      </p:sp>
      <p:sp>
        <p:nvSpPr>
          <p:cNvPr id="33" name="Text 31"/>
          <p:cNvSpPr/>
          <p:nvPr/>
        </p:nvSpPr>
        <p:spPr>
          <a:xfrm>
            <a:off x="6199632" y="5321808"/>
            <a:ext cx="4937760" cy="310896"/>
          </a:xfrm>
          <a:prstGeom prst="rect">
            <a:avLst/>
          </a:prstGeom>
          <a:noFill/>
        </p:spPr>
        <p:txBody>
          <a:bodyPr wrap="square" lIns="0" tIns="0" rIns="0" bIns="0" rtlCol="0" anchor="ctr">
            <a:normAutofit/>
          </a:bodyPr>
          <a:lstStyle/>
          <a:p>
            <a:pPr marL="0" indent="0">
              <a:buNone/>
            </a:pPr>
            <a:r>
              <a:rPr lang="en-US" sz="10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明细表和聚合表分开，减少前端查询压力。</a:t>
            </a:r>
            <a:endParaRPr lang="en-US" sz="1040" dirty="0"/>
          </a:p>
        </p:txBody>
      </p:sp>
      <p:sp>
        <p:nvSpPr>
          <p:cNvPr id="34" name="Text 32"/>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35" name="Text 33"/>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实时分析结果如何展示到页面</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后端文件：DashboardService.java；前端定时刷新展示实时状态</a:t>
            </a:r>
            <a:endParaRPr lang="en-US" sz="950" dirty="0"/>
          </a:p>
        </p:txBody>
      </p:sp>
      <p:sp>
        <p:nvSpPr>
          <p:cNvPr id="4" name="Shape 2"/>
          <p:cNvSpPr/>
          <p:nvPr/>
        </p:nvSpPr>
        <p:spPr>
          <a:xfrm>
            <a:off x="777240" y="1298448"/>
            <a:ext cx="6355080" cy="475488"/>
          </a:xfrm>
          <a:prstGeom prst="rect">
            <a:avLst/>
          </a:prstGeom>
          <a:solidFill>
            <a:srgbClr val="0B1F36"/>
          </a:solidFill>
          <a:ln w="12700">
            <a:solidFill>
              <a:srgbClr val="D7E0EA">
                <a:alpha val="0"/>
              </a:srgbClr>
            </a:solidFill>
            <a:prstDash val="solid"/>
          </a:ln>
        </p:spPr>
      </p:sp>
      <p:sp>
        <p:nvSpPr>
          <p:cNvPr id="5" name="Text 3"/>
          <p:cNvSpPr/>
          <p:nvPr/>
        </p:nvSpPr>
        <p:spPr>
          <a:xfrm>
            <a:off x="850392" y="1399032"/>
            <a:ext cx="2368296" cy="34747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接口</a:t>
            </a:r>
            <a:endParaRPr lang="en-US" sz="860" dirty="0"/>
          </a:p>
        </p:txBody>
      </p:sp>
      <p:sp>
        <p:nvSpPr>
          <p:cNvPr id="6" name="Text 4"/>
          <p:cNvSpPr/>
          <p:nvPr/>
        </p:nvSpPr>
        <p:spPr>
          <a:xfrm>
            <a:off x="3364992" y="1399032"/>
            <a:ext cx="3694176" cy="347472"/>
          </a:xfrm>
          <a:prstGeom prst="rect">
            <a:avLst/>
          </a:prstGeom>
          <a:noFill/>
        </p:spPr>
        <p:txBody>
          <a:bodyPr wrap="square" lIns="0" tIns="0" rIns="0" bIns="0" rtlCol="0" anchor="ctr">
            <a:normAutofit/>
          </a:bodyPr>
          <a:lstStyle/>
          <a:p>
            <a:pPr marL="0" indent="0">
              <a:buNone/>
            </a:pPr>
            <a:r>
              <a:rPr lang="en-US" sz="86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作用</a:t>
            </a:r>
            <a:endParaRPr lang="en-US" sz="860" dirty="0"/>
          </a:p>
        </p:txBody>
      </p:sp>
      <p:sp>
        <p:nvSpPr>
          <p:cNvPr id="7" name="Shape 5"/>
          <p:cNvSpPr/>
          <p:nvPr/>
        </p:nvSpPr>
        <p:spPr>
          <a:xfrm>
            <a:off x="777240" y="1773936"/>
            <a:ext cx="6355080" cy="475488"/>
          </a:xfrm>
          <a:prstGeom prst="rect">
            <a:avLst/>
          </a:prstGeom>
          <a:solidFill>
            <a:srgbClr val="FFFFFF"/>
          </a:solidFill>
          <a:ln w="12700">
            <a:solidFill>
              <a:srgbClr val="D7E0EA">
                <a:alpha val="75000"/>
              </a:srgbClr>
            </a:solidFill>
            <a:prstDash val="solid"/>
          </a:ln>
        </p:spPr>
      </p:sp>
      <p:sp>
        <p:nvSpPr>
          <p:cNvPr id="8" name="Text 6"/>
          <p:cNvSpPr/>
          <p:nvPr/>
        </p:nvSpPr>
        <p:spPr>
          <a:xfrm>
            <a:off x="850392" y="1874520"/>
            <a:ext cx="23682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/dashboard</a:t>
            </a:r>
            <a:endParaRPr lang="en-US" sz="810" dirty="0"/>
          </a:p>
        </p:txBody>
      </p:sp>
      <p:sp>
        <p:nvSpPr>
          <p:cNvPr id="9" name="Text 7"/>
          <p:cNvSpPr/>
          <p:nvPr/>
        </p:nvSpPr>
        <p:spPr>
          <a:xfrm>
            <a:off x="3364992" y="1874520"/>
            <a:ext cx="369417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获取首页大屏数据</a:t>
            </a:r>
            <a:endParaRPr lang="en-US" sz="810" dirty="0"/>
          </a:p>
        </p:txBody>
      </p:sp>
      <p:sp>
        <p:nvSpPr>
          <p:cNvPr id="10" name="Shape 8"/>
          <p:cNvSpPr/>
          <p:nvPr/>
        </p:nvSpPr>
        <p:spPr>
          <a:xfrm>
            <a:off x="777240" y="2249424"/>
            <a:ext cx="6355080" cy="475488"/>
          </a:xfrm>
          <a:prstGeom prst="rect">
            <a:avLst/>
          </a:prstGeom>
          <a:solidFill>
            <a:srgbClr val="EEF5FC"/>
          </a:solidFill>
          <a:ln w="12700">
            <a:solidFill>
              <a:srgbClr val="D7E0EA">
                <a:alpha val="75000"/>
              </a:srgbClr>
            </a:solidFill>
            <a:prstDash val="solid"/>
          </a:ln>
        </p:spPr>
      </p:sp>
      <p:sp>
        <p:nvSpPr>
          <p:cNvPr id="11" name="Text 9"/>
          <p:cNvSpPr/>
          <p:nvPr/>
        </p:nvSpPr>
        <p:spPr>
          <a:xfrm>
            <a:off x="850392" y="2350008"/>
            <a:ext cx="23682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/health</a:t>
            </a:r>
            <a:endParaRPr lang="en-US" sz="810" dirty="0"/>
          </a:p>
        </p:txBody>
      </p:sp>
      <p:sp>
        <p:nvSpPr>
          <p:cNvPr id="12" name="Text 10"/>
          <p:cNvSpPr/>
          <p:nvPr/>
        </p:nvSpPr>
        <p:spPr>
          <a:xfrm>
            <a:off x="3364992" y="2350008"/>
            <a:ext cx="369417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获取系统健康状态</a:t>
            </a:r>
            <a:endParaRPr lang="en-US" sz="810" dirty="0"/>
          </a:p>
        </p:txBody>
      </p:sp>
      <p:sp>
        <p:nvSpPr>
          <p:cNvPr id="13" name="Shape 11"/>
          <p:cNvSpPr/>
          <p:nvPr/>
        </p:nvSpPr>
        <p:spPr>
          <a:xfrm>
            <a:off x="777240" y="2724912"/>
            <a:ext cx="6355080" cy="475488"/>
          </a:xfrm>
          <a:prstGeom prst="rect">
            <a:avLst/>
          </a:prstGeom>
          <a:solidFill>
            <a:srgbClr val="FFFFFF"/>
          </a:solidFill>
          <a:ln w="12700">
            <a:solidFill>
              <a:srgbClr val="D7E0EA">
                <a:alpha val="75000"/>
              </a:srgbClr>
            </a:solidFill>
            <a:prstDash val="solid"/>
          </a:ln>
        </p:spPr>
      </p:sp>
      <p:sp>
        <p:nvSpPr>
          <p:cNvPr id="14" name="Text 12"/>
          <p:cNvSpPr/>
          <p:nvPr/>
        </p:nvSpPr>
        <p:spPr>
          <a:xfrm>
            <a:off x="850392" y="2825496"/>
            <a:ext cx="23682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/alerts</a:t>
            </a:r>
            <a:endParaRPr lang="en-US" sz="810" dirty="0"/>
          </a:p>
        </p:txBody>
      </p:sp>
      <p:sp>
        <p:nvSpPr>
          <p:cNvPr id="15" name="Text 13"/>
          <p:cNvSpPr/>
          <p:nvPr/>
        </p:nvSpPr>
        <p:spPr>
          <a:xfrm>
            <a:off x="3364992" y="2825496"/>
            <a:ext cx="369417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查询风险告警</a:t>
            </a:r>
            <a:endParaRPr lang="en-US" sz="810" dirty="0"/>
          </a:p>
        </p:txBody>
      </p:sp>
      <p:sp>
        <p:nvSpPr>
          <p:cNvPr id="16" name="Shape 14"/>
          <p:cNvSpPr/>
          <p:nvPr/>
        </p:nvSpPr>
        <p:spPr>
          <a:xfrm>
            <a:off x="777240" y="3200400"/>
            <a:ext cx="6355080" cy="475488"/>
          </a:xfrm>
          <a:prstGeom prst="rect">
            <a:avLst/>
          </a:prstGeom>
          <a:solidFill>
            <a:srgbClr val="EEF5FC"/>
          </a:solidFill>
          <a:ln w="12700">
            <a:solidFill>
              <a:srgbClr val="D7E0EA">
                <a:alpha val="75000"/>
              </a:srgbClr>
            </a:solidFill>
            <a:prstDash val="solid"/>
          </a:ln>
        </p:spPr>
      </p:sp>
      <p:sp>
        <p:nvSpPr>
          <p:cNvPr id="17" name="Text 15"/>
          <p:cNvSpPr/>
          <p:nvPr/>
        </p:nvSpPr>
        <p:spPr>
          <a:xfrm>
            <a:off x="850392" y="3300984"/>
            <a:ext cx="23682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/stocks/{symbol}</a:t>
            </a:r>
            <a:endParaRPr lang="en-US" sz="810" dirty="0"/>
          </a:p>
        </p:txBody>
      </p:sp>
      <p:sp>
        <p:nvSpPr>
          <p:cNvPr id="18" name="Text 16"/>
          <p:cNvSpPr/>
          <p:nvPr/>
        </p:nvSpPr>
        <p:spPr>
          <a:xfrm>
            <a:off x="3364992" y="3300984"/>
            <a:ext cx="369417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查询个股详情</a:t>
            </a:r>
            <a:endParaRPr lang="en-US" sz="810" dirty="0"/>
          </a:p>
        </p:txBody>
      </p:sp>
      <p:sp>
        <p:nvSpPr>
          <p:cNvPr id="19" name="Shape 17"/>
          <p:cNvSpPr/>
          <p:nvPr/>
        </p:nvSpPr>
        <p:spPr>
          <a:xfrm>
            <a:off x="777240" y="3675888"/>
            <a:ext cx="6355080" cy="475488"/>
          </a:xfrm>
          <a:prstGeom prst="rect">
            <a:avLst/>
          </a:prstGeom>
          <a:solidFill>
            <a:srgbClr val="FFFFFF"/>
          </a:solidFill>
          <a:ln w="12700">
            <a:solidFill>
              <a:srgbClr val="D7E0EA">
                <a:alpha val="75000"/>
              </a:srgbClr>
            </a:solidFill>
            <a:prstDash val="solid"/>
          </a:ln>
        </p:spPr>
      </p:sp>
      <p:sp>
        <p:nvSpPr>
          <p:cNvPr id="20" name="Text 18"/>
          <p:cNvSpPr/>
          <p:nvPr/>
        </p:nvSpPr>
        <p:spPr>
          <a:xfrm>
            <a:off x="850392" y="3776472"/>
            <a:ext cx="236829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/stocks/{symbol}/trend</a:t>
            </a:r>
            <a:endParaRPr lang="en-US" sz="810" dirty="0"/>
          </a:p>
        </p:txBody>
      </p:sp>
      <p:sp>
        <p:nvSpPr>
          <p:cNvPr id="21" name="Text 19"/>
          <p:cNvSpPr/>
          <p:nvPr/>
        </p:nvSpPr>
        <p:spPr>
          <a:xfrm>
            <a:off x="3364992" y="3776472"/>
            <a:ext cx="3694176" cy="347472"/>
          </a:xfrm>
          <a:prstGeom prst="rect">
            <a:avLst/>
          </a:prstGeom>
          <a:noFill/>
        </p:spPr>
        <p:txBody>
          <a:bodyPr wrap="square" lIns="0" tIns="0" rIns="0" bIns="0" rtlCol="0" anchor="ctr">
            <a:normAutofit/>
          </a:bodyPr>
          <a:lstStyle/>
          <a:p>
            <a:pPr marL="0" indent="0">
              <a:buNone/>
            </a:pPr>
            <a:r>
              <a:rPr lang="en-US" sz="81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查询实时趋势</a:t>
            </a:r>
            <a:endParaRPr lang="en-US" sz="810" dirty="0"/>
          </a:p>
        </p:txBody>
      </p:sp>
      <p:sp>
        <p:nvSpPr>
          <p:cNvPr id="22" name="Shape 20"/>
          <p:cNvSpPr/>
          <p:nvPr/>
        </p:nvSpPr>
        <p:spPr>
          <a:xfrm>
            <a:off x="7315200" y="1380744"/>
            <a:ext cx="73152" cy="73152"/>
          </a:xfrm>
          <a:prstGeom prst="ellipse">
            <a:avLst/>
          </a:prstGeom>
          <a:solidFill>
            <a:srgbClr val="1D7CF2"/>
          </a:solidFill>
          <a:ln w="12700">
            <a:solidFill>
              <a:srgbClr val="1D7CF2"/>
            </a:solidFill>
            <a:prstDash val="solid"/>
          </a:ln>
        </p:spPr>
      </p:sp>
      <p:sp>
        <p:nvSpPr>
          <p:cNvPr id="23" name="Text 21"/>
          <p:cNvSpPr/>
          <p:nvPr/>
        </p:nvSpPr>
        <p:spPr>
          <a:xfrm>
            <a:off x="7479792" y="1298448"/>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实时流状态</a:t>
            </a:r>
            <a:endParaRPr lang="en-US" sz="860" dirty="0"/>
          </a:p>
        </p:txBody>
      </p:sp>
      <p:sp>
        <p:nvSpPr>
          <p:cNvPr id="24" name="Shape 22"/>
          <p:cNvSpPr/>
          <p:nvPr/>
        </p:nvSpPr>
        <p:spPr>
          <a:xfrm>
            <a:off x="7315200" y="1764792"/>
            <a:ext cx="73152" cy="73152"/>
          </a:xfrm>
          <a:prstGeom prst="ellipse">
            <a:avLst/>
          </a:prstGeom>
          <a:solidFill>
            <a:srgbClr val="1D7CF2"/>
          </a:solidFill>
          <a:ln w="12700">
            <a:solidFill>
              <a:srgbClr val="1D7CF2"/>
            </a:solidFill>
            <a:prstDash val="solid"/>
          </a:ln>
        </p:spPr>
      </p:sp>
      <p:sp>
        <p:nvSpPr>
          <p:cNvPr id="25" name="Text 23"/>
          <p:cNvSpPr/>
          <p:nvPr/>
        </p:nvSpPr>
        <p:spPr>
          <a:xfrm>
            <a:off x="7479792" y="1682496"/>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最新行情</a:t>
            </a:r>
            <a:endParaRPr lang="en-US" sz="860" dirty="0"/>
          </a:p>
        </p:txBody>
      </p:sp>
      <p:sp>
        <p:nvSpPr>
          <p:cNvPr id="26" name="Shape 24"/>
          <p:cNvSpPr/>
          <p:nvPr/>
        </p:nvSpPr>
        <p:spPr>
          <a:xfrm>
            <a:off x="7315200" y="2148840"/>
            <a:ext cx="73152" cy="73152"/>
          </a:xfrm>
          <a:prstGeom prst="ellipse">
            <a:avLst/>
          </a:prstGeom>
          <a:solidFill>
            <a:srgbClr val="1D7CF2"/>
          </a:solidFill>
          <a:ln w="12700">
            <a:solidFill>
              <a:srgbClr val="1D7CF2"/>
            </a:solidFill>
            <a:prstDash val="solid"/>
          </a:ln>
        </p:spPr>
      </p:sp>
      <p:sp>
        <p:nvSpPr>
          <p:cNvPr id="27" name="Text 25"/>
          <p:cNvSpPr/>
          <p:nvPr/>
        </p:nvSpPr>
        <p:spPr>
          <a:xfrm>
            <a:off x="7479792" y="2066544"/>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市场涨跌统计</a:t>
            </a:r>
            <a:endParaRPr lang="en-US" sz="860" dirty="0"/>
          </a:p>
        </p:txBody>
      </p:sp>
      <p:sp>
        <p:nvSpPr>
          <p:cNvPr id="28" name="Shape 26"/>
          <p:cNvSpPr/>
          <p:nvPr/>
        </p:nvSpPr>
        <p:spPr>
          <a:xfrm>
            <a:off x="7315200" y="2532888"/>
            <a:ext cx="73152" cy="73152"/>
          </a:xfrm>
          <a:prstGeom prst="ellipse">
            <a:avLst/>
          </a:prstGeom>
          <a:solidFill>
            <a:srgbClr val="18A058"/>
          </a:solidFill>
          <a:ln w="12700">
            <a:solidFill>
              <a:srgbClr val="18A058"/>
            </a:solidFill>
            <a:prstDash val="solid"/>
          </a:ln>
        </p:spPr>
      </p:sp>
      <p:sp>
        <p:nvSpPr>
          <p:cNvPr id="29" name="Text 27"/>
          <p:cNvSpPr/>
          <p:nvPr/>
        </p:nvSpPr>
        <p:spPr>
          <a:xfrm>
            <a:off x="7479792" y="2450592"/>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行业热力</a:t>
            </a:r>
            <a:endParaRPr lang="en-US" sz="860" dirty="0"/>
          </a:p>
        </p:txBody>
      </p:sp>
      <p:sp>
        <p:nvSpPr>
          <p:cNvPr id="30" name="Shape 28"/>
          <p:cNvSpPr/>
          <p:nvPr/>
        </p:nvSpPr>
        <p:spPr>
          <a:xfrm>
            <a:off x="7315200" y="2916936"/>
            <a:ext cx="73152" cy="73152"/>
          </a:xfrm>
          <a:prstGeom prst="ellipse">
            <a:avLst/>
          </a:prstGeom>
          <a:solidFill>
            <a:srgbClr val="18A058"/>
          </a:solidFill>
          <a:ln w="12700">
            <a:solidFill>
              <a:srgbClr val="18A058"/>
            </a:solidFill>
            <a:prstDash val="solid"/>
          </a:ln>
        </p:spPr>
      </p:sp>
      <p:sp>
        <p:nvSpPr>
          <p:cNvPr id="31" name="Text 29"/>
          <p:cNvSpPr/>
          <p:nvPr/>
        </p:nvSpPr>
        <p:spPr>
          <a:xfrm>
            <a:off x="7479792" y="2834640"/>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风险告警</a:t>
            </a:r>
            <a:endParaRPr lang="en-US" sz="860" dirty="0"/>
          </a:p>
        </p:txBody>
      </p:sp>
      <p:sp>
        <p:nvSpPr>
          <p:cNvPr id="32" name="Shape 30"/>
          <p:cNvSpPr/>
          <p:nvPr/>
        </p:nvSpPr>
        <p:spPr>
          <a:xfrm>
            <a:off x="7315200" y="3300984"/>
            <a:ext cx="73152" cy="73152"/>
          </a:xfrm>
          <a:prstGeom prst="ellipse">
            <a:avLst/>
          </a:prstGeom>
          <a:solidFill>
            <a:srgbClr val="18A058"/>
          </a:solidFill>
          <a:ln w="12700">
            <a:solidFill>
              <a:srgbClr val="18A058"/>
            </a:solidFill>
            <a:prstDash val="solid"/>
          </a:ln>
        </p:spPr>
      </p:sp>
      <p:sp>
        <p:nvSpPr>
          <p:cNvPr id="33" name="Text 31"/>
          <p:cNvSpPr/>
          <p:nvPr/>
        </p:nvSpPr>
        <p:spPr>
          <a:xfrm>
            <a:off x="7479792" y="3218688"/>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个股走势</a:t>
            </a:r>
            <a:endParaRPr lang="en-US" sz="860" dirty="0"/>
          </a:p>
        </p:txBody>
      </p:sp>
      <p:sp>
        <p:nvSpPr>
          <p:cNvPr id="34" name="Shape 32"/>
          <p:cNvSpPr/>
          <p:nvPr/>
        </p:nvSpPr>
        <p:spPr>
          <a:xfrm>
            <a:off x="7315200" y="3685032"/>
            <a:ext cx="73152" cy="73152"/>
          </a:xfrm>
          <a:prstGeom prst="ellipse">
            <a:avLst/>
          </a:prstGeom>
          <a:solidFill>
            <a:srgbClr val="18A058"/>
          </a:solidFill>
          <a:ln w="12700">
            <a:solidFill>
              <a:srgbClr val="18A058"/>
            </a:solidFill>
            <a:prstDash val="solid"/>
          </a:ln>
        </p:spPr>
      </p:sp>
      <p:sp>
        <p:nvSpPr>
          <p:cNvPr id="35" name="Text 33"/>
          <p:cNvSpPr/>
          <p:nvPr/>
        </p:nvSpPr>
        <p:spPr>
          <a:xfrm>
            <a:off x="7479792" y="3602736"/>
            <a:ext cx="3474720" cy="310896"/>
          </a:xfrm>
          <a:prstGeom prst="rect">
            <a:avLst/>
          </a:prstGeom>
          <a:noFill/>
        </p:spPr>
        <p:txBody>
          <a:bodyPr wrap="square" lIns="0" tIns="0" rIns="0" bIns="0" rtlCol="0" anchor="ctr">
            <a:normAutofit/>
          </a:bodyPr>
          <a:lstStyle/>
          <a:p>
            <a:pPr marL="0" indent="0">
              <a:buNone/>
            </a:pPr>
            <a:r>
              <a:rPr lang="en-US" sz="86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模型预测结果</a:t>
            </a:r>
            <a:endParaRPr lang="en-US" sz="860" dirty="0"/>
          </a:p>
        </p:txBody>
      </p:sp>
      <p:sp>
        <p:nvSpPr>
          <p:cNvPr id="36" name="Shape 34"/>
          <p:cNvSpPr/>
          <p:nvPr/>
        </p:nvSpPr>
        <p:spPr>
          <a:xfrm>
            <a:off x="868680" y="4572000"/>
            <a:ext cx="4480560" cy="594360"/>
          </a:xfrm>
          <a:prstGeom prst="roundRect">
            <a:avLst>
              <a:gd name="adj" fmla="val 12308"/>
            </a:avLst>
          </a:prstGeom>
          <a:solidFill>
            <a:srgbClr val="0F172A"/>
          </a:solidFill>
          <a:ln w="12700">
            <a:solidFill>
              <a:srgbClr val="1E293B"/>
            </a:solidFill>
            <a:prstDash val="solid"/>
          </a:ln>
        </p:spPr>
      </p:sp>
      <p:sp>
        <p:nvSpPr>
          <p:cNvPr id="37" name="Text 35"/>
          <p:cNvSpPr/>
          <p:nvPr/>
        </p:nvSpPr>
        <p:spPr>
          <a:xfrm>
            <a:off x="1014984" y="4718304"/>
            <a:ext cx="4187952" cy="338328"/>
          </a:xfrm>
          <a:prstGeom prst="rect">
            <a:avLst/>
          </a:prstGeom>
          <a:noFill/>
        </p:spPr>
        <p:txBody>
          <a:bodyPr wrap="square" lIns="0" tIns="0" rIns="0" bIns="0" rtlCol="0" anchor="ctr">
            <a:normAutofit/>
          </a:bodyPr>
          <a:lstStyle/>
          <a:p>
            <a:pPr marL="0" indent="0">
              <a:buNone/>
            </a:pPr>
            <a:r>
              <a:rPr lang="en-US" sz="1200" dirty="0">
                <a:solidFill>
                  <a:srgbClr val="D8EAFE"/>
                </a:solidFill>
                <a:latin typeface="Consolas" panose="020B0609020204030204" pitchFamily="34" charset="0"/>
                <a:ea typeface="Consolas" panose="020B0609020204030204" pitchFamily="34" charset="-122"/>
                <a:cs typeface="Consolas" panose="020B0609020204030204" pitchFamily="34" charset="-120"/>
              </a:rPr>
              <a:t>setInterval(safeRefresh, 5000)</a:t>
            </a:r>
            <a:endParaRPr lang="en-US" sz="1200" dirty="0"/>
          </a:p>
        </p:txBody>
      </p:sp>
      <p:sp>
        <p:nvSpPr>
          <p:cNvPr id="38" name="Shape 36"/>
          <p:cNvSpPr/>
          <p:nvPr/>
        </p:nvSpPr>
        <p:spPr>
          <a:xfrm>
            <a:off x="6309360" y="4572000"/>
            <a:ext cx="4480560" cy="0"/>
          </a:xfrm>
          <a:prstGeom prst="line">
            <a:avLst/>
          </a:prstGeom>
          <a:noFill/>
          <a:ln w="25400">
            <a:solidFill>
              <a:srgbClr val="1D7CF2"/>
            </a:solidFill>
            <a:prstDash val="solid"/>
          </a:ln>
        </p:spPr>
      </p:sp>
      <p:sp>
        <p:nvSpPr>
          <p:cNvPr id="39" name="Text 37"/>
          <p:cNvSpPr/>
          <p:nvPr/>
        </p:nvSpPr>
        <p:spPr>
          <a:xfrm>
            <a:off x="6309360" y="4736592"/>
            <a:ext cx="448056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前端不是展示静态数据，而是周期性请求后端接口，持续刷新实时分析结果。</a:t>
            </a:r>
            <a:endParaRPr lang="en-US" sz="1140" dirty="0"/>
          </a:p>
        </p:txBody>
      </p:sp>
      <p:sp>
        <p:nvSpPr>
          <p:cNvPr id="40" name="Text 38"/>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41" name="Text 39"/>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系统如何判断实时流是否正常</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后端根据 metric_snapshots 和 price_ticks 的最新写入时间计算状态</a:t>
            </a:r>
            <a:endParaRPr lang="en-US" sz="950" dirty="0"/>
          </a:p>
        </p:txBody>
      </p:sp>
      <p:sp>
        <p:nvSpPr>
          <p:cNvPr id="4" name="Text 2"/>
          <p:cNvSpPr/>
          <p:nvPr/>
        </p:nvSpPr>
        <p:spPr>
          <a:xfrm>
            <a:off x="868680" y="1417320"/>
            <a:ext cx="1371600" cy="228600"/>
          </a:xfrm>
          <a:prstGeom prst="rect">
            <a:avLst/>
          </a:prstGeom>
          <a:noFill/>
        </p:spPr>
        <p:txBody>
          <a:bodyPr wrap="square" lIns="0" tIns="0" rIns="0" bIns="0" rtlCol="0" anchor="ctr"/>
          <a:lstStyle/>
          <a:p>
            <a:pPr marL="0" indent="0">
              <a:buNone/>
            </a:pPr>
            <a:r>
              <a:rPr lang="en-US" sz="1400" b="1" dirty="0">
                <a:solidFill>
                  <a:srgbClr val="18A058"/>
                </a:solidFill>
                <a:latin typeface="Aptos Display" pitchFamily="34" charset="0"/>
                <a:ea typeface="Aptos Display" pitchFamily="34" charset="-122"/>
                <a:cs typeface="Aptos Display" pitchFamily="34" charset="-120"/>
              </a:rPr>
              <a:t>FLOWING</a:t>
            </a:r>
            <a:endParaRPr lang="en-US" sz="1400" dirty="0"/>
          </a:p>
        </p:txBody>
      </p:sp>
      <p:sp>
        <p:nvSpPr>
          <p:cNvPr id="5" name="Text 3"/>
          <p:cNvSpPr/>
          <p:nvPr/>
        </p:nvSpPr>
        <p:spPr>
          <a:xfrm>
            <a:off x="868680" y="180136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最近 30 秒内有新数据</a:t>
            </a:r>
            <a:endParaRPr lang="en-US" sz="950" dirty="0"/>
          </a:p>
        </p:txBody>
      </p:sp>
      <p:sp>
        <p:nvSpPr>
          <p:cNvPr id="6" name="Text 4"/>
          <p:cNvSpPr/>
          <p:nvPr/>
        </p:nvSpPr>
        <p:spPr>
          <a:xfrm>
            <a:off x="4480560" y="1417320"/>
            <a:ext cx="1371600" cy="228600"/>
          </a:xfrm>
          <a:prstGeom prst="rect">
            <a:avLst/>
          </a:prstGeom>
          <a:noFill/>
        </p:spPr>
        <p:txBody>
          <a:bodyPr wrap="square" lIns="0" tIns="0" rIns="0" bIns="0" rtlCol="0" anchor="ctr"/>
          <a:lstStyle/>
          <a:p>
            <a:pPr marL="0" indent="0">
              <a:buNone/>
            </a:pPr>
            <a:r>
              <a:rPr lang="en-US" sz="1400" b="1" dirty="0">
                <a:solidFill>
                  <a:srgbClr val="F59E0B"/>
                </a:solidFill>
                <a:latin typeface="Aptos Display" pitchFamily="34" charset="0"/>
                <a:ea typeface="Aptos Display" pitchFamily="34" charset="-122"/>
                <a:cs typeface="Aptos Display" pitchFamily="34" charset="-120"/>
              </a:rPr>
              <a:t>DELAYED</a:t>
            </a:r>
            <a:endParaRPr lang="en-US" sz="1400" dirty="0"/>
          </a:p>
        </p:txBody>
      </p:sp>
      <p:sp>
        <p:nvSpPr>
          <p:cNvPr id="7" name="Text 5"/>
          <p:cNvSpPr/>
          <p:nvPr/>
        </p:nvSpPr>
        <p:spPr>
          <a:xfrm>
            <a:off x="4480560" y="180136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5 分钟内有数据，但不够实时</a:t>
            </a:r>
            <a:endParaRPr lang="en-US" sz="950" dirty="0"/>
          </a:p>
        </p:txBody>
      </p:sp>
      <p:sp>
        <p:nvSpPr>
          <p:cNvPr id="8" name="Text 6"/>
          <p:cNvSpPr/>
          <p:nvPr/>
        </p:nvSpPr>
        <p:spPr>
          <a:xfrm>
            <a:off x="8092440" y="1417320"/>
            <a:ext cx="1371600" cy="228600"/>
          </a:xfrm>
          <a:prstGeom prst="rect">
            <a:avLst/>
          </a:prstGeom>
          <a:noFill/>
        </p:spPr>
        <p:txBody>
          <a:bodyPr wrap="square" lIns="0" tIns="0" rIns="0" bIns="0" rtlCol="0" anchor="ctr"/>
          <a:lstStyle/>
          <a:p>
            <a:pPr marL="0" indent="0">
              <a:buNone/>
            </a:pPr>
            <a:r>
              <a:rPr lang="en-US" sz="1400" b="1" dirty="0">
                <a:solidFill>
                  <a:srgbClr val="DC2626"/>
                </a:solidFill>
                <a:latin typeface="Aptos Display" pitchFamily="34" charset="0"/>
                <a:ea typeface="Aptos Display" pitchFamily="34" charset="-122"/>
                <a:cs typeface="Aptos Display" pitchFamily="34" charset="-120"/>
              </a:rPr>
              <a:t>STOPPED</a:t>
            </a:r>
            <a:endParaRPr lang="en-US" sz="1400" dirty="0"/>
          </a:p>
        </p:txBody>
      </p:sp>
      <p:sp>
        <p:nvSpPr>
          <p:cNvPr id="9" name="Text 7"/>
          <p:cNvSpPr/>
          <p:nvPr/>
        </p:nvSpPr>
        <p:spPr>
          <a:xfrm>
            <a:off x="8092440" y="180136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较长时间没有新数据</a:t>
            </a:r>
            <a:endParaRPr lang="en-US" sz="950" dirty="0"/>
          </a:p>
        </p:txBody>
      </p:sp>
      <p:sp>
        <p:nvSpPr>
          <p:cNvPr id="10" name="Text 8"/>
          <p:cNvSpPr/>
          <p:nvPr/>
        </p:nvSpPr>
        <p:spPr>
          <a:xfrm>
            <a:off x="868680" y="2651760"/>
            <a:ext cx="1371600" cy="228600"/>
          </a:xfrm>
          <a:prstGeom prst="rect">
            <a:avLst/>
          </a:prstGeom>
          <a:noFill/>
        </p:spPr>
        <p:txBody>
          <a:bodyPr wrap="square" lIns="0" tIns="0" rIns="0" bIns="0" rtlCol="0" anchor="ctr"/>
          <a:lstStyle/>
          <a:p>
            <a:pPr marL="0" indent="0">
              <a:buNone/>
            </a:pPr>
            <a:r>
              <a:rPr lang="en-US" sz="1400" b="1" dirty="0">
                <a:solidFill>
                  <a:srgbClr val="1D7CF2"/>
                </a:solidFill>
                <a:latin typeface="Aptos Display" pitchFamily="34" charset="0"/>
                <a:ea typeface="Aptos Display" pitchFamily="34" charset="-122"/>
                <a:cs typeface="Aptos Display" pitchFamily="34" charset="-120"/>
              </a:rPr>
              <a:t>LIVE</a:t>
            </a:r>
            <a:endParaRPr lang="en-US" sz="1400" dirty="0"/>
          </a:p>
        </p:txBody>
      </p:sp>
      <p:sp>
        <p:nvSpPr>
          <p:cNvPr id="11" name="Text 9"/>
          <p:cNvSpPr/>
          <p:nvPr/>
        </p:nvSpPr>
        <p:spPr>
          <a:xfrm>
            <a:off x="868680" y="303580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真实采集模式</a:t>
            </a:r>
            <a:endParaRPr lang="en-US" sz="950" dirty="0"/>
          </a:p>
        </p:txBody>
      </p:sp>
      <p:sp>
        <p:nvSpPr>
          <p:cNvPr id="12" name="Text 10"/>
          <p:cNvSpPr/>
          <p:nvPr/>
        </p:nvSpPr>
        <p:spPr>
          <a:xfrm>
            <a:off x="4480560" y="2651760"/>
            <a:ext cx="1371600" cy="228600"/>
          </a:xfrm>
          <a:prstGeom prst="rect">
            <a:avLst/>
          </a:prstGeom>
          <a:noFill/>
        </p:spPr>
        <p:txBody>
          <a:bodyPr wrap="square" lIns="0" tIns="0" rIns="0" bIns="0" rtlCol="0" anchor="ctr"/>
          <a:lstStyle/>
          <a:p>
            <a:pPr marL="0" indent="0">
              <a:buNone/>
            </a:pPr>
            <a:r>
              <a:rPr lang="en-US" sz="1400" b="1" dirty="0">
                <a:solidFill>
                  <a:srgbClr val="00A8FF"/>
                </a:solidFill>
                <a:latin typeface="Aptos Display" pitchFamily="34" charset="0"/>
                <a:ea typeface="Aptos Display" pitchFamily="34" charset="-122"/>
                <a:cs typeface="Aptos Display" pitchFamily="34" charset="-120"/>
              </a:rPr>
              <a:t>REPLAY</a:t>
            </a:r>
            <a:endParaRPr lang="en-US" sz="1400" dirty="0"/>
          </a:p>
        </p:txBody>
      </p:sp>
      <p:sp>
        <p:nvSpPr>
          <p:cNvPr id="13" name="Text 11"/>
          <p:cNvSpPr/>
          <p:nvPr/>
        </p:nvSpPr>
        <p:spPr>
          <a:xfrm>
            <a:off x="4480560" y="303580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样本回放模式</a:t>
            </a:r>
            <a:endParaRPr lang="en-US" sz="950" dirty="0"/>
          </a:p>
        </p:txBody>
      </p:sp>
      <p:sp>
        <p:nvSpPr>
          <p:cNvPr id="14" name="Text 12"/>
          <p:cNvSpPr/>
          <p:nvPr/>
        </p:nvSpPr>
        <p:spPr>
          <a:xfrm>
            <a:off x="8092440" y="2651760"/>
            <a:ext cx="1371600" cy="228600"/>
          </a:xfrm>
          <a:prstGeom prst="rect">
            <a:avLst/>
          </a:prstGeom>
          <a:noFill/>
        </p:spPr>
        <p:txBody>
          <a:bodyPr wrap="square" lIns="0" tIns="0" rIns="0" bIns="0" rtlCol="0" anchor="ctr"/>
          <a:lstStyle/>
          <a:p>
            <a:pPr marL="0" indent="0">
              <a:buNone/>
            </a:pPr>
            <a:r>
              <a:rPr lang="en-US" sz="1400" b="1" dirty="0">
                <a:solidFill>
                  <a:srgbClr val="64748B"/>
                </a:solidFill>
                <a:latin typeface="Aptos Display" pitchFamily="34" charset="0"/>
                <a:ea typeface="Aptos Display" pitchFamily="34" charset="-122"/>
                <a:cs typeface="Aptos Display" pitchFamily="34" charset="-120"/>
              </a:rPr>
              <a:t>OFFLINE</a:t>
            </a:r>
            <a:endParaRPr lang="en-US" sz="1400" dirty="0"/>
          </a:p>
        </p:txBody>
      </p:sp>
      <p:sp>
        <p:nvSpPr>
          <p:cNvPr id="15" name="Text 13"/>
          <p:cNvSpPr/>
          <p:nvPr/>
        </p:nvSpPr>
        <p:spPr>
          <a:xfrm>
            <a:off x="8092440" y="3035808"/>
            <a:ext cx="2834640" cy="228600"/>
          </a:xfrm>
          <a:prstGeom prst="rect">
            <a:avLst/>
          </a:prstGeom>
          <a:noFill/>
        </p:spPr>
        <p:txBody>
          <a:bodyPr wrap="square" lIns="0" tIns="0" rIns="0" bIns="0" rtlCol="0" anchor="ctr">
            <a:normAutofit/>
          </a:bodyPr>
          <a:lstStyle/>
          <a:p>
            <a:pPr marL="0" indent="0">
              <a:buNone/>
            </a:pPr>
            <a:r>
              <a:rPr lang="en-US" sz="9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离线状态</a:t>
            </a:r>
            <a:endParaRPr lang="en-US" sz="950" dirty="0"/>
          </a:p>
        </p:txBody>
      </p:sp>
      <p:sp>
        <p:nvSpPr>
          <p:cNvPr id="16" name="Shape 14"/>
          <p:cNvSpPr/>
          <p:nvPr/>
        </p:nvSpPr>
        <p:spPr>
          <a:xfrm>
            <a:off x="914400" y="4343400"/>
            <a:ext cx="5806440" cy="1463040"/>
          </a:xfrm>
          <a:prstGeom prst="roundRect">
            <a:avLst>
              <a:gd name="adj" fmla="val 5000"/>
            </a:avLst>
          </a:prstGeom>
          <a:solidFill>
            <a:srgbClr val="0F172A"/>
          </a:solidFill>
          <a:ln w="12700">
            <a:solidFill>
              <a:srgbClr val="1E293B"/>
            </a:solidFill>
            <a:prstDash val="solid"/>
          </a:ln>
        </p:spPr>
      </p:sp>
      <p:sp>
        <p:nvSpPr>
          <p:cNvPr id="17" name="Text 15"/>
          <p:cNvSpPr/>
          <p:nvPr/>
        </p:nvSpPr>
        <p:spPr>
          <a:xfrm>
            <a:off x="1060704" y="4489704"/>
            <a:ext cx="5513832" cy="1207008"/>
          </a:xfrm>
          <a:prstGeom prst="rect">
            <a:avLst/>
          </a:prstGeom>
          <a:noFill/>
        </p:spPr>
        <p:txBody>
          <a:bodyPr wrap="square" lIns="0" tIns="0" rIns="0" bIns="0" rtlCol="0" anchor="ctr">
            <a:normAutofit/>
          </a:bodyPr>
          <a:lstStyle/>
          <a:p>
            <a:pPr marL="0" indent="0">
              <a:buNone/>
            </a:pPr>
            <a:r>
              <a:rPr lang="en-US" sz="840" dirty="0">
                <a:solidFill>
                  <a:srgbClr val="D8EAFE"/>
                </a:solidFill>
                <a:latin typeface="Consolas" panose="020B0609020204030204" pitchFamily="34" charset="0"/>
                <a:ea typeface="Consolas" panose="020B0609020204030204" pitchFamily="34" charset="-122"/>
                <a:cs typeface="Consolas" panose="020B0609020204030204" pitchFamily="34" charset="-120"/>
              </a:rPr>
              <a:t>CASE</a:t>
            </a:r>
            <a:endParaRPr lang="en-US" sz="840" dirty="0"/>
          </a:p>
          <a:p>
            <a:pPr marL="0" indent="0">
              <a:buNone/>
            </a:pPr>
            <a:r>
              <a:rPr lang="en-US" sz="840" dirty="0">
                <a:solidFill>
                  <a:srgbClr val="D8EAFE"/>
                </a:solidFill>
                <a:latin typeface="Consolas" panose="020B0609020204030204" pitchFamily="34" charset="0"/>
                <a:ea typeface="Consolas" panose="020B0609020204030204" pitchFamily="34" charset="-122"/>
                <a:cs typeface="Consolas" panose="020B0609020204030204" pitchFamily="34" charset="-120"/>
              </a:rPr>
              <a:t>  WHEN latest_created_at &gt;= NOW() - INTERVAL 30 SECOND THEN 'FLOWING'</a:t>
            </a:r>
            <a:endParaRPr lang="en-US" sz="840" dirty="0"/>
          </a:p>
          <a:p>
            <a:pPr marL="0" indent="0">
              <a:buNone/>
            </a:pPr>
            <a:r>
              <a:rPr lang="en-US" sz="840" dirty="0">
                <a:solidFill>
                  <a:srgbClr val="D8EAFE"/>
                </a:solidFill>
                <a:latin typeface="Consolas" panose="020B0609020204030204" pitchFamily="34" charset="0"/>
                <a:ea typeface="Consolas" panose="020B0609020204030204" pitchFamily="34" charset="-122"/>
                <a:cs typeface="Consolas" panose="020B0609020204030204" pitchFamily="34" charset="-120"/>
              </a:rPr>
              <a:t>  WHEN latest_created_at &gt;= NOW() - INTERVAL 5 MINUTE THEN 'DELAYED'</a:t>
            </a:r>
            <a:endParaRPr lang="en-US" sz="840" dirty="0"/>
          </a:p>
          <a:p>
            <a:pPr marL="0" indent="0">
              <a:buNone/>
            </a:pPr>
            <a:r>
              <a:rPr lang="en-US" sz="840" dirty="0">
                <a:solidFill>
                  <a:srgbClr val="D8EAFE"/>
                </a:solidFill>
                <a:latin typeface="Consolas" panose="020B0609020204030204" pitchFamily="34" charset="0"/>
                <a:ea typeface="Consolas" panose="020B0609020204030204" pitchFamily="34" charset="-122"/>
                <a:cs typeface="Consolas" panose="020B0609020204030204" pitchFamily="34" charset="-120"/>
              </a:rPr>
              <a:t>  ELSE 'STOPPED'</a:t>
            </a:r>
            <a:endParaRPr lang="en-US" sz="840" dirty="0"/>
          </a:p>
          <a:p>
            <a:pPr marL="0" indent="0">
              <a:buNone/>
            </a:pPr>
            <a:r>
              <a:rPr lang="en-US" sz="840" dirty="0">
                <a:solidFill>
                  <a:srgbClr val="D8EAFE"/>
                </a:solidFill>
                <a:latin typeface="Consolas" panose="020B0609020204030204" pitchFamily="34" charset="0"/>
                <a:ea typeface="Consolas" panose="020B0609020204030204" pitchFamily="34" charset="-122"/>
                <a:cs typeface="Consolas" panose="020B0609020204030204" pitchFamily="34" charset="-120"/>
              </a:rPr>
              <a:t>END AS stream_state</a:t>
            </a:r>
            <a:endParaRPr lang="en-US" sz="840" dirty="0"/>
          </a:p>
        </p:txBody>
      </p:sp>
      <p:sp>
        <p:nvSpPr>
          <p:cNvPr id="18" name="Shape 16"/>
          <p:cNvSpPr/>
          <p:nvPr/>
        </p:nvSpPr>
        <p:spPr>
          <a:xfrm>
            <a:off x="7178040" y="4498848"/>
            <a:ext cx="4023360" cy="0"/>
          </a:xfrm>
          <a:prstGeom prst="line">
            <a:avLst/>
          </a:prstGeom>
          <a:noFill/>
          <a:ln w="25400">
            <a:solidFill>
              <a:srgbClr val="18A058"/>
            </a:solidFill>
            <a:prstDash val="solid"/>
          </a:ln>
        </p:spPr>
      </p:sp>
      <p:sp>
        <p:nvSpPr>
          <p:cNvPr id="19" name="Text 17"/>
          <p:cNvSpPr/>
          <p:nvPr/>
        </p:nvSpPr>
        <p:spPr>
          <a:xfrm>
            <a:off x="7178040" y="4663440"/>
            <a:ext cx="402336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这个状态不是前端写死的，而是后端根据最新写入时间计算出来的。</a:t>
            </a:r>
            <a:endParaRPr lang="en-US" sz="1140" dirty="0"/>
          </a:p>
        </p:txBody>
      </p:sp>
      <p:sp>
        <p:nvSpPr>
          <p:cNvPr id="20" name="Text 18"/>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1" name="Text 19"/>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实时模块如何保证演示稳定</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针对断流、重复数据和脏数据做保护</a:t>
            </a:r>
            <a:endParaRPr lang="en-US" sz="950" dirty="0"/>
          </a:p>
        </p:txBody>
      </p:sp>
      <p:sp>
        <p:nvSpPr>
          <p:cNvPr id="4" name="Shape 2"/>
          <p:cNvSpPr/>
          <p:nvPr/>
        </p:nvSpPr>
        <p:spPr>
          <a:xfrm>
            <a:off x="868680" y="1499616"/>
            <a:ext cx="73152" cy="73152"/>
          </a:xfrm>
          <a:prstGeom prst="ellipse">
            <a:avLst/>
          </a:prstGeom>
          <a:solidFill>
            <a:srgbClr val="1D7CF2"/>
          </a:solidFill>
          <a:ln w="12700">
            <a:solidFill>
              <a:srgbClr val="1D7CF2"/>
            </a:solidFill>
            <a:prstDash val="solid"/>
          </a:ln>
        </p:spPr>
      </p:sp>
      <p:sp>
        <p:nvSpPr>
          <p:cNvPr id="5" name="Text 3"/>
          <p:cNvSpPr/>
          <p:nvPr/>
        </p:nvSpPr>
        <p:spPr>
          <a:xfrm>
            <a:off x="1033272" y="1417320"/>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采集端支持多源兜底。</a:t>
            </a:r>
            <a:endParaRPr lang="en-US" sz="990" dirty="0"/>
          </a:p>
        </p:txBody>
      </p:sp>
      <p:sp>
        <p:nvSpPr>
          <p:cNvPr id="6" name="Shape 4"/>
          <p:cNvSpPr/>
          <p:nvPr/>
        </p:nvSpPr>
        <p:spPr>
          <a:xfrm>
            <a:off x="868680" y="2112264"/>
            <a:ext cx="73152" cy="73152"/>
          </a:xfrm>
          <a:prstGeom prst="ellipse">
            <a:avLst/>
          </a:prstGeom>
          <a:solidFill>
            <a:srgbClr val="18A058"/>
          </a:solidFill>
          <a:ln w="12700">
            <a:solidFill>
              <a:srgbClr val="18A058"/>
            </a:solidFill>
            <a:prstDash val="solid"/>
          </a:ln>
        </p:spPr>
      </p:sp>
      <p:sp>
        <p:nvSpPr>
          <p:cNvPr id="7" name="Text 5"/>
          <p:cNvSpPr/>
          <p:nvPr/>
        </p:nvSpPr>
        <p:spPr>
          <a:xfrm>
            <a:off x="1033272" y="2029968"/>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Producer 发送前做数据校验。</a:t>
            </a:r>
            <a:endParaRPr lang="en-US" sz="990" dirty="0"/>
          </a:p>
        </p:txBody>
      </p:sp>
      <p:sp>
        <p:nvSpPr>
          <p:cNvPr id="8" name="Shape 6"/>
          <p:cNvSpPr/>
          <p:nvPr/>
        </p:nvSpPr>
        <p:spPr>
          <a:xfrm>
            <a:off x="868680" y="2724912"/>
            <a:ext cx="73152" cy="73152"/>
          </a:xfrm>
          <a:prstGeom prst="ellipse">
            <a:avLst/>
          </a:prstGeom>
          <a:solidFill>
            <a:srgbClr val="1D7CF2"/>
          </a:solidFill>
          <a:ln w="12700">
            <a:solidFill>
              <a:srgbClr val="1D7CF2"/>
            </a:solidFill>
            <a:prstDash val="solid"/>
          </a:ln>
        </p:spPr>
      </p:sp>
      <p:sp>
        <p:nvSpPr>
          <p:cNvPr id="9" name="Text 7"/>
          <p:cNvSpPr/>
          <p:nvPr/>
        </p:nvSpPr>
        <p:spPr>
          <a:xfrm>
            <a:off x="1033272" y="2642616"/>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入口做质量过滤。</a:t>
            </a:r>
            <a:endParaRPr lang="en-US" sz="990" dirty="0"/>
          </a:p>
        </p:txBody>
      </p:sp>
      <p:sp>
        <p:nvSpPr>
          <p:cNvPr id="10" name="Shape 8"/>
          <p:cNvSpPr/>
          <p:nvPr/>
        </p:nvSpPr>
        <p:spPr>
          <a:xfrm>
            <a:off x="868680" y="3337560"/>
            <a:ext cx="73152" cy="73152"/>
          </a:xfrm>
          <a:prstGeom prst="ellipse">
            <a:avLst/>
          </a:prstGeom>
          <a:solidFill>
            <a:srgbClr val="18A058"/>
          </a:solidFill>
          <a:ln w="12700">
            <a:solidFill>
              <a:srgbClr val="18A058"/>
            </a:solidFill>
            <a:prstDash val="solid"/>
          </a:ln>
        </p:spPr>
      </p:sp>
      <p:sp>
        <p:nvSpPr>
          <p:cNvPr id="11" name="Text 9"/>
          <p:cNvSpPr/>
          <p:nvPr/>
        </p:nvSpPr>
        <p:spPr>
          <a:xfrm>
            <a:off x="1033272" y="3255264"/>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使用 event_id 去重。</a:t>
            </a:r>
            <a:endParaRPr lang="en-US" sz="990" dirty="0"/>
          </a:p>
        </p:txBody>
      </p:sp>
      <p:sp>
        <p:nvSpPr>
          <p:cNvPr id="12" name="Shape 10"/>
          <p:cNvSpPr/>
          <p:nvPr/>
        </p:nvSpPr>
        <p:spPr>
          <a:xfrm>
            <a:off x="6217920" y="1499616"/>
            <a:ext cx="73152" cy="73152"/>
          </a:xfrm>
          <a:prstGeom prst="ellipse">
            <a:avLst/>
          </a:prstGeom>
          <a:solidFill>
            <a:srgbClr val="1D7CF2"/>
          </a:solidFill>
          <a:ln w="12700">
            <a:solidFill>
              <a:srgbClr val="1D7CF2"/>
            </a:solidFill>
            <a:prstDash val="solid"/>
          </a:ln>
        </p:spPr>
      </p:sp>
      <p:sp>
        <p:nvSpPr>
          <p:cNvPr id="13" name="Text 11"/>
          <p:cNvSpPr/>
          <p:nvPr/>
        </p:nvSpPr>
        <p:spPr>
          <a:xfrm>
            <a:off x="6382512" y="1417320"/>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相同行情快照不重复写库。</a:t>
            </a:r>
            <a:endParaRPr lang="en-US" sz="990" dirty="0"/>
          </a:p>
        </p:txBody>
      </p:sp>
      <p:sp>
        <p:nvSpPr>
          <p:cNvPr id="14" name="Shape 12"/>
          <p:cNvSpPr/>
          <p:nvPr/>
        </p:nvSpPr>
        <p:spPr>
          <a:xfrm>
            <a:off x="6217920" y="2112264"/>
            <a:ext cx="73152" cy="73152"/>
          </a:xfrm>
          <a:prstGeom prst="ellipse">
            <a:avLst/>
          </a:prstGeom>
          <a:solidFill>
            <a:srgbClr val="18A058"/>
          </a:solidFill>
          <a:ln w="12700">
            <a:solidFill>
              <a:srgbClr val="18A058"/>
            </a:solidFill>
            <a:prstDash val="solid"/>
          </a:ln>
        </p:spPr>
      </p:sp>
      <p:sp>
        <p:nvSpPr>
          <p:cNvPr id="15" name="Text 13"/>
          <p:cNvSpPr/>
          <p:nvPr/>
        </p:nvSpPr>
        <p:spPr>
          <a:xfrm>
            <a:off x="6382512" y="2029968"/>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HDFS 写入失败时不影响 MySQL 写入。</a:t>
            </a:r>
            <a:endParaRPr lang="en-US" sz="990" dirty="0"/>
          </a:p>
        </p:txBody>
      </p:sp>
      <p:sp>
        <p:nvSpPr>
          <p:cNvPr id="16" name="Shape 14"/>
          <p:cNvSpPr/>
          <p:nvPr/>
        </p:nvSpPr>
        <p:spPr>
          <a:xfrm>
            <a:off x="6217920" y="2724912"/>
            <a:ext cx="73152" cy="73152"/>
          </a:xfrm>
          <a:prstGeom prst="ellipse">
            <a:avLst/>
          </a:prstGeom>
          <a:solidFill>
            <a:srgbClr val="1D7CF2"/>
          </a:solidFill>
          <a:ln w="12700">
            <a:solidFill>
              <a:srgbClr val="1D7CF2"/>
            </a:solidFill>
            <a:prstDash val="solid"/>
          </a:ln>
        </p:spPr>
      </p:sp>
      <p:sp>
        <p:nvSpPr>
          <p:cNvPr id="17" name="Text 15"/>
          <p:cNvSpPr/>
          <p:nvPr/>
        </p:nvSpPr>
        <p:spPr>
          <a:xfrm>
            <a:off x="6382512" y="2642616"/>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Spark checkpoint 支持流式恢复。</a:t>
            </a:r>
            <a:endParaRPr lang="en-US" sz="990" dirty="0"/>
          </a:p>
        </p:txBody>
      </p:sp>
      <p:sp>
        <p:nvSpPr>
          <p:cNvPr id="18" name="Shape 16"/>
          <p:cNvSpPr/>
          <p:nvPr/>
        </p:nvSpPr>
        <p:spPr>
          <a:xfrm>
            <a:off x="6217920" y="3337560"/>
            <a:ext cx="73152" cy="73152"/>
          </a:xfrm>
          <a:prstGeom prst="ellipse">
            <a:avLst/>
          </a:prstGeom>
          <a:solidFill>
            <a:srgbClr val="18A058"/>
          </a:solidFill>
          <a:ln w="12700">
            <a:solidFill>
              <a:srgbClr val="18A058"/>
            </a:solidFill>
            <a:prstDash val="solid"/>
          </a:ln>
        </p:spPr>
      </p:sp>
      <p:sp>
        <p:nvSpPr>
          <p:cNvPr id="19" name="Text 17"/>
          <p:cNvSpPr/>
          <p:nvPr/>
        </p:nvSpPr>
        <p:spPr>
          <a:xfrm>
            <a:off x="6382512" y="3255264"/>
            <a:ext cx="4846320" cy="310896"/>
          </a:xfrm>
          <a:prstGeom prst="rect">
            <a:avLst/>
          </a:prstGeom>
          <a:noFill/>
        </p:spPr>
        <p:txBody>
          <a:bodyPr wrap="square" lIns="0" tIns="0" rIns="0" bIns="0" rtlCol="0" anchor="ctr">
            <a:normAutofit/>
          </a:bodyPr>
          <a:lstStyle/>
          <a:p>
            <a:pPr marL="0" indent="0">
              <a:buNone/>
            </a:pPr>
            <a:r>
              <a:rPr lang="en-US" sz="99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前端支持后端异常时展示离线状态。</a:t>
            </a:r>
            <a:endParaRPr lang="en-US" sz="990" dirty="0"/>
          </a:p>
        </p:txBody>
      </p:sp>
      <p:sp>
        <p:nvSpPr>
          <p:cNvPr id="20" name="Shape 18"/>
          <p:cNvSpPr/>
          <p:nvPr/>
        </p:nvSpPr>
        <p:spPr>
          <a:xfrm>
            <a:off x="868680" y="5074920"/>
            <a:ext cx="9966960" cy="0"/>
          </a:xfrm>
          <a:prstGeom prst="line">
            <a:avLst/>
          </a:prstGeom>
          <a:noFill/>
          <a:ln w="25400">
            <a:solidFill>
              <a:srgbClr val="DC2626"/>
            </a:solidFill>
            <a:prstDash val="solid"/>
          </a:ln>
        </p:spPr>
      </p:sp>
      <p:sp>
        <p:nvSpPr>
          <p:cNvPr id="21" name="Text 19"/>
          <p:cNvSpPr/>
          <p:nvPr/>
        </p:nvSpPr>
        <p:spPr>
          <a:xfrm>
            <a:off x="868680" y="5239512"/>
            <a:ext cx="996696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这些设计保证系统不是只能在理想情况下运行，而是考虑了实时链路中的常见问题。</a:t>
            </a:r>
            <a:endParaRPr lang="en-US" sz="1140" dirty="0"/>
          </a:p>
        </p:txBody>
      </p:sp>
      <p:sp>
        <p:nvSpPr>
          <p:cNvPr id="22" name="Text 20"/>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3" name="Text 21"/>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F36"/>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实时数据分析模块实现效果</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B8C7D9"/>
                </a:solidFill>
                <a:latin typeface="微软雅黑" panose="020B0503020204020204" pitchFamily="34" charset="-122"/>
                <a:ea typeface="微软雅黑" panose="020B0503020204020204" pitchFamily="34" charset="-122"/>
                <a:cs typeface="微软雅黑" panose="020B0503020204020204" pitchFamily="34" charset="-120"/>
              </a:rPr>
              <a:t>模块总结：完整链路、实时分析、可视化与可监控</a:t>
            </a:r>
            <a:endParaRPr lang="en-US" sz="950" dirty="0"/>
          </a:p>
        </p:txBody>
      </p:sp>
      <p:sp>
        <p:nvSpPr>
          <p:cNvPr id="4" name="Text 2"/>
          <p:cNvSpPr/>
          <p:nvPr/>
        </p:nvSpPr>
        <p:spPr>
          <a:xfrm>
            <a:off x="822960" y="1508760"/>
            <a:ext cx="3840480" cy="274320"/>
          </a:xfrm>
          <a:prstGeom prst="rect">
            <a:avLst/>
          </a:prstGeom>
          <a:noFill/>
        </p:spPr>
        <p:txBody>
          <a:bodyPr wrap="square" lIns="0" tIns="0" rIns="0" bIns="0" rtlCol="0" anchor="ctr"/>
          <a:lstStyle/>
          <a:p>
            <a:pPr marL="0" indent="0">
              <a:buNone/>
            </a:pPr>
            <a:r>
              <a:rPr lang="en-US" sz="1400" b="1" dirty="0">
                <a:solidFill>
                  <a:srgbClr val="7DD3FC"/>
                </a:solidFill>
                <a:latin typeface="微软雅黑" panose="020B0503020204020204" pitchFamily="34" charset="-122"/>
                <a:ea typeface="微软雅黑" panose="020B0503020204020204" pitchFamily="34" charset="-122"/>
                <a:cs typeface="微软雅黑" panose="020B0503020204020204" pitchFamily="34" charset="-120"/>
              </a:rPr>
              <a:t>1. 实现完整实时数据链路</a:t>
            </a:r>
            <a:endParaRPr lang="en-US" sz="1400" dirty="0"/>
          </a:p>
        </p:txBody>
      </p:sp>
      <p:sp>
        <p:nvSpPr>
          <p:cNvPr id="5" name="Text 3"/>
          <p:cNvSpPr/>
          <p:nvPr/>
        </p:nvSpPr>
        <p:spPr>
          <a:xfrm>
            <a:off x="822960" y="1901952"/>
            <a:ext cx="8961120" cy="292608"/>
          </a:xfrm>
          <a:prstGeom prst="rect">
            <a:avLst/>
          </a:prstGeom>
          <a:noFill/>
        </p:spPr>
        <p:txBody>
          <a:bodyPr wrap="square" lIns="0" tIns="0" rIns="0" bIns="0" rtlCol="0" anchor="ctr">
            <a:normAutofit/>
          </a:bodyPr>
          <a:lstStyle/>
          <a:p>
            <a:pPr marL="0" indent="0">
              <a:buNone/>
            </a:pPr>
            <a:r>
              <a:rPr lang="en-US" sz="11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从行情采集到 Kafka，再到 Spark 分析、MySQL/HDFS 存储和前端展示。</a:t>
            </a:r>
            <a:endParaRPr lang="en-US" sz="1120" dirty="0"/>
          </a:p>
        </p:txBody>
      </p:sp>
      <p:sp>
        <p:nvSpPr>
          <p:cNvPr id="6" name="Text 4"/>
          <p:cNvSpPr/>
          <p:nvPr/>
        </p:nvSpPr>
        <p:spPr>
          <a:xfrm>
            <a:off x="822960" y="2560320"/>
            <a:ext cx="3840480" cy="274320"/>
          </a:xfrm>
          <a:prstGeom prst="rect">
            <a:avLst/>
          </a:prstGeom>
          <a:noFill/>
        </p:spPr>
        <p:txBody>
          <a:bodyPr wrap="square" lIns="0" tIns="0" rIns="0" bIns="0" rtlCol="0" anchor="ctr"/>
          <a:lstStyle/>
          <a:p>
            <a:pPr marL="0" indent="0">
              <a:buNone/>
            </a:pPr>
            <a:r>
              <a:rPr lang="en-US" sz="1400" b="1" dirty="0">
                <a:solidFill>
                  <a:srgbClr val="7DD3FC"/>
                </a:solidFill>
                <a:latin typeface="微软雅黑" panose="020B0503020204020204" pitchFamily="34" charset="-122"/>
                <a:ea typeface="微软雅黑" panose="020B0503020204020204" pitchFamily="34" charset="-122"/>
                <a:cs typeface="微软雅黑" panose="020B0503020204020204" pitchFamily="34" charset="-120"/>
              </a:rPr>
              <a:t>2. 实现实时分析能力</a:t>
            </a:r>
            <a:endParaRPr lang="en-US" sz="1400" dirty="0"/>
          </a:p>
        </p:txBody>
      </p:sp>
      <p:sp>
        <p:nvSpPr>
          <p:cNvPr id="7" name="Text 5"/>
          <p:cNvSpPr/>
          <p:nvPr/>
        </p:nvSpPr>
        <p:spPr>
          <a:xfrm>
            <a:off x="822960" y="2953512"/>
            <a:ext cx="8961120" cy="292608"/>
          </a:xfrm>
          <a:prstGeom prst="rect">
            <a:avLst/>
          </a:prstGeom>
          <a:noFill/>
        </p:spPr>
        <p:txBody>
          <a:bodyPr wrap="square" lIns="0" tIns="0" rIns="0" bIns="0" rtlCol="0" anchor="ctr">
            <a:normAutofit/>
          </a:bodyPr>
          <a:lstStyle/>
          <a:p>
            <a:pPr marL="0" indent="0">
              <a:buNone/>
            </a:pPr>
            <a:r>
              <a:rPr lang="en-US" sz="11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包括行情去重、分钟聚合、个股统计、行业分析和风险告警。</a:t>
            </a:r>
            <a:endParaRPr lang="en-US" sz="1120" dirty="0"/>
          </a:p>
        </p:txBody>
      </p:sp>
      <p:sp>
        <p:nvSpPr>
          <p:cNvPr id="8" name="Text 6"/>
          <p:cNvSpPr/>
          <p:nvPr/>
        </p:nvSpPr>
        <p:spPr>
          <a:xfrm>
            <a:off x="822960" y="3611880"/>
            <a:ext cx="3840480" cy="274320"/>
          </a:xfrm>
          <a:prstGeom prst="rect">
            <a:avLst/>
          </a:prstGeom>
          <a:noFill/>
        </p:spPr>
        <p:txBody>
          <a:bodyPr wrap="square" lIns="0" tIns="0" rIns="0" bIns="0" rtlCol="0" anchor="ctr"/>
          <a:lstStyle/>
          <a:p>
            <a:pPr marL="0" indent="0">
              <a:buNone/>
            </a:pPr>
            <a:r>
              <a:rPr lang="en-US" sz="1400" b="1" dirty="0">
                <a:solidFill>
                  <a:srgbClr val="7DD3FC"/>
                </a:solidFill>
                <a:latin typeface="微软雅黑" panose="020B0503020204020204" pitchFamily="34" charset="-122"/>
                <a:ea typeface="微软雅黑" panose="020B0503020204020204" pitchFamily="34" charset="-122"/>
                <a:cs typeface="微软雅黑" panose="020B0503020204020204" pitchFamily="34" charset="-120"/>
              </a:rPr>
              <a:t>3. 实现可视化和可监控</a:t>
            </a:r>
            <a:endParaRPr lang="en-US" sz="1400" dirty="0"/>
          </a:p>
        </p:txBody>
      </p:sp>
      <p:sp>
        <p:nvSpPr>
          <p:cNvPr id="9" name="Text 7"/>
          <p:cNvSpPr/>
          <p:nvPr/>
        </p:nvSpPr>
        <p:spPr>
          <a:xfrm>
            <a:off x="822960" y="4005072"/>
            <a:ext cx="8961120" cy="292608"/>
          </a:xfrm>
          <a:prstGeom prst="rect">
            <a:avLst/>
          </a:prstGeom>
          <a:noFill/>
        </p:spPr>
        <p:txBody>
          <a:bodyPr wrap="square" lIns="0" tIns="0" rIns="0" bIns="0" rtlCol="0" anchor="ctr">
            <a:normAutofit/>
          </a:bodyPr>
          <a:lstStyle/>
          <a:p>
            <a:pPr marL="0" indent="0">
              <a:buNone/>
            </a:pPr>
            <a:r>
              <a:rPr lang="en-US" sz="112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前端能够展示实时流状态、告警列表、个股走势和市场结构。</a:t>
            </a:r>
            <a:endParaRPr lang="en-US" sz="1120" dirty="0"/>
          </a:p>
        </p:txBody>
      </p:sp>
      <p:sp>
        <p:nvSpPr>
          <p:cNvPr id="10" name="Text 8"/>
          <p:cNvSpPr/>
          <p:nvPr/>
        </p:nvSpPr>
        <p:spPr>
          <a:xfrm>
            <a:off x="822960" y="5486400"/>
            <a:ext cx="10241280" cy="420624"/>
          </a:xfrm>
          <a:prstGeom prst="rect">
            <a:avLst/>
          </a:prstGeom>
          <a:noFill/>
        </p:spPr>
        <p:txBody>
          <a:bodyPr wrap="square" lIns="0" tIns="0" rIns="0" bIns="0" rtlCol="0" anchor="ctr">
            <a:normAutofit/>
          </a:bodyPr>
          <a:lstStyle/>
          <a:p>
            <a:pPr marL="0" indent="0">
              <a:buNone/>
            </a:pPr>
            <a:r>
              <a:rPr lang="en-US" sz="1250" b="1" dirty="0">
                <a:solidFill>
                  <a:srgbClr val="CFFAFE"/>
                </a:solidFill>
                <a:latin typeface="微软雅黑" panose="020B0503020204020204" pitchFamily="34" charset="-122"/>
                <a:ea typeface="微软雅黑" panose="020B0503020204020204" pitchFamily="34" charset="-122"/>
                <a:cs typeface="微软雅黑" panose="020B0503020204020204" pitchFamily="34" charset="-120"/>
              </a:rPr>
              <a:t>实时数据分析模块证明本系统不仅能做静态数据展示，还具备持续采集、持续计算、持续告警和持续展示的能力，是整个平台动态分析能力的核心部分。</a:t>
            </a:r>
            <a:endParaRPr lang="en-US" sz="1250" dirty="0"/>
          </a:p>
        </p:txBody>
      </p:sp>
      <p:sp>
        <p:nvSpPr>
          <p:cNvPr id="11" name="Text 9"/>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9FB2C8"/>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12" name="Text 10"/>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9FB2C8"/>
                </a:solidFill>
                <a:latin typeface="Aptos" pitchFamily="34" charset="0"/>
                <a:ea typeface="Aptos" pitchFamily="34" charset="-122"/>
                <a:cs typeface="Aptos" pitchFamily="34" charset="-120"/>
              </a:rPr>
              <a:t>18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384048"/>
            <a:ext cx="10607040" cy="457200"/>
          </a:xfrm>
          <a:prstGeom prst="rect">
            <a:avLst/>
          </a:prstGeom>
          <a:noFill/>
        </p:spPr>
        <p:txBody>
          <a:bodyPr wrap="square" lIns="0" tIns="0" rIns="0" bIns="0" rtlCol="0" anchor="ctr">
            <a:normAutofit/>
          </a:bodyPr>
          <a:lstStyle/>
          <a:p>
            <a:pPr marL="0" indent="0">
              <a:buNone/>
            </a:pPr>
            <a:r>
              <a:rPr lang="en-US" sz="240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后续优化方向</a:t>
            </a:r>
            <a:endParaRPr lang="en-US" sz="2400" dirty="0"/>
          </a:p>
        </p:txBody>
      </p:sp>
      <p:sp>
        <p:nvSpPr>
          <p:cNvPr id="3" name="Text 1"/>
          <p:cNvSpPr/>
          <p:nvPr/>
        </p:nvSpPr>
        <p:spPr>
          <a:xfrm>
            <a:off x="658368" y="896112"/>
            <a:ext cx="10058400" cy="237744"/>
          </a:xfrm>
          <a:prstGeom prst="rect">
            <a:avLst/>
          </a:prstGeom>
          <a:noFill/>
        </p:spPr>
        <p:txBody>
          <a:bodyPr wrap="square" lIns="0" tIns="0" rIns="0" bIns="0" rtlCol="0" anchor="ctr">
            <a:normAutofit/>
          </a:bodyPr>
          <a:lstStyle/>
          <a:p>
            <a:pPr marL="0" indent="0">
              <a:buNone/>
            </a:pPr>
            <a:r>
              <a:rPr lang="en-US" sz="950" dirty="0">
                <a:solidFill>
                  <a:srgbClr val="5E7185"/>
                </a:solidFill>
                <a:latin typeface="微软雅黑" panose="020B0503020204020204" pitchFamily="34" charset="-122"/>
                <a:ea typeface="微软雅黑" panose="020B0503020204020204" pitchFamily="34" charset="-122"/>
                <a:cs typeface="微软雅黑" panose="020B0503020204020204" pitchFamily="34" charset="-120"/>
              </a:rPr>
              <a:t>当前模块已经实现实时链路闭环，后续可以进一步增强可解释性和监控能力</a:t>
            </a:r>
            <a:endParaRPr lang="en-US" sz="950" dirty="0"/>
          </a:p>
        </p:txBody>
      </p:sp>
      <p:sp>
        <p:nvSpPr>
          <p:cNvPr id="4" name="Shape 2"/>
          <p:cNvSpPr/>
          <p:nvPr/>
        </p:nvSpPr>
        <p:spPr>
          <a:xfrm>
            <a:off x="868680" y="1874520"/>
            <a:ext cx="9875520" cy="0"/>
          </a:xfrm>
          <a:prstGeom prst="line">
            <a:avLst/>
          </a:prstGeom>
          <a:noFill/>
          <a:ln w="12700">
            <a:solidFill>
              <a:srgbClr val="D7E0EA"/>
            </a:solidFill>
            <a:prstDash val="solid"/>
          </a:ln>
        </p:spPr>
      </p:sp>
      <p:sp>
        <p:nvSpPr>
          <p:cNvPr id="5" name="Text 3"/>
          <p:cNvSpPr/>
          <p:nvPr/>
        </p:nvSpPr>
        <p:spPr>
          <a:xfrm>
            <a:off x="914400" y="1417320"/>
            <a:ext cx="2011680" cy="219456"/>
          </a:xfrm>
          <a:prstGeom prst="rect">
            <a:avLst/>
          </a:prstGeom>
          <a:noFill/>
        </p:spPr>
        <p:txBody>
          <a:bodyPr wrap="square" lIns="0" tIns="0" rIns="0" bIns="0" rtlCol="0" anchor="ctr"/>
          <a:lstStyle/>
          <a:p>
            <a:pPr marL="0" indent="0">
              <a:buNone/>
            </a:pPr>
            <a:r>
              <a:rPr lang="en-US" sz="1100" b="1" dirty="0">
                <a:solidFill>
                  <a:srgbClr val="1D7CF2"/>
                </a:solidFill>
                <a:latin typeface="微软雅黑" panose="020B0503020204020204" pitchFamily="34" charset="-122"/>
                <a:ea typeface="微软雅黑" panose="020B0503020204020204" pitchFamily="34" charset="-122"/>
                <a:cs typeface="微软雅黑" panose="020B0503020204020204" pitchFamily="34" charset="-120"/>
              </a:rPr>
              <a:t>批次质量统计</a:t>
            </a:r>
            <a:endParaRPr lang="en-US" sz="1100" dirty="0"/>
          </a:p>
        </p:txBody>
      </p:sp>
      <p:sp>
        <p:nvSpPr>
          <p:cNvPr id="6" name="Text 4"/>
          <p:cNvSpPr/>
          <p:nvPr/>
        </p:nvSpPr>
        <p:spPr>
          <a:xfrm>
            <a:off x="3154680" y="1417320"/>
            <a:ext cx="7040880" cy="219456"/>
          </a:xfrm>
          <a:prstGeom prst="rect">
            <a:avLst/>
          </a:prstGeom>
          <a:noFill/>
        </p:spPr>
        <p:txBody>
          <a:bodyPr wrap="square" lIns="0" tIns="0" rIns="0" bIns="0" rtlCol="0" anchor="ctr">
            <a:normAutofit/>
          </a:bodyPr>
          <a:lstStyle/>
          <a:p>
            <a:pPr marL="0" indent="0">
              <a:buNone/>
            </a:pPr>
            <a:r>
              <a:rPr lang="en-US" sz="10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增加输入条数、过滤条数、写库条数。</a:t>
            </a:r>
            <a:endParaRPr lang="en-US" sz="1050" dirty="0"/>
          </a:p>
        </p:txBody>
      </p:sp>
      <p:sp>
        <p:nvSpPr>
          <p:cNvPr id="7" name="Shape 5"/>
          <p:cNvSpPr/>
          <p:nvPr/>
        </p:nvSpPr>
        <p:spPr>
          <a:xfrm>
            <a:off x="868680" y="2660904"/>
            <a:ext cx="9875520" cy="0"/>
          </a:xfrm>
          <a:prstGeom prst="line">
            <a:avLst/>
          </a:prstGeom>
          <a:noFill/>
          <a:ln w="12700">
            <a:solidFill>
              <a:srgbClr val="D7E0EA"/>
            </a:solidFill>
            <a:prstDash val="solid"/>
          </a:ln>
        </p:spPr>
      </p:sp>
      <p:sp>
        <p:nvSpPr>
          <p:cNvPr id="8" name="Text 6"/>
          <p:cNvSpPr/>
          <p:nvPr/>
        </p:nvSpPr>
        <p:spPr>
          <a:xfrm>
            <a:off x="914400" y="2203704"/>
            <a:ext cx="2011680" cy="219456"/>
          </a:xfrm>
          <a:prstGeom prst="rect">
            <a:avLst/>
          </a:prstGeom>
          <a:noFill/>
        </p:spPr>
        <p:txBody>
          <a:bodyPr wrap="square" lIns="0" tIns="0" rIns="0" bIns="0" rtlCol="0" anchor="ctr"/>
          <a:lstStyle/>
          <a:p>
            <a:pPr marL="0" indent="0">
              <a:buNone/>
            </a:pPr>
            <a:r>
              <a:rPr lang="en-US" sz="1100" b="1" dirty="0">
                <a:solidFill>
                  <a:srgbClr val="18A058"/>
                </a:solidFill>
                <a:latin typeface="微软雅黑" panose="020B0503020204020204" pitchFamily="34" charset="-122"/>
                <a:ea typeface="微软雅黑" panose="020B0503020204020204" pitchFamily="34" charset="-122"/>
                <a:cs typeface="微软雅黑" panose="020B0503020204020204" pitchFamily="34" charset="-120"/>
              </a:rPr>
              <a:t>告警原因字段</a:t>
            </a:r>
            <a:endParaRPr lang="en-US" sz="1100" dirty="0"/>
          </a:p>
        </p:txBody>
      </p:sp>
      <p:sp>
        <p:nvSpPr>
          <p:cNvPr id="9" name="Text 7"/>
          <p:cNvSpPr/>
          <p:nvPr/>
        </p:nvSpPr>
        <p:spPr>
          <a:xfrm>
            <a:off x="3154680" y="2203704"/>
            <a:ext cx="7040880" cy="219456"/>
          </a:xfrm>
          <a:prstGeom prst="rect">
            <a:avLst/>
          </a:prstGeom>
          <a:noFill/>
        </p:spPr>
        <p:txBody>
          <a:bodyPr wrap="square" lIns="0" tIns="0" rIns="0" bIns="0" rtlCol="0" anchor="ctr">
            <a:normAutofit/>
          </a:bodyPr>
          <a:lstStyle/>
          <a:p>
            <a:pPr marL="0" indent="0">
              <a:buNone/>
            </a:pPr>
            <a:r>
              <a:rPr lang="en-US" sz="10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记录触发阈值、实际涨跌幅和成交量倍数。</a:t>
            </a:r>
            <a:endParaRPr lang="en-US" sz="1050" dirty="0"/>
          </a:p>
        </p:txBody>
      </p:sp>
      <p:sp>
        <p:nvSpPr>
          <p:cNvPr id="10" name="Shape 8"/>
          <p:cNvSpPr/>
          <p:nvPr/>
        </p:nvSpPr>
        <p:spPr>
          <a:xfrm>
            <a:off x="868680" y="3447288"/>
            <a:ext cx="9875520" cy="0"/>
          </a:xfrm>
          <a:prstGeom prst="line">
            <a:avLst/>
          </a:prstGeom>
          <a:noFill/>
          <a:ln w="12700">
            <a:solidFill>
              <a:srgbClr val="D7E0EA"/>
            </a:solidFill>
            <a:prstDash val="solid"/>
          </a:ln>
        </p:spPr>
      </p:sp>
      <p:sp>
        <p:nvSpPr>
          <p:cNvPr id="11" name="Text 9"/>
          <p:cNvSpPr/>
          <p:nvPr/>
        </p:nvSpPr>
        <p:spPr>
          <a:xfrm>
            <a:off x="914400" y="2990088"/>
            <a:ext cx="2011680" cy="219456"/>
          </a:xfrm>
          <a:prstGeom prst="rect">
            <a:avLst/>
          </a:prstGeom>
          <a:noFill/>
        </p:spPr>
        <p:txBody>
          <a:bodyPr wrap="square" lIns="0" tIns="0" rIns="0" bIns="0" rtlCol="0" anchor="ctr"/>
          <a:lstStyle/>
          <a:p>
            <a:pPr marL="0" indent="0">
              <a:buNone/>
            </a:pPr>
            <a:r>
              <a:rPr lang="en-US" sz="1100" b="1" dirty="0">
                <a:solidFill>
                  <a:srgbClr val="1D7CF2"/>
                </a:solidFill>
                <a:latin typeface="微软雅黑" panose="020B0503020204020204" pitchFamily="34" charset="-122"/>
                <a:ea typeface="微软雅黑" panose="020B0503020204020204" pitchFamily="34" charset="-122"/>
                <a:cs typeface="微软雅黑" panose="020B0503020204020204" pitchFamily="34" charset="-120"/>
              </a:rPr>
              <a:t>链路状态图</a:t>
            </a:r>
            <a:endParaRPr lang="en-US" sz="1100" dirty="0"/>
          </a:p>
        </p:txBody>
      </p:sp>
      <p:sp>
        <p:nvSpPr>
          <p:cNvPr id="12" name="Text 10"/>
          <p:cNvSpPr/>
          <p:nvPr/>
        </p:nvSpPr>
        <p:spPr>
          <a:xfrm>
            <a:off x="3154680" y="2990088"/>
            <a:ext cx="7040880" cy="219456"/>
          </a:xfrm>
          <a:prstGeom prst="rect">
            <a:avLst/>
          </a:prstGeom>
          <a:noFill/>
        </p:spPr>
        <p:txBody>
          <a:bodyPr wrap="square" lIns="0" tIns="0" rIns="0" bIns="0" rtlCol="0" anchor="ctr">
            <a:normAutofit/>
          </a:bodyPr>
          <a:lstStyle/>
          <a:p>
            <a:pPr marL="0" indent="0">
              <a:buNone/>
            </a:pPr>
            <a:r>
              <a:rPr lang="en-US" sz="10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前端展示 Kafka / Spark / MySQL 状态。</a:t>
            </a:r>
            <a:endParaRPr lang="en-US" sz="1050" dirty="0"/>
          </a:p>
        </p:txBody>
      </p:sp>
      <p:sp>
        <p:nvSpPr>
          <p:cNvPr id="13" name="Shape 11"/>
          <p:cNvSpPr/>
          <p:nvPr/>
        </p:nvSpPr>
        <p:spPr>
          <a:xfrm>
            <a:off x="868680" y="4233672"/>
            <a:ext cx="9875520" cy="0"/>
          </a:xfrm>
          <a:prstGeom prst="line">
            <a:avLst/>
          </a:prstGeom>
          <a:noFill/>
          <a:ln w="12700">
            <a:solidFill>
              <a:srgbClr val="D7E0EA"/>
            </a:solidFill>
            <a:prstDash val="solid"/>
          </a:ln>
        </p:spPr>
      </p:sp>
      <p:sp>
        <p:nvSpPr>
          <p:cNvPr id="14" name="Text 12"/>
          <p:cNvSpPr/>
          <p:nvPr/>
        </p:nvSpPr>
        <p:spPr>
          <a:xfrm>
            <a:off x="914400" y="3776472"/>
            <a:ext cx="2011680" cy="219456"/>
          </a:xfrm>
          <a:prstGeom prst="rect">
            <a:avLst/>
          </a:prstGeom>
          <a:noFill/>
        </p:spPr>
        <p:txBody>
          <a:bodyPr wrap="square" lIns="0" tIns="0" rIns="0" bIns="0" rtlCol="0" anchor="ctr"/>
          <a:lstStyle/>
          <a:p>
            <a:pPr marL="0" indent="0">
              <a:buNone/>
            </a:pPr>
            <a:r>
              <a:rPr lang="en-US" sz="1100" b="1" dirty="0">
                <a:solidFill>
                  <a:srgbClr val="18A058"/>
                </a:solidFill>
                <a:latin typeface="微软雅黑" panose="020B0503020204020204" pitchFamily="34" charset="-122"/>
                <a:ea typeface="微软雅黑" panose="020B0503020204020204" pitchFamily="34" charset="-122"/>
                <a:cs typeface="微软雅黑" panose="020B0503020204020204" pitchFamily="34" charset="-120"/>
              </a:rPr>
              <a:t>实时分析日志</a:t>
            </a:r>
            <a:endParaRPr lang="en-US" sz="1100" dirty="0"/>
          </a:p>
        </p:txBody>
      </p:sp>
      <p:sp>
        <p:nvSpPr>
          <p:cNvPr id="15" name="Text 13"/>
          <p:cNvSpPr/>
          <p:nvPr/>
        </p:nvSpPr>
        <p:spPr>
          <a:xfrm>
            <a:off x="3154680" y="3776472"/>
            <a:ext cx="7040880" cy="219456"/>
          </a:xfrm>
          <a:prstGeom prst="rect">
            <a:avLst/>
          </a:prstGeom>
          <a:noFill/>
        </p:spPr>
        <p:txBody>
          <a:bodyPr wrap="square" lIns="0" tIns="0" rIns="0" bIns="0" rtlCol="0" anchor="ctr">
            <a:normAutofit/>
          </a:bodyPr>
          <a:lstStyle/>
          <a:p>
            <a:pPr marL="0" indent="0">
              <a:buNone/>
            </a:pPr>
            <a:r>
              <a:rPr lang="en-US" sz="10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增加批次日志页面，便于答辩展示和排错。</a:t>
            </a:r>
            <a:endParaRPr lang="en-US" sz="1050" dirty="0"/>
          </a:p>
        </p:txBody>
      </p:sp>
      <p:sp>
        <p:nvSpPr>
          <p:cNvPr id="16" name="Shape 14"/>
          <p:cNvSpPr/>
          <p:nvPr/>
        </p:nvSpPr>
        <p:spPr>
          <a:xfrm>
            <a:off x="868680" y="5020056"/>
            <a:ext cx="9875520" cy="0"/>
          </a:xfrm>
          <a:prstGeom prst="line">
            <a:avLst/>
          </a:prstGeom>
          <a:noFill/>
          <a:ln w="12700">
            <a:solidFill>
              <a:srgbClr val="D7E0EA"/>
            </a:solidFill>
            <a:prstDash val="solid"/>
          </a:ln>
        </p:spPr>
      </p:sp>
      <p:sp>
        <p:nvSpPr>
          <p:cNvPr id="17" name="Text 15"/>
          <p:cNvSpPr/>
          <p:nvPr/>
        </p:nvSpPr>
        <p:spPr>
          <a:xfrm>
            <a:off x="914400" y="4562856"/>
            <a:ext cx="2011680" cy="219456"/>
          </a:xfrm>
          <a:prstGeom prst="rect">
            <a:avLst/>
          </a:prstGeom>
          <a:noFill/>
        </p:spPr>
        <p:txBody>
          <a:bodyPr wrap="square" lIns="0" tIns="0" rIns="0" bIns="0" rtlCol="0" anchor="ctr"/>
          <a:lstStyle/>
          <a:p>
            <a:pPr marL="0" indent="0">
              <a:buNone/>
            </a:pPr>
            <a:r>
              <a:rPr lang="en-US" sz="1100" b="1" dirty="0">
                <a:solidFill>
                  <a:srgbClr val="1D7CF2"/>
                </a:solidFill>
                <a:latin typeface="微软雅黑" panose="020B0503020204020204" pitchFamily="34" charset="-122"/>
                <a:ea typeface="微软雅黑" panose="020B0503020204020204" pitchFamily="34" charset="-122"/>
                <a:cs typeface="微软雅黑" panose="020B0503020204020204" pitchFamily="34" charset="-120"/>
              </a:rPr>
              <a:t>接入机器学习</a:t>
            </a:r>
            <a:endParaRPr lang="en-US" sz="1100" dirty="0"/>
          </a:p>
        </p:txBody>
      </p:sp>
      <p:sp>
        <p:nvSpPr>
          <p:cNvPr id="18" name="Text 16"/>
          <p:cNvSpPr/>
          <p:nvPr/>
        </p:nvSpPr>
        <p:spPr>
          <a:xfrm>
            <a:off x="3154680" y="4562856"/>
            <a:ext cx="7040880" cy="219456"/>
          </a:xfrm>
          <a:prstGeom prst="rect">
            <a:avLst/>
          </a:prstGeom>
          <a:noFill/>
        </p:spPr>
        <p:txBody>
          <a:bodyPr wrap="square" lIns="0" tIns="0" rIns="0" bIns="0" rtlCol="0" anchor="ctr">
            <a:normAutofit/>
          </a:bodyPr>
          <a:lstStyle/>
          <a:p>
            <a:pPr marL="0" indent="0">
              <a:buNone/>
            </a:pPr>
            <a:r>
              <a:rPr lang="en-US" sz="1050"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将实时特征进一步接入预测模型。</a:t>
            </a:r>
            <a:endParaRPr lang="en-US" sz="1050" dirty="0"/>
          </a:p>
        </p:txBody>
      </p:sp>
      <p:sp>
        <p:nvSpPr>
          <p:cNvPr id="19" name="Shape 17"/>
          <p:cNvSpPr/>
          <p:nvPr/>
        </p:nvSpPr>
        <p:spPr>
          <a:xfrm>
            <a:off x="914400" y="5623560"/>
            <a:ext cx="9692640" cy="0"/>
          </a:xfrm>
          <a:prstGeom prst="line">
            <a:avLst/>
          </a:prstGeom>
          <a:noFill/>
          <a:ln w="25400">
            <a:solidFill>
              <a:srgbClr val="F59E0B"/>
            </a:solidFill>
            <a:prstDash val="solid"/>
          </a:ln>
        </p:spPr>
      </p:sp>
      <p:sp>
        <p:nvSpPr>
          <p:cNvPr id="20" name="Text 18"/>
          <p:cNvSpPr/>
          <p:nvPr/>
        </p:nvSpPr>
        <p:spPr>
          <a:xfrm>
            <a:off x="914400" y="5788152"/>
            <a:ext cx="9692640" cy="420624"/>
          </a:xfrm>
          <a:prstGeom prst="rect">
            <a:avLst/>
          </a:prstGeom>
          <a:noFill/>
        </p:spPr>
        <p:txBody>
          <a:bodyPr wrap="square" lIns="0" tIns="0" rIns="0" bIns="0" rtlCol="0" anchor="ctr">
            <a:normAutofit/>
          </a:bodyPr>
          <a:lstStyle/>
          <a:p>
            <a:pPr marL="0" indent="0">
              <a:buNone/>
            </a:pPr>
            <a:r>
              <a:rPr lang="en-US" sz="1140" b="1" dirty="0">
                <a:solidFill>
                  <a:srgbClr val="102033"/>
                </a:solidFill>
                <a:latin typeface="微软雅黑" panose="020B0503020204020204" pitchFamily="34" charset="-122"/>
                <a:ea typeface="微软雅黑" panose="020B0503020204020204" pitchFamily="34" charset="-122"/>
                <a:cs typeface="微软雅黑" panose="020B0503020204020204" pitchFamily="34" charset="-120"/>
              </a:rPr>
              <a:t>后续优化重点不是重新推翻链路，而是在现有闭环上增强解释、监控和预测能力。</a:t>
            </a:r>
            <a:endParaRPr lang="en-US" sz="1140" dirty="0"/>
          </a:p>
        </p:txBody>
      </p:sp>
      <p:sp>
        <p:nvSpPr>
          <p:cNvPr id="21" name="Text 19"/>
          <p:cNvSpPr/>
          <p:nvPr/>
        </p:nvSpPr>
        <p:spPr>
          <a:xfrm>
            <a:off x="502920" y="6455664"/>
            <a:ext cx="5303520" cy="164592"/>
          </a:xfrm>
          <a:prstGeom prst="rect">
            <a:avLst/>
          </a:prstGeom>
          <a:noFill/>
        </p:spPr>
        <p:txBody>
          <a:bodyPr wrap="square" lIns="0" tIns="0" rIns="0" bIns="0" rtlCol="0" anchor="ctr"/>
          <a:lstStyle/>
          <a:p>
            <a:pPr marL="0" indent="0">
              <a:buNone/>
            </a:pPr>
            <a:r>
              <a:rPr lang="en-US" sz="750" dirty="0">
                <a:solidFill>
                  <a:srgbClr val="718096"/>
                </a:solidFill>
                <a:latin typeface="微软雅黑" panose="020B0503020204020204" pitchFamily="34" charset="-122"/>
                <a:ea typeface="微软雅黑" panose="020B0503020204020204" pitchFamily="34" charset="-122"/>
                <a:cs typeface="微软雅黑" panose="020B0503020204020204" pitchFamily="34" charset="-120"/>
              </a:rPr>
              <a:t>股票实时流分析平台 · 实时数据分析模块</a:t>
            </a:r>
            <a:endParaRPr lang="en-US" sz="750" dirty="0"/>
          </a:p>
        </p:txBody>
      </p:sp>
      <p:sp>
        <p:nvSpPr>
          <p:cNvPr id="22" name="Text 20"/>
          <p:cNvSpPr/>
          <p:nvPr/>
        </p:nvSpPr>
        <p:spPr>
          <a:xfrm>
            <a:off x="11109960" y="6428232"/>
            <a:ext cx="502920" cy="182880"/>
          </a:xfrm>
          <a:prstGeom prst="rect">
            <a:avLst/>
          </a:prstGeom>
          <a:noFill/>
        </p:spPr>
        <p:txBody>
          <a:bodyPr wrap="square" lIns="0" tIns="0" rIns="0" bIns="0" rtlCol="0" anchor="ctr"/>
          <a:lstStyle/>
          <a:p>
            <a:pPr marL="0" indent="0" algn="r">
              <a:buNone/>
            </a:pPr>
            <a:r>
              <a:rPr lang="en-US" sz="800" b="1" dirty="0">
                <a:solidFill>
                  <a:srgbClr val="718096"/>
                </a:solidFill>
                <a:latin typeface="Aptos" pitchFamily="34" charset="0"/>
                <a:ea typeface="Aptos" pitchFamily="34" charset="-122"/>
                <a:cs typeface="Aptos" pitchFamily="34" charset="-120"/>
              </a:rPr>
              <a:t>19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9031</Words>
  <Application>WPS 演示</Application>
  <PresentationFormat>On-screen Show (16:9)</PresentationFormat>
  <Paragraphs>942</Paragraphs>
  <Slides>26</Slides>
  <Notes>19</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26</vt:i4>
      </vt:variant>
    </vt:vector>
  </HeadingPairs>
  <TitlesOfParts>
    <vt:vector size="46" baseType="lpstr">
      <vt:lpstr>Arial</vt:lpstr>
      <vt:lpstr>宋体</vt:lpstr>
      <vt:lpstr>Wingdings</vt:lpstr>
      <vt:lpstr>微软雅黑</vt:lpstr>
      <vt:lpstr>微软雅黑</vt:lpstr>
      <vt:lpstr>Consolas</vt:lpstr>
      <vt:lpstr>Aptos</vt:lpstr>
      <vt:lpstr>Segoe UI</vt:lpstr>
      <vt:lpstr>Aptos</vt:lpstr>
      <vt:lpstr>Aptos</vt:lpstr>
      <vt:lpstr>Arial Unicode MS</vt:lpstr>
      <vt:lpstr>等线</vt:lpstr>
      <vt:lpstr>Consolas</vt:lpstr>
      <vt:lpstr>Consolas</vt:lpstr>
      <vt:lpstr>Consolas</vt:lpstr>
      <vt:lpstr>Aptos Display</vt:lpstr>
      <vt:lpstr>Segoe UI Variable Display</vt:lpstr>
      <vt:lpstr>Aptos Display</vt:lpstr>
      <vt:lpstr>Aptos Display</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Quant Stream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股票实时流分析平台实时数据分析模块汇报</dc:title>
  <dc:creator>Comprehensive Practice</dc:creator>
  <dc:subject>股票实时流分析平台实时数据分析模块汇报</dc:subject>
  <cp:lastModifiedBy>丘丘人</cp:lastModifiedBy>
  <cp:revision>3</cp:revision>
  <dcterms:created xsi:type="dcterms:W3CDTF">2026-05-11T07:12:00Z</dcterms:created>
  <dcterms:modified xsi:type="dcterms:W3CDTF">2026-05-12T02:39:11Z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933835DBDAEC47449E81F79E6A85C2E7_12</vt:lpwstr>
  </property>
</Properties>
</file>